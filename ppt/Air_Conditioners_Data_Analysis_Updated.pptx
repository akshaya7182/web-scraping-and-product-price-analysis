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74" r:id="rId6"/>
    <p:sldId id="279" r:id="rId7"/>
    <p:sldId id="276" r:id="rId8"/>
    <p:sldId id="280" r:id="rId9"/>
    <p:sldId id="278" r:id="rId10"/>
    <p:sldId id="271" r:id="rId11"/>
    <p:sldId id="281" r:id="rId12"/>
    <p:sldId id="283" r:id="rId13"/>
    <p:sldId id="287" r:id="rId14"/>
    <p:sldId id="286" r:id="rId15"/>
    <p:sldId id="288" r:id="rId16"/>
    <p:sldId id="285" r:id="rId17"/>
    <p:sldId id="284" r:id="rId18"/>
    <p:sldId id="268" r:id="rId19"/>
    <p:sldId id="269" r:id="rId20"/>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597685-9CB6-45F9-A194-17869D503BB0}" v="6" dt="2026-09-22T09:10:40.52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44" autoAdjust="0"/>
    <p:restoredTop sz="94660"/>
  </p:normalViewPr>
  <p:slideViewPr>
    <p:cSldViewPr>
      <p:cViewPr varScale="1">
        <p:scale>
          <a:sx n="69" d="100"/>
          <a:sy n="69" d="100"/>
        </p:scale>
        <p:origin x="1954"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pPr/>
              <a:t>29-09-2026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pPr/>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pPr/>
              <a:t>10</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1E0C1-6277-CAD3-8A7C-7F0F37C61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776A0-3BEE-1FDC-EADA-6B6FA1E1A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53676-942B-2284-A56F-CCE051D8DD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68B2BB-B290-5A6F-7542-202146F1BA1C}"/>
              </a:ext>
            </a:extLst>
          </p:cNvPr>
          <p:cNvSpPr>
            <a:spLocks noGrp="1"/>
          </p:cNvSpPr>
          <p:nvPr>
            <p:ph type="sldNum" sz="quarter" idx="10"/>
          </p:nvPr>
        </p:nvSpPr>
        <p:spPr/>
        <p:txBody>
          <a:bodyPr/>
          <a:lstStyle/>
          <a:p>
            <a:fld id="{67E471F2-2083-493A-8C9E-53209FFA1EC8}" type="slidenum">
              <a:rPr lang="en-IN" smtClean="0"/>
              <a:pPr/>
              <a:t>11</a:t>
            </a:fld>
            <a:endParaRPr lang="en-IN"/>
          </a:p>
        </p:txBody>
      </p:sp>
    </p:spTree>
    <p:extLst>
      <p:ext uri="{BB962C8B-B14F-4D97-AF65-F5344CB8AC3E}">
        <p14:creationId xmlns:p14="http://schemas.microsoft.com/office/powerpoint/2010/main" val="1527576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9/29/2026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6.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eg"/><Relationship Id="rId3" Type="http://schemas.openxmlformats.org/officeDocument/2006/relationships/image" Target="../media/image2.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6.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9.png"/><Relationship Id="rId10" Type="http://schemas.openxmlformats.org/officeDocument/2006/relationships/image" Target="../media/image20.png"/><Relationship Id="rId11" Type="http://schemas.openxmlformats.org/officeDocument/2006/relationships/image" Target="../media/image21.png"/><Relationship Id="rId12"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23.png"/><Relationship Id="rId12" Type="http://schemas.openxmlformats.org/officeDocument/2006/relationships/image" Target="../media/image24.png"/><Relationship Id="rId13" Type="http://schemas.openxmlformats.org/officeDocument/2006/relationships/image" Target="../media/image25.png"/><Relationship Id="rId14" Type="http://schemas.openxmlformats.org/officeDocument/2006/relationships/image" Target="../media/image26.png"/><Relationship Id="rId15"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TextBox 2"/>
          <p:cNvSpPr txBox="1"/>
          <p:nvPr/>
        </p:nvSpPr>
        <p:spPr>
          <a:xfrm>
            <a:off x="1463040" y="1051560"/>
            <a:ext cx="7315200" cy="523220"/>
          </a:xfrm>
          <a:prstGeom prst="rect">
            <a:avLst/>
          </a:prstGeom>
          <a:noFill/>
        </p:spPr>
        <p:txBody>
          <a:bodyPr wrap="square">
            <a:spAutoFit/>
          </a:bodyPr>
          <a:lstStyle/>
          <a:p>
            <a:pPr algn="ctr">
              <a:spcAft>
                <a:spcPts val="700"/>
              </a:spcAft>
              <a:defRPr sz="2500" b="1">
                <a:solidFill>
                  <a:srgbClr val="233464"/>
                </a:solidFill>
                <a:latin typeface="Aptos"/>
              </a:defRPr>
            </a:pPr>
            <a:r>
              <a:rPr sz="2800" dirty="0">
                <a:latin typeface="Times New Roman" pitchFamily="18" charset="0"/>
                <a:cs typeface="Times New Roman" pitchFamily="18" charset="0"/>
              </a:rPr>
              <a:t>Data Analysis Essentials</a:t>
            </a:r>
          </a:p>
        </p:txBody>
      </p:sp>
      <p:sp>
        <p:nvSpPr>
          <p:cNvPr id="4" name="TextBox 3"/>
          <p:cNvSpPr txBox="1"/>
          <p:nvPr/>
        </p:nvSpPr>
        <p:spPr>
          <a:xfrm>
            <a:off x="1463040" y="1508760"/>
            <a:ext cx="7315200" cy="446276"/>
          </a:xfrm>
          <a:prstGeom prst="rect">
            <a:avLst/>
          </a:prstGeom>
          <a:noFill/>
        </p:spPr>
        <p:txBody>
          <a:bodyPr wrap="square">
            <a:spAutoFit/>
          </a:bodyPr>
          <a:lstStyle/>
          <a:p>
            <a:pPr algn="ctr">
              <a:spcAft>
                <a:spcPts val="700"/>
              </a:spcAft>
              <a:defRPr sz="2300" b="1">
                <a:solidFill>
                  <a:srgbClr val="C25B30"/>
                </a:solidFill>
                <a:latin typeface="Aptos"/>
              </a:defRPr>
            </a:pPr>
            <a:r>
              <a:rPr dirty="0">
                <a:latin typeface="Times New Roman" pitchFamily="18" charset="0"/>
                <a:cs typeface="Times New Roman" pitchFamily="18" charset="0"/>
              </a:rPr>
              <a:t>Cornerstone Project</a:t>
            </a:r>
          </a:p>
        </p:txBody>
      </p:sp>
      <p:sp>
        <p:nvSpPr>
          <p:cNvPr id="5" name="TextBox 4"/>
          <p:cNvSpPr txBox="1"/>
          <p:nvPr/>
        </p:nvSpPr>
        <p:spPr>
          <a:xfrm>
            <a:off x="640080" y="2331720"/>
            <a:ext cx="8778240" cy="584775"/>
          </a:xfrm>
          <a:prstGeom prst="rect">
            <a:avLst/>
          </a:prstGeom>
          <a:noFill/>
        </p:spPr>
        <p:txBody>
          <a:bodyPr wrap="square">
            <a:spAutoFit/>
          </a:bodyPr>
          <a:lstStyle/>
          <a:p>
            <a:pPr algn="ctr">
              <a:spcAft>
                <a:spcPts val="700"/>
              </a:spcAft>
              <a:defRPr sz="3000" b="1">
                <a:solidFill>
                  <a:srgbClr val="233464"/>
                </a:solidFill>
                <a:latin typeface="Aptos"/>
              </a:defRPr>
            </a:pPr>
            <a:r>
              <a:rPr sz="3200" dirty="0">
                <a:latin typeface="Times New Roman" pitchFamily="18" charset="0"/>
                <a:cs typeface="Times New Roman" pitchFamily="18" charset="0"/>
              </a:rPr>
              <a:t>Web Scraping &amp; Product Price Analysis</a:t>
            </a:r>
          </a:p>
        </p:txBody>
      </p:sp>
      <p:sp>
        <p:nvSpPr>
          <p:cNvPr id="6" name="TextBox 5"/>
          <p:cNvSpPr txBox="1"/>
          <p:nvPr/>
        </p:nvSpPr>
        <p:spPr>
          <a:xfrm>
            <a:off x="1188720" y="2907792"/>
            <a:ext cx="7680960" cy="461665"/>
          </a:xfrm>
          <a:prstGeom prst="rect">
            <a:avLst/>
          </a:prstGeom>
          <a:noFill/>
        </p:spPr>
        <p:txBody>
          <a:bodyPr wrap="square">
            <a:spAutoFit/>
          </a:bodyPr>
          <a:lstStyle/>
          <a:p>
            <a:pPr algn="ctr">
              <a:spcAft>
                <a:spcPts val="700"/>
              </a:spcAft>
              <a:defRPr sz="1800" b="0">
                <a:solidFill>
                  <a:srgbClr val="375BA0"/>
                </a:solidFill>
                <a:latin typeface="Aptos"/>
              </a:defRPr>
            </a:pPr>
            <a:r>
              <a:rPr sz="2400" dirty="0">
                <a:latin typeface="Times New Roman" pitchFamily="18" charset="0"/>
                <a:cs typeface="Times New Roman" pitchFamily="18" charset="0"/>
              </a:rPr>
              <a:t>E-Commerce | Amazon India AC Listings</a:t>
            </a:r>
          </a:p>
        </p:txBody>
      </p:sp>
      <p:sp>
        <p:nvSpPr>
          <p:cNvPr id="7" name="TextBox 6"/>
          <p:cNvSpPr txBox="1"/>
          <p:nvPr/>
        </p:nvSpPr>
        <p:spPr>
          <a:xfrm>
            <a:off x="1051560" y="3657600"/>
            <a:ext cx="7955279" cy="2298065"/>
          </a:xfrm>
          <a:prstGeom prst="rect">
            <a:avLst/>
          </a:prstGeom>
          <a:noFill/>
        </p:spPr>
        <p:txBody>
          <a:bodyPr wrap="square">
            <a:spAutoFit/>
          </a:bodyPr>
          <a:lstStyle/>
          <a:p>
            <a:pPr algn="ctr">
              <a:spcAft>
                <a:spcPts val="700"/>
              </a:spcAft>
              <a:defRPr sz="1400" b="0">
                <a:solidFill>
                  <a:srgbClr val="2D2D2D"/>
                </a:solidFill>
                <a:latin typeface="Aptos"/>
              </a:defRPr>
            </a:pPr>
            <a:r>
              <a:rPr sz="2400" b="1" dirty="0">
                <a:solidFill>
                  <a:srgbClr val="FF0000"/>
                </a:solidFill>
                <a:latin typeface="Times New Roman" pitchFamily="18" charset="0"/>
                <a:cs typeface="Times New Roman" pitchFamily="18" charset="0"/>
              </a:rPr>
              <a:t>Presented by</a:t>
            </a:r>
          </a:p>
          <a:p>
            <a:pPr algn="ctr">
              <a:spcAft>
                <a:spcPts val="700"/>
              </a:spcAft>
              <a:defRPr sz="1400" b="0">
                <a:solidFill>
                  <a:srgbClr val="2D2D2D"/>
                </a:solidFill>
                <a:latin typeface="Aptos"/>
              </a:defRPr>
            </a:pPr>
            <a:r>
              <a:rPr sz="2000" b="1" dirty="0" err="1">
                <a:latin typeface="Times New Roman" pitchFamily="18" charset="0"/>
                <a:cs typeface="Times New Roman" pitchFamily="18" charset="0"/>
              </a:rPr>
              <a:t>M. Akshaya (25B11CS608)</a:t>
            </a:r>
          </a:p>
          <a:p>
            <a:pPr algn="ctr">
              <a:spcAft>
                <a:spcPts val="700"/>
              </a:spcAft>
              <a:defRPr sz="1400" b="0">
                <a:solidFill>
                  <a:srgbClr val="2D2D2D"/>
                </a:solidFill>
                <a:latin typeface="Aptos"/>
              </a:defRPr>
            </a:pPr>
            <a:r>
              <a:rPr sz="2000" b="1" dirty="0">
                <a:latin typeface="Times New Roman" pitchFamily="18" charset="0"/>
                <a:cs typeface="Times New Roman" pitchFamily="18" charset="0"/>
              </a:rPr>
              <a:t>P. Jagannadha Veera Manikanta (25B11CS710)</a:t>
            </a:r>
          </a:p>
          <a:p>
            <a:pPr algn="ctr">
              <a:spcAft>
                <a:spcPts val="700"/>
              </a:spcAft>
              <a:defRPr sz="1400" b="0">
                <a:solidFill>
                  <a:srgbClr val="2D2D2D"/>
                </a:solidFill>
                <a:latin typeface="Aptos"/>
              </a:defRPr>
            </a:pPr>
            <a:r>
              <a:rPr sz="2000" b="1" dirty="0">
                <a:latin typeface="Times New Roman" pitchFamily="18" charset="0"/>
                <a:cs typeface="Times New Roman" pitchFamily="18" charset="0"/>
              </a:rPr>
              <a:t>K. Sai Krishna (25B11CS388)</a:t>
            </a:r>
          </a:p>
          <a:p>
            <a:pPr algn="ctr">
              <a:spcAft>
                <a:spcPts val="700"/>
              </a:spcAft>
              <a:defRPr sz="1400" b="0">
                <a:solidFill>
                  <a:srgbClr val="2D2D2D"/>
                </a:solidFill>
                <a:latin typeface="Aptos"/>
              </a:defRPr>
            </a:pPr>
            <a:r>
              <a:rPr sz="2000" b="1" dirty="0">
                <a:latin typeface="Times New Roman" pitchFamily="18" charset="0"/>
                <a:cs typeface="Times New Roman" pitchFamily="18" charset="0"/>
              </a:rPr>
              <a:t>T. Yeghna Surya Teja (25B11CS923)</a:t>
            </a:r>
          </a:p>
          <a:p>
            <a:pPr algn="ctr">
              <a:spcAft>
                <a:spcPts val="700"/>
              </a:spcAft>
              <a:defRPr sz="1400" b="0">
                <a:solidFill>
                  <a:srgbClr val="2D2D2D"/>
                </a:solidFill>
                <a:latin typeface="Aptos"/>
              </a:defRPr>
            </a:pPr>
            <a:r>
              <a:rPr sz="1600" b="1" dirty="0" err="1">
                <a:latin typeface="Times New Roman" pitchFamily="18" charset="0"/>
                <a:cs typeface="Times New Roman" pitchFamily="18" charset="0"/>
              </a:rPr>
              <a:t>Guide: Mr. K. Ashok Teja, Assistant Professor, CSE Dept.</a:t>
            </a:r>
          </a:p>
        </p:txBody>
      </p:sp>
      <p:sp>
        <p:nvSpPr>
          <p:cNvPr id="8" name="TextBox 7"/>
          <p:cNvSpPr txBox="1"/>
          <p:nvPr/>
        </p:nvSpPr>
        <p:spPr>
          <a:xfrm>
            <a:off x="914400" y="6446520"/>
            <a:ext cx="8229600" cy="400110"/>
          </a:xfrm>
          <a:prstGeom prst="rect">
            <a:avLst/>
          </a:prstGeom>
          <a:noFill/>
        </p:spPr>
        <p:txBody>
          <a:bodyPr wrap="square">
            <a:spAutoFit/>
          </a:bodyPr>
          <a:lstStyle/>
          <a:p>
            <a:pPr algn="ctr">
              <a:spcAft>
                <a:spcPts val="700"/>
              </a:spcAft>
              <a:defRPr sz="1300" b="1">
                <a:solidFill>
                  <a:srgbClr val="233464"/>
                </a:solidFill>
                <a:latin typeface="Aptos"/>
              </a:defRPr>
            </a:pPr>
            <a:r>
              <a:rPr sz="2000" dirty="0">
                <a:latin typeface="Times New Roman" pitchFamily="18" charset="0"/>
                <a:cs typeface="Times New Roman" pitchFamily="18" charset="0"/>
              </a:rPr>
              <a:t>Department of Computer Science and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TextBox 9"/>
          <p:cNvSpPr txBox="1"/>
          <p:nvPr/>
        </p:nvSpPr>
        <p:spPr>
          <a:xfrm>
            <a:off x="2545080" y="269414"/>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US" dirty="0">
                <a:solidFill>
                  <a:schemeClr val="bg1"/>
                </a:solidFill>
                <a:latin typeface="Times New Roman" pitchFamily="18" charset="0"/>
                <a:cs typeface="Times New Roman" pitchFamily="18" charset="0"/>
              </a:rPr>
              <a:t>Contents</a:t>
            </a:r>
            <a:endParaRPr dirty="0">
              <a:solidFill>
                <a:schemeClr val="bg1"/>
              </a:solidFill>
              <a:latin typeface="Times New Roman" pitchFamily="18" charset="0"/>
              <a:cs typeface="Times New Roman" pitchFamily="18" charset="0"/>
            </a:endParaRPr>
          </a:p>
        </p:txBody>
      </p:sp>
      <p:sp>
        <p:nvSpPr>
          <p:cNvPr id="11" name="TextBox 10"/>
          <p:cNvSpPr txBox="1"/>
          <p:nvPr/>
        </p:nvSpPr>
        <p:spPr>
          <a:xfrm>
            <a:off x="1219200" y="1676400"/>
            <a:ext cx="7132320" cy="5052665"/>
          </a:xfrm>
          <a:prstGeom prst="rect">
            <a:avLst/>
          </a:prstGeom>
          <a:noFill/>
        </p:spPr>
        <p:txBody>
          <a:bodyPr wrap="square">
            <a:spAutoFit/>
          </a:bodyPr>
          <a:lstStyle/>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Problem Statement</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Introduction</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Current Approach &amp; Limitations</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Proposed Approach</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Dataset Description</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Requirements</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Methodology</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Data Visualization</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Key Insights &amp; Analysis</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Implementation Workflow</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1" name="TextBox 10"/>
          <p:cNvSpPr txBox="1"/>
          <p:nvPr/>
        </p:nvSpPr>
        <p:spPr>
          <a:xfrm>
            <a:off x="2667000" y="304800"/>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PROBLEM STATEMENT</a:t>
            </a:r>
          </a:p>
        </p:txBody>
      </p:sp>
      <p:sp>
        <p:nvSpPr>
          <p:cNvPr id="12" name="TextBox 11"/>
          <p:cNvSpPr txBox="1"/>
          <p:nvPr/>
        </p:nvSpPr>
        <p:spPr>
          <a:xfrm>
            <a:off x="609600" y="1524000"/>
            <a:ext cx="8686800" cy="3970318"/>
          </a:xfrm>
          <a:prstGeom prst="rect">
            <a:avLst/>
          </a:prstGeom>
          <a:noFill/>
        </p:spPr>
        <p:txBody>
          <a:bodyPr wrap="square">
            <a:spAutoFit/>
          </a:bodyPr>
          <a:lstStyle/>
          <a:p>
            <a:pPr algn="just">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Product prices, discounts, and ratings on e-commerce sites are scattered over many pages and are hard to compare by hand. This project automatically collects air conditioner listings from Amazon India through web scraping (32 listings) and applies exploratory data analysis (EDA) in Python to filter, extract, validate, and clean the data, and to analyse how price, brand, capacity (tonnage), energy-star rating, features, and discounts relate — helping buyers and sellers make informed pricing decisions.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0"/>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468880" y="21633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Introduction</a:t>
            </a:r>
          </a:p>
        </p:txBody>
      </p:sp>
      <p:sp>
        <p:nvSpPr>
          <p:cNvPr id="19" name="TextBox 18"/>
          <p:cNvSpPr txBox="1"/>
          <p:nvPr/>
        </p:nvSpPr>
        <p:spPr>
          <a:xfrm>
            <a:off x="685800" y="1417320"/>
            <a:ext cx="8778240" cy="5711820"/>
          </a:xfrm>
          <a:prstGeom prst="rect">
            <a:avLst/>
          </a:prstGeom>
          <a:noFill/>
        </p:spPr>
        <p:txBody>
          <a:bodyPr wrap="square">
            <a:spAutoFit/>
          </a:bodyPr>
          <a:lstStyle/>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E-commerce is one of the largest sources of product and price data today.</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Buying an AC involves many factors: price, brand, tonnage, star rating, features, and reviews.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Web-scraped data is messy: missing prices, wrong MRP values, and hidden attributes inside titles.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Python (Pandas, NumPy, Matplotlib, SciPy) helps clean, structure, and interpret this data.</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This project scrapes and analyses 32 Amazon India "Air Conditioners" listings across 16 brands.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Clear visualizations make price and brand patterns easy to compare.</a:t>
            </a: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667000" y="304800"/>
            <a:ext cx="518160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Current / Manual Approach</a:t>
            </a:r>
          </a:p>
        </p:txBody>
      </p:sp>
      <p:sp>
        <p:nvSpPr>
          <p:cNvPr id="19" name="TextBox 18"/>
          <p:cNvSpPr txBox="1"/>
          <p:nvPr/>
        </p:nvSpPr>
        <p:spPr>
          <a:xfrm>
            <a:off x="685800" y="1417320"/>
            <a:ext cx="8778240" cy="4850046"/>
          </a:xfrm>
          <a:prstGeom prst="rect">
            <a:avLst/>
          </a:prstGeom>
          <a:noFill/>
        </p:spPr>
        <p:txBody>
          <a:bodyPr wrap="square">
            <a:spAutoFit/>
          </a:bodyPr>
          <a:lstStyle/>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Shoppers open many product pages and compare prices by hand.</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Spreadsheet review of every listing is slow and error-prone.</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Comparing brand-wise or size-wise pricing manually is difficult.</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Key details (tonnage, star rating, inverter, Wi-Fi) are buried inside long product titles.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Missing prices and ratings often go unnoticed in raw tables.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Discounts are hard to judge without comparing MRP and selling price.</a:t>
            </a:r>
          </a:p>
        </p:txBody>
      </p:sp>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25B97-4948-1D36-1564-48F015098A9E}"/>
            </a:ext>
          </a:extLst>
        </p:cNvPr>
        <p:cNvGrpSpPr/>
        <p:nvPr/>
      </p:nvGrpSpPr>
      <p:grpSpPr>
        <a:xfrm>
          <a:off x="0" y="0"/>
          <a:ext cx="0" cy="0"/>
          <a:chOff x="0" y="0"/>
          <a:chExt cx="0" cy="0"/>
        </a:xfrm>
      </p:grpSpPr>
      <p:pic>
        <p:nvPicPr>
          <p:cNvPr id="17" name="object 3">
            <a:extLst>
              <a:ext uri="{FF2B5EF4-FFF2-40B4-BE49-F238E27FC236}">
                <a16:creationId xmlns:a16="http://schemas.microsoft.com/office/drawing/2014/main" id="{D28B387B-EB3D-FC8A-3A51-DDD2B8696A73}"/>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5B758792-840A-895D-A2CD-A09955CC1720}"/>
              </a:ext>
            </a:extLst>
          </p:cNvPr>
          <p:cNvGrpSpPr/>
          <p:nvPr/>
        </p:nvGrpSpPr>
        <p:grpSpPr>
          <a:xfrm>
            <a:off x="2743200" y="0"/>
            <a:ext cx="5103904" cy="1198311"/>
            <a:chOff x="2648188" y="47148"/>
            <a:chExt cx="5103904" cy="1198311"/>
          </a:xfrm>
        </p:grpSpPr>
        <p:pic>
          <p:nvPicPr>
            <p:cNvPr id="3" name="object 4">
              <a:extLst>
                <a:ext uri="{FF2B5EF4-FFF2-40B4-BE49-F238E27FC236}">
                  <a16:creationId xmlns:a16="http://schemas.microsoft.com/office/drawing/2014/main" id="{E290B6E4-4C6A-D92F-FFFC-B388B7843517}"/>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87F4EE37-279F-308C-F87F-6E638DA19370}"/>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8ED23BED-35EB-2EF2-62D6-17D1E3CB0003}"/>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2F06FBF5-D468-2472-2E09-3659EB0BF5E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p:cNvSpPr txBox="1"/>
          <p:nvPr/>
        </p:nvSpPr>
        <p:spPr>
          <a:xfrm>
            <a:off x="2743200" y="256032"/>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Limitations of Manual Analysis</a:t>
            </a:r>
          </a:p>
        </p:txBody>
      </p:sp>
      <p:sp>
        <p:nvSpPr>
          <p:cNvPr id="19" name="TextBox 18"/>
          <p:cNvSpPr txBox="1"/>
          <p:nvPr/>
        </p:nvSpPr>
        <p:spPr>
          <a:xfrm>
            <a:off x="685800" y="1325880"/>
            <a:ext cx="8778240" cy="4508927"/>
          </a:xfrm>
          <a:prstGeom prst="rect">
            <a:avLst/>
          </a:prstGeom>
          <a:noFill/>
        </p:spPr>
        <p:txBody>
          <a:bodyPr wrap="square">
            <a:spAutoFit/>
          </a:bodyPr>
          <a:lstStyle/>
          <a:p>
            <a:pPr algn="l">
              <a:spcAft>
                <a:spcPts val="700"/>
              </a:spcAft>
              <a:defRPr sz="1800" b="0">
                <a:solidFill>
                  <a:srgbClr val="2D2D2D"/>
                </a:solidFill>
                <a:latin typeface="Aptos"/>
              </a:defRPr>
            </a:pPr>
            <a:r>
              <a:rPr sz="2800" dirty="0">
                <a:latin typeface="Times New Roman" panose="02020603050405020304" pitchFamily="18" charset="0"/>
                <a:cs typeface="Times New Roman" panose="02020603050405020304" pitchFamily="18" charset="0"/>
              </a:rPr>
              <a:t>• Manual analysis is time-consuming and does not scale.</a:t>
            </a:r>
          </a:p>
          <a:p>
            <a:pPr algn="l">
              <a:spcAft>
                <a:spcPts val="700"/>
              </a:spcAft>
              <a:defRPr sz="1800" b="0">
                <a:solidFill>
                  <a:srgbClr val="2D2D2D"/>
                </a:solidFill>
                <a:latin typeface="Aptos"/>
              </a:defRPr>
            </a:pPr>
            <a:r>
              <a:rPr sz="2800" dirty="0">
                <a:latin typeface="Times New Roman" panose="02020603050405020304" pitchFamily="18" charset="0"/>
                <a:cs typeface="Times New Roman" panose="02020603050405020304" pitchFamily="18" charset="0"/>
              </a:rPr>
              <a:t>• Missing or filled-in values silently distort averages and discounts.</a:t>
            </a:r>
          </a:p>
          <a:p>
            <a:pPr algn="l">
              <a:spcAft>
                <a:spcPts val="700"/>
              </a:spcAft>
              <a:defRPr sz="1800" b="0">
                <a:solidFill>
                  <a:srgbClr val="2D2D2D"/>
                </a:solidFill>
                <a:latin typeface="Aptos"/>
              </a:defRPr>
            </a:pPr>
            <a:r>
              <a:rPr sz="2800" dirty="0">
                <a:latin typeface="Times New Roman" panose="02020603050405020304" pitchFamily="18" charset="0"/>
                <a:cs typeface="Times New Roman" panose="02020603050405020304" pitchFamily="18" charset="0"/>
              </a:rPr>
              <a:t>• Wrong MRP values (selling price higher than MRP) give false discounts.</a:t>
            </a:r>
          </a:p>
          <a:p>
            <a:pPr algn="l">
              <a:spcAft>
                <a:spcPts val="700"/>
              </a:spcAft>
              <a:defRPr sz="1800" b="0">
                <a:solidFill>
                  <a:srgbClr val="2D2D2D"/>
                </a:solidFill>
                <a:latin typeface="Aptos"/>
              </a:defRPr>
            </a:pPr>
            <a:r>
              <a:rPr sz="2800" dirty="0">
                <a:latin typeface="Times New Roman" panose="02020603050405020304" pitchFamily="18" charset="0"/>
                <a:cs typeface="Times New Roman" panose="02020603050405020304" pitchFamily="18" charset="0"/>
              </a:rPr>
              <a:t>• Brand-wise and size-wise patterns are hard to see without charts.</a:t>
            </a:r>
          </a:p>
          <a:p>
            <a:pPr algn="l">
              <a:spcAft>
                <a:spcPts val="700"/>
              </a:spcAft>
              <a:defRPr sz="1800" b="0">
                <a:solidFill>
                  <a:srgbClr val="2D2D2D"/>
                </a:solidFill>
                <a:latin typeface="Aptos"/>
              </a:defRPr>
            </a:pPr>
            <a:r>
              <a:rPr sz="2800" dirty="0">
                <a:latin typeface="Times New Roman" panose="02020603050405020304" pitchFamily="18" charset="0"/>
                <a:cs typeface="Times New Roman" panose="02020603050405020304" pitchFamily="18" charset="0"/>
              </a:rPr>
              <a:t>• Price outliers (e.g. a ₹16,999 or ₹49,804 listing) are easy to miss by eye.</a:t>
            </a:r>
          </a:p>
          <a:p>
            <a:pPr algn="l">
              <a:spcAft>
                <a:spcPts val="700"/>
              </a:spcAft>
              <a:defRPr sz="1800" b="0">
                <a:solidFill>
                  <a:srgbClr val="2D2D2D"/>
                </a:solidFill>
                <a:latin typeface="Aptos"/>
              </a:defRPr>
            </a:pPr>
            <a:r>
              <a:rPr sz="2800" dirty="0">
                <a:latin typeface="Times New Roman" panose="02020603050405020304" pitchFamily="18" charset="0"/>
                <a:cs typeface="Times New Roman" panose="02020603050405020304" pitchFamily="18" charset="0"/>
              </a:rPr>
              <a:t>• Manual comparison increases the risk of human error.</a:t>
            </a:r>
          </a:p>
        </p:txBody>
      </p:sp>
    </p:spTree>
    <p:extLst>
      <p:ext uri="{BB962C8B-B14F-4D97-AF65-F5344CB8AC3E}">
        <p14:creationId xmlns:p14="http://schemas.microsoft.com/office/powerpoint/2010/main" val="1626336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object 3">
            <a:extLst>
              <a:ext uri="{FF2B5EF4-FFF2-40B4-BE49-F238E27FC236}">
                <a16:creationId xmlns:a16="http://schemas.microsoft.com/office/drawing/2014/main" id="{EED75953-77B8-EB79-983F-0DFB76BE35E9}"/>
              </a:ext>
            </a:extLst>
          </p:cNvPr>
          <p:cNvPicPr/>
          <p:nvPr/>
        </p:nvPicPr>
        <p:blipFill>
          <a:blip r:embed="rId2" cstate="print"/>
          <a:stretch>
            <a:fillRect/>
          </a:stretch>
        </p:blipFill>
        <p:spPr>
          <a:xfrm>
            <a:off x="290750" y="204311"/>
            <a:ext cx="1163002" cy="424338"/>
          </a:xfrm>
          <a:prstGeom prst="rect">
            <a:avLst/>
          </a:prstGeom>
        </p:spPr>
      </p:pic>
      <p:grpSp>
        <p:nvGrpSpPr>
          <p:cNvPr id="3" name="object 3">
            <a:extLst>
              <a:ext uri="{FF2B5EF4-FFF2-40B4-BE49-F238E27FC236}">
                <a16:creationId xmlns:a16="http://schemas.microsoft.com/office/drawing/2014/main" id="{39A132B5-7282-BB0D-41D0-2D605FAF9D2A}"/>
              </a:ext>
            </a:extLst>
          </p:cNvPr>
          <p:cNvGrpSpPr/>
          <p:nvPr/>
        </p:nvGrpSpPr>
        <p:grpSpPr>
          <a:xfrm>
            <a:off x="2743200" y="228600"/>
            <a:ext cx="4997767" cy="1092279"/>
            <a:chOff x="2703195" y="86439"/>
            <a:chExt cx="4997767" cy="1092279"/>
          </a:xfrm>
        </p:grpSpPr>
        <p:pic>
          <p:nvPicPr>
            <p:cNvPr id="5" name="object 5">
              <a:extLst>
                <a:ext uri="{FF2B5EF4-FFF2-40B4-BE49-F238E27FC236}">
                  <a16:creationId xmlns:a16="http://schemas.microsoft.com/office/drawing/2014/main" id="{19E5F2C6-879E-09C8-70D8-F12E4105BA45}"/>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12F6F0F7-7EC3-7119-588E-9CA45688A5E4}"/>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6FF94120-5DAA-BA86-6F61-CE59BF796C6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p:cNvSpPr txBox="1"/>
          <p:nvPr/>
        </p:nvSpPr>
        <p:spPr>
          <a:xfrm>
            <a:off x="2743200" y="374808"/>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Proposed Approach</a:t>
            </a:r>
          </a:p>
        </p:txBody>
      </p:sp>
      <p:sp>
        <p:nvSpPr>
          <p:cNvPr id="19" name="TextBox 18"/>
          <p:cNvSpPr txBox="1"/>
          <p:nvPr/>
        </p:nvSpPr>
        <p:spPr>
          <a:xfrm>
            <a:off x="777240" y="1234440"/>
            <a:ext cx="8503920" cy="4167808"/>
          </a:xfrm>
          <a:prstGeom prst="rect">
            <a:avLst/>
          </a:prstGeom>
          <a:noFill/>
        </p:spPr>
        <p:txBody>
          <a:bodyPr wrap="square">
            <a:spAutoFit/>
          </a:bodyPr>
          <a:lstStyle/>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Web-scrape Amazon India listings and load the data</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Filter genuine ACs with valid links, unique ASINs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Extract tonnage, stars, brand, inverter, Wi-Fi from titles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Validate and clean: blank wrong MRPs, flag outliers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Aggregate by brand, tonnage, star; pivot and cross-tab</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Analyse price, discount, rating, correlation, premiums</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Visualization: histogram, bar, pie, scatter, heatmap</a:t>
            </a:r>
          </a:p>
          <a:p>
            <a:pPr algn="l">
              <a:spcAft>
                <a:spcPts val="700"/>
              </a:spcAft>
              <a:defRPr sz="1900" b="0">
                <a:solidFill>
                  <a:srgbClr val="2D2D2D"/>
                </a:solidFill>
                <a:latin typeface="Aptos"/>
              </a:defRPr>
            </a:pPr>
            <a:r>
              <a:rPr sz="2800" dirty="0">
                <a:latin typeface="Times New Roman" panose="02020603050405020304" pitchFamily="18" charset="0"/>
                <a:cs typeface="Times New Roman" panose="02020603050405020304" pitchFamily="18" charset="0"/>
              </a:rPr>
              <a:t>• Summarise key findings for buyers and sellers</a:t>
            </a:r>
          </a:p>
        </p:txBody>
      </p:sp>
    </p:spTree>
    <p:extLst>
      <p:ext uri="{BB962C8B-B14F-4D97-AF65-F5344CB8AC3E}">
        <p14:creationId xmlns:p14="http://schemas.microsoft.com/office/powerpoint/2010/main" val="709256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4944C-8816-A98A-BE5A-6A28E3D1316D}"/>
            </a:ext>
          </a:extLst>
        </p:cNvPr>
        <p:cNvGrpSpPr/>
        <p:nvPr/>
      </p:nvGrpSpPr>
      <p:grpSpPr>
        <a:xfrm>
          <a:off x="0" y="0"/>
          <a:ext cx="0" cy="0"/>
          <a:chOff x="0" y="0"/>
          <a:chExt cx="0" cy="0"/>
        </a:xfrm>
      </p:grpSpPr>
      <p:pic>
        <p:nvPicPr>
          <p:cNvPr id="17" name="object 3">
            <a:extLst>
              <a:ext uri="{FF2B5EF4-FFF2-40B4-BE49-F238E27FC236}">
                <a16:creationId xmlns:a16="http://schemas.microsoft.com/office/drawing/2014/main" id="{97977331-EA1C-CA44-869F-6C400FF95B93}"/>
              </a:ext>
            </a:extLst>
          </p:cNvPr>
          <p:cNvPicPr/>
          <p:nvPr/>
        </p:nvPicPr>
        <p:blipFill>
          <a:blip r:embed="rId2" cstate="print"/>
          <a:stretch>
            <a:fillRect/>
          </a:stretch>
        </p:blipFill>
        <p:spPr>
          <a:xfrm>
            <a:off x="290750" y="204311"/>
            <a:ext cx="1163002" cy="424338"/>
          </a:xfrm>
          <a:prstGeom prst="rect">
            <a:avLst/>
          </a:prstGeom>
        </p:spPr>
      </p:pic>
      <p:grpSp>
        <p:nvGrpSpPr>
          <p:cNvPr id="4" name="object 3">
            <a:extLst>
              <a:ext uri="{FF2B5EF4-FFF2-40B4-BE49-F238E27FC236}">
                <a16:creationId xmlns:a16="http://schemas.microsoft.com/office/drawing/2014/main" id="{493C539F-A86A-512C-CDC1-7D279B60EB1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EF4257B-2B43-17B3-FF4F-1187B669162A}"/>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C6F1369C-4970-FF55-E67B-BCF08160A62A}"/>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CF69E22F-BC21-03E7-F9F3-42AA69CA9E92}"/>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470ED999-51AF-0BD8-F3EE-37C965CA5C3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p:cNvSpPr txBox="1"/>
          <p:nvPr/>
        </p:nvSpPr>
        <p:spPr>
          <a:xfrm>
            <a:off x="2722007" y="286489"/>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DATASET DESCRIPTION</a:t>
            </a:r>
          </a:p>
        </p:txBody>
      </p:sp>
      <p:sp>
        <p:nvSpPr>
          <p:cNvPr id="19" name="TextBox 18"/>
          <p:cNvSpPr txBox="1"/>
          <p:nvPr/>
        </p:nvSpPr>
        <p:spPr>
          <a:xfrm>
            <a:off x="777240" y="1143000"/>
            <a:ext cx="8046720" cy="461665"/>
          </a:xfrm>
          <a:prstGeom prst="rect">
            <a:avLst/>
          </a:prstGeom>
          <a:noFill/>
        </p:spPr>
        <p:txBody>
          <a:bodyPr wrap="square">
            <a:spAutoFit/>
          </a:bodyPr>
          <a:lstStyle/>
          <a:p>
            <a:pPr algn="ctr">
              <a:spcAft>
                <a:spcPts val="700"/>
              </a:spcAft>
              <a:defRPr sz="1900" b="1">
                <a:solidFill>
                  <a:srgbClr val="233464"/>
                </a:solidFill>
                <a:latin typeface="Aptos"/>
              </a:defRPr>
            </a:pPr>
            <a:r>
              <a:rPr sz="2400" dirty="0">
                <a:latin typeface="Times New Roman" pitchFamily="18" charset="0"/>
                <a:cs typeface="Times New Roman" pitchFamily="18" charset="0"/>
              </a:rPr>
              <a:t>Web-scraped Amazon India "Air Conditioners" listings (one-day snapshot) — key fields</a:t>
            </a:r>
          </a:p>
        </p:txBody>
      </p:sp>
      <p:graphicFrame>
        <p:nvGraphicFramePr>
          <p:cNvPr id="20" name="Table 19"/>
          <p:cNvGraphicFramePr>
            <a:graphicFrameLocks noGrp="1"/>
          </p:cNvGraphicFramePr>
          <p:nvPr/>
        </p:nvGraphicFramePr>
        <p:xfrm>
          <a:off x="411480" y="1965960"/>
          <a:ext cx="4480560" cy="301752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431074">
                <a:tc>
                  <a:txBody>
                    <a:bodyPr/>
                    <a:lstStyle/>
                    <a:p>
                      <a:pPr>
                        <a:defRPr sz="1100" b="1">
                          <a:solidFill>
                            <a:srgbClr val="FFFFFF"/>
                          </a:solidFill>
                          <a:latin typeface="Times New Roman"/>
                        </a:defRPr>
                      </a:pPr>
                      <a:r>
                        <a:t>Field</a:t>
                      </a:r>
                    </a:p>
                  </a:txBody>
                  <a:tcPr marT="25400" marB="25400">
                    <a:solidFill>
                      <a:srgbClr val="233464"/>
                    </a:solidFill>
                  </a:tcPr>
                </a:tc>
                <a:tc>
                  <a:txBody>
                    <a:bodyPr/>
                    <a:lstStyle/>
                    <a:p>
                      <a:pPr>
                        <a:defRPr sz="1100" b="1">
                          <a:solidFill>
                            <a:srgbClr val="FFFFFF"/>
                          </a:solidFill>
                          <a:latin typeface="Times New Roman"/>
                        </a:defRPr>
                      </a:pPr>
                      <a:r>
                        <a:t>Description</a:t>
                      </a:r>
                    </a:p>
                  </a:txBody>
                  <a:tcPr marT="25400" marB="25400">
                    <a:solidFill>
                      <a:srgbClr val="233464"/>
                    </a:solidFill>
                  </a:tcPr>
                </a:tc>
                <a:extLst>
                  <a:ext uri="{0D108BD9-81ED-4DB2-BD59-A6C34878D82A}">
                    <a16:rowId xmlns:a16="http://schemas.microsoft.com/office/drawing/2014/main" val="10000"/>
                  </a:ext>
                </a:extLst>
              </a:tr>
              <a:tr h="431074">
                <a:tc>
                  <a:txBody>
                    <a:bodyPr/>
                    <a:lstStyle/>
                    <a:p>
                      <a:pPr>
                        <a:defRPr sz="1100">
                          <a:solidFill>
                            <a:srgbClr val="2D2D2D"/>
                          </a:solidFill>
                          <a:latin typeface="Times New Roman"/>
                        </a:defRPr>
                      </a:pPr>
                      <a:r>
                        <a:t>name / link / asin</a:t>
                      </a:r>
                    </a:p>
                  </a:txBody>
                  <a:tcPr marT="25400" marB="25400">
                    <a:solidFill>
                      <a:srgbClr val="FFFFFF"/>
                    </a:solidFill>
                  </a:tcPr>
                </a:tc>
                <a:tc>
                  <a:txBody>
                    <a:bodyPr/>
                    <a:lstStyle/>
                    <a:p>
                      <a:pPr>
                        <a:defRPr sz="1100">
                          <a:solidFill>
                            <a:srgbClr val="2D2D2D"/>
                          </a:solidFill>
                          <a:latin typeface="Times New Roman"/>
                        </a:defRPr>
                      </a:pPr>
                      <a:r>
                        <a:t>Product title (source for brand, tonnage, stars) / page URL / Amazon product id</a:t>
                      </a:r>
                    </a:p>
                  </a:txBody>
                  <a:tcPr marT="25400" marB="25400">
                    <a:solidFill>
                      <a:srgbClr val="FFFFFF"/>
                    </a:solidFill>
                  </a:tcPr>
                </a:tc>
                <a:extLst>
                  <a:ext uri="{0D108BD9-81ED-4DB2-BD59-A6C34878D82A}">
                    <a16:rowId xmlns:a16="http://schemas.microsoft.com/office/drawing/2014/main" val="10001"/>
                  </a:ext>
                </a:extLst>
              </a:tr>
              <a:tr h="431074">
                <a:tc>
                  <a:txBody>
                    <a:bodyPr/>
                    <a:lstStyle/>
                    <a:p>
                      <a:pPr>
                        <a:defRPr sz="1100">
                          <a:solidFill>
                            <a:srgbClr val="2D2D2D"/>
                          </a:solidFill>
                          <a:latin typeface="Times New Roman"/>
                        </a:defRPr>
                      </a:pPr>
                      <a:r>
                        <a:t>ratings / no_of_ratings</a:t>
                      </a:r>
                    </a:p>
                  </a:txBody>
                  <a:tcPr marT="25400" marB="25400">
                    <a:solidFill>
                      <a:srgbClr val="F4F6FB"/>
                    </a:solidFill>
                  </a:tcPr>
                </a:tc>
                <a:tc>
                  <a:txBody>
                    <a:bodyPr/>
                    <a:lstStyle/>
                    <a:p>
                      <a:pPr>
                        <a:defRPr sz="1100">
                          <a:solidFill>
                            <a:srgbClr val="2D2D2D"/>
                          </a:solidFill>
                          <a:latin typeface="Times New Roman"/>
                        </a:defRPr>
                      </a:pPr>
                      <a:r>
                        <a:t>Average rating (1–5) / number of reviews</a:t>
                      </a:r>
                    </a:p>
                  </a:txBody>
                  <a:tcPr marT="25400" marB="25400">
                    <a:solidFill>
                      <a:srgbClr val="F4F6FB"/>
                    </a:solidFill>
                  </a:tcPr>
                </a:tc>
                <a:extLst>
                  <a:ext uri="{0D108BD9-81ED-4DB2-BD59-A6C34878D82A}">
                    <a16:rowId xmlns:a16="http://schemas.microsoft.com/office/drawing/2014/main" val="10002"/>
                  </a:ext>
                </a:extLst>
              </a:tr>
              <a:tr h="431074">
                <a:tc>
                  <a:txBody>
                    <a:bodyPr/>
                    <a:lstStyle/>
                    <a:p>
                      <a:pPr>
                        <a:defRPr sz="1100">
                          <a:solidFill>
                            <a:srgbClr val="2D2D2D"/>
                          </a:solidFill>
                          <a:latin typeface="Times New Roman"/>
                        </a:defRPr>
                      </a:pPr>
                      <a:r>
                        <a:t>discount_price</a:t>
                      </a:r>
                    </a:p>
                  </a:txBody>
                  <a:tcPr marT="25400" marB="25400">
                    <a:solidFill>
                      <a:srgbClr val="FFFFFF"/>
                    </a:solidFill>
                  </a:tcPr>
                </a:tc>
                <a:tc>
                  <a:txBody>
                    <a:bodyPr/>
                    <a:lstStyle/>
                    <a:p>
                      <a:pPr>
                        <a:defRPr sz="1100">
                          <a:solidFill>
                            <a:srgbClr val="2D2D2D"/>
                          </a:solidFill>
                          <a:latin typeface="Times New Roman"/>
                        </a:defRPr>
                      </a:pPr>
                      <a:r>
                        <a:t>Selling price on Amazon (₹)</a:t>
                      </a:r>
                    </a:p>
                  </a:txBody>
                  <a:tcPr marT="25400" marB="25400">
                    <a:solidFill>
                      <a:srgbClr val="FFFFFF"/>
                    </a:solidFill>
                  </a:tcPr>
                </a:tc>
                <a:extLst>
                  <a:ext uri="{0D108BD9-81ED-4DB2-BD59-A6C34878D82A}">
                    <a16:rowId xmlns:a16="http://schemas.microsoft.com/office/drawing/2014/main" val="10003"/>
                  </a:ext>
                </a:extLst>
              </a:tr>
              <a:tr h="431074">
                <a:tc>
                  <a:txBody>
                    <a:bodyPr/>
                    <a:lstStyle/>
                    <a:p>
                      <a:pPr>
                        <a:defRPr sz="1100">
                          <a:solidFill>
                            <a:srgbClr val="2D2D2D"/>
                          </a:solidFill>
                          <a:latin typeface="Times New Roman"/>
                        </a:defRPr>
                      </a:pPr>
                      <a:r>
                        <a:t>actual_price</a:t>
                      </a:r>
                    </a:p>
                  </a:txBody>
                  <a:tcPr marT="25400" marB="25400">
                    <a:solidFill>
                      <a:srgbClr val="F4F6FB"/>
                    </a:solidFill>
                  </a:tcPr>
                </a:tc>
                <a:tc>
                  <a:txBody>
                    <a:bodyPr/>
                    <a:lstStyle/>
                    <a:p>
                      <a:pPr>
                        <a:defRPr sz="1100">
                          <a:solidFill>
                            <a:srgbClr val="2D2D2D"/>
                          </a:solidFill>
                          <a:latin typeface="Times New Roman"/>
                        </a:defRPr>
                      </a:pPr>
                      <a:r>
                        <a:t>MRP / list price (₹) — blank when not verified</a:t>
                      </a:r>
                    </a:p>
                  </a:txBody>
                  <a:tcPr marT="25400" marB="25400">
                    <a:solidFill>
                      <a:srgbClr val="F4F6FB"/>
                    </a:solidFill>
                  </a:tcPr>
                </a:tc>
                <a:extLst>
                  <a:ext uri="{0D108BD9-81ED-4DB2-BD59-A6C34878D82A}">
                    <a16:rowId xmlns:a16="http://schemas.microsoft.com/office/drawing/2014/main" val="10004"/>
                  </a:ext>
                </a:extLst>
              </a:tr>
              <a:tr h="431074">
                <a:tc>
                  <a:txBody>
                    <a:bodyPr/>
                    <a:lstStyle/>
                    <a:p>
                      <a:pPr>
                        <a:defRPr sz="1100">
                          <a:solidFill>
                            <a:srgbClr val="2D2D2D"/>
                          </a:solidFill>
                          <a:latin typeface="Times New Roman"/>
                        </a:defRPr>
                      </a:pPr>
                      <a:r>
                        <a:t>tonnage / energy_star</a:t>
                      </a:r>
                    </a:p>
                  </a:txBody>
                  <a:tcPr marT="25400" marB="25400">
                    <a:solidFill>
                      <a:srgbClr val="FFFFFF"/>
                    </a:solidFill>
                  </a:tcPr>
                </a:tc>
                <a:tc>
                  <a:txBody>
                    <a:bodyPr/>
                    <a:lstStyle/>
                    <a:p>
                      <a:pPr>
                        <a:defRPr sz="1100">
                          <a:solidFill>
                            <a:srgbClr val="2D2D2D"/>
                          </a:solidFill>
                          <a:latin typeface="Times New Roman"/>
                        </a:defRPr>
                      </a:pPr>
                      <a:r>
                        <a:t>Cooling capacity and BEE star rating (from title)</a:t>
                      </a:r>
                    </a:p>
                  </a:txBody>
                  <a:tcPr marT="25400" marB="25400">
                    <a:solidFill>
                      <a:srgbClr val="FFFFFF"/>
                    </a:solidFill>
                  </a:tcPr>
                </a:tc>
                <a:extLst>
                  <a:ext uri="{0D108BD9-81ED-4DB2-BD59-A6C34878D82A}">
                    <a16:rowId xmlns:a16="http://schemas.microsoft.com/office/drawing/2014/main" val="10005"/>
                  </a:ext>
                </a:extLst>
              </a:tr>
              <a:tr h="431076">
                <a:tc>
                  <a:txBody>
                    <a:bodyPr/>
                    <a:lstStyle/>
                    <a:p>
                      <a:pPr>
                        <a:defRPr sz="1100">
                          <a:solidFill>
                            <a:srgbClr val="2D2D2D"/>
                          </a:solidFill>
                          <a:latin typeface="Times New Roman"/>
                        </a:defRPr>
                      </a:pPr>
                      <a:r>
                        <a:t>discount_percent / brand</a:t>
                      </a:r>
                    </a:p>
                  </a:txBody>
                  <a:tcPr marT="25400" marB="25400">
                    <a:solidFill>
                      <a:srgbClr val="F4F6FB"/>
                    </a:solidFill>
                  </a:tcPr>
                </a:tc>
                <a:tc>
                  <a:txBody>
                    <a:bodyPr/>
                    <a:lstStyle/>
                    <a:p>
                      <a:pPr>
                        <a:defRPr sz="1100">
                          <a:solidFill>
                            <a:srgbClr val="2D2D2D"/>
                          </a:solidFill>
                          <a:latin typeface="Times New Roman"/>
                        </a:defRPr>
                      </a:pPr>
                      <a:r>
                        <a:t>Derived: (MRP − price) / MRP; standardised brand from name</a:t>
                      </a:r>
                    </a:p>
                  </a:txBody>
                  <a:tcPr marT="25400" marB="25400">
                    <a:solidFill>
                      <a:srgbClr val="F4F6FB"/>
                    </a:solidFill>
                  </a:tcPr>
                </a:tc>
                <a:extLst>
                  <a:ext uri="{0D108BD9-81ED-4DB2-BD59-A6C34878D82A}">
                    <a16:rowId xmlns:a16="http://schemas.microsoft.com/office/drawing/2014/main" val="10006"/>
                  </a:ext>
                </a:extLst>
              </a:tr>
            </a:tbl>
          </a:graphicData>
        </a:graphic>
      </p:graphicFrame>
      <p:sp>
        <p:nvSpPr>
          <p:cNvPr id="21" name="Rounded Rectangle 20"/>
          <p:cNvSpPr/>
          <p:nvPr/>
        </p:nvSpPr>
        <p:spPr>
          <a:xfrm>
            <a:off x="5074920" y="1965960"/>
            <a:ext cx="4526280" cy="868680"/>
          </a:xfrm>
          <a:prstGeom prst="roundRect">
            <a:avLst>
              <a:gd name="adj" fmla="val 8000"/>
            </a:avLst>
          </a:prstGeom>
          <a:solidFill>
            <a:srgbClr val="F4F6FB"/>
          </a:solidFill>
          <a:ln w="12700">
            <a:solidFill>
              <a:srgbClr val="FF6600"/>
            </a:solidFill>
          </a:ln>
        </p:spPr>
        <p:style>
          <a:lnRef idx="1">
            <a:schemeClr val="accent1"/>
          </a:lnRef>
          <a:fillRef idx="3">
            <a:schemeClr val="accent1"/>
          </a:fillRef>
          <a:effectRef idx="2">
            <a:schemeClr val="accent1"/>
          </a:effectRef>
          <a:fontRef idx="minor">
            <a:schemeClr val="lt1"/>
          </a:fontRef>
        </p:style>
        <p:txBody>
          <a:bodyPr wrap="square" lIns="101600" tIns="50800" rIns="101600" bIns="50800" rtlCol="0" anchor="ctr"/>
          <a:lstStyle/>
          <a:p>
            <a:pPr algn="ctr"/>
            <a:r>
              <a:rPr sz="1300" b="1" dirty="0">
                <a:solidFill>
                  <a:srgbClr val="FF6600"/>
                </a:solidFill>
                <a:latin typeface="Times New Roman"/>
              </a:rPr>
              <a:t>Dataset Snapshot</a:t>
            </a:r>
          </a:p>
          <a:p>
            <a:r>
              <a:rPr sz="1100" dirty="0">
                <a:solidFill>
                  <a:srgbClr val="2D2D2D"/>
                </a:solidFill>
                <a:latin typeface="Times New Roman"/>
              </a:rPr>
              <a:t>32 raw listings  |  9 columns → 20 after extraction &amp; cleaning</a:t>
            </a:r>
          </a:p>
        </p:txBody>
      </p:sp>
      <p:sp>
        <p:nvSpPr>
          <p:cNvPr id="22" name="Rounded Rectangle 21"/>
          <p:cNvSpPr/>
          <p:nvPr/>
        </p:nvSpPr>
        <p:spPr>
          <a:xfrm>
            <a:off x="5074920" y="2971800"/>
            <a:ext cx="4526280" cy="868680"/>
          </a:xfrm>
          <a:prstGeom prst="roundRect">
            <a:avLst>
              <a:gd name="adj" fmla="val 8000"/>
            </a:avLst>
          </a:prstGeom>
          <a:solidFill>
            <a:srgbClr val="F4F6FB"/>
          </a:solidFill>
          <a:ln w="12700">
            <a:solidFill>
              <a:srgbClr val="FF6600"/>
            </a:solidFill>
          </a:ln>
        </p:spPr>
        <p:style>
          <a:lnRef idx="1">
            <a:schemeClr val="accent1"/>
          </a:lnRef>
          <a:fillRef idx="3">
            <a:schemeClr val="accent1"/>
          </a:fillRef>
          <a:effectRef idx="2">
            <a:schemeClr val="accent1"/>
          </a:effectRef>
          <a:fontRef idx="minor">
            <a:schemeClr val="lt1"/>
          </a:fontRef>
        </p:style>
        <p:txBody>
          <a:bodyPr wrap="square" lIns="101600" tIns="50800" rIns="101600" bIns="50800" rtlCol="0" anchor="ctr"/>
          <a:lstStyle/>
          <a:p>
            <a:pPr algn="ctr"/>
            <a:r>
              <a:rPr sz="1300" b="1">
                <a:solidFill>
                  <a:srgbClr val="FF6600"/>
                </a:solidFill>
                <a:latin typeface="Times New Roman"/>
              </a:rPr>
              <a:t>Data Quality Checks</a:t>
            </a:r>
          </a:p>
          <a:p>
            <a:r>
              <a:rPr sz="1100">
                <a:solidFill>
                  <a:srgbClr val="2D2D2D"/>
                </a:solidFill>
                <a:latin typeface="Times New Roman"/>
              </a:rPr>
              <a:t>0 duplicates • 6 wrong MRPs blanked (price &gt; MRP) • 3 price outliers flagged • missing values kept blank (not median-filled) • 16 brands standardised</a:t>
            </a:r>
          </a:p>
        </p:txBody>
      </p:sp>
      <p:sp>
        <p:nvSpPr>
          <p:cNvPr id="23" name="Rounded Rectangle 22"/>
          <p:cNvSpPr/>
          <p:nvPr/>
        </p:nvSpPr>
        <p:spPr>
          <a:xfrm>
            <a:off x="5074920" y="3977639"/>
            <a:ext cx="4526280" cy="868680"/>
          </a:xfrm>
          <a:prstGeom prst="roundRect">
            <a:avLst>
              <a:gd name="adj" fmla="val 8000"/>
            </a:avLst>
          </a:prstGeom>
          <a:solidFill>
            <a:srgbClr val="F4F6FB"/>
          </a:solidFill>
          <a:ln w="12700">
            <a:solidFill>
              <a:srgbClr val="FF6600"/>
            </a:solidFill>
          </a:ln>
        </p:spPr>
        <p:style>
          <a:lnRef idx="1">
            <a:schemeClr val="accent1"/>
          </a:lnRef>
          <a:fillRef idx="3">
            <a:schemeClr val="accent1"/>
          </a:fillRef>
          <a:effectRef idx="2">
            <a:schemeClr val="accent1"/>
          </a:effectRef>
          <a:fontRef idx="minor">
            <a:schemeClr val="lt1"/>
          </a:fontRef>
        </p:style>
        <p:txBody>
          <a:bodyPr wrap="square" lIns="101600" tIns="50800" rIns="101600" bIns="50800" rtlCol="0" anchor="ctr"/>
          <a:lstStyle/>
          <a:p>
            <a:pPr algn="ctr"/>
            <a:r>
              <a:rPr sz="1300" b="1">
                <a:solidFill>
                  <a:srgbClr val="FF6600"/>
                </a:solidFill>
                <a:latin typeface="Times New Roman"/>
              </a:rPr>
              <a:t>Tools &amp; Libraries</a:t>
            </a:r>
          </a:p>
          <a:p>
            <a:r>
              <a:rPr sz="1100">
                <a:solidFill>
                  <a:srgbClr val="2D2D2D"/>
                </a:solidFill>
                <a:latin typeface="Times New Roman"/>
              </a:rPr>
              <a:t>Python • Pandas • NumPy • Matplotlib • SciPy • Requests • BeautifulSoup • Google Colab</a:t>
            </a:r>
          </a:p>
        </p:txBody>
      </p:sp>
      <p:sp>
        <p:nvSpPr>
          <p:cNvPr id="24" name="TextBox 23"/>
          <p:cNvSpPr txBox="1"/>
          <p:nvPr/>
        </p:nvSpPr>
        <p:spPr>
          <a:xfrm>
            <a:off x="411480" y="5120640"/>
            <a:ext cx="9144000" cy="457200"/>
          </a:xfrm>
          <a:prstGeom prst="rect">
            <a:avLst/>
          </a:prstGeom>
          <a:noFill/>
        </p:spPr>
        <p:txBody>
          <a:bodyPr wrap="square">
            <a:spAutoFit/>
          </a:bodyPr>
          <a:lstStyle/>
          <a:p>
            <a:r>
              <a:rPr sz="1200" i="1">
                <a:solidFill>
                  <a:srgbClr val="808080"/>
                </a:solidFill>
                <a:latin typeface="Times New Roman"/>
              </a:rPr>
              <a:t>Final analysis: 32 listings; 31 with verified selling price, 25 with verified discount, all 32 with ratings.</a:t>
            </a:r>
          </a:p>
        </p:txBody>
      </p:sp>
    </p:spTree>
    <p:extLst>
      <p:ext uri="{BB962C8B-B14F-4D97-AF65-F5344CB8AC3E}">
        <p14:creationId xmlns:p14="http://schemas.microsoft.com/office/powerpoint/2010/main" val="3510378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819400" y="52623"/>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743200" y="256032"/>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REQUIREMENTS</a:t>
            </a:r>
          </a:p>
        </p:txBody>
      </p:sp>
      <p:sp>
        <p:nvSpPr>
          <p:cNvPr id="21" name="TextBox 20"/>
          <p:cNvSpPr txBox="1"/>
          <p:nvPr/>
        </p:nvSpPr>
        <p:spPr>
          <a:xfrm>
            <a:off x="602036" y="1290958"/>
            <a:ext cx="3840480" cy="461665"/>
          </a:xfrm>
          <a:prstGeom prst="rect">
            <a:avLst/>
          </a:prstGeom>
          <a:noFill/>
        </p:spPr>
        <p:txBody>
          <a:bodyPr wrap="square">
            <a:spAutoFit/>
          </a:bodyPr>
          <a:lstStyle/>
          <a:p>
            <a:pPr algn="l">
              <a:spcAft>
                <a:spcPts val="700"/>
              </a:spcAft>
              <a:defRPr sz="2000" b="1">
                <a:solidFill>
                  <a:srgbClr val="233464"/>
                </a:solidFill>
                <a:latin typeface="Aptos"/>
              </a:defRPr>
            </a:pPr>
            <a:r>
              <a:rPr lang="en-IN" sz="2400" dirty="0">
                <a:latin typeface="Times New Roman" pitchFamily="18" charset="0"/>
                <a:cs typeface="Times New Roman" pitchFamily="18" charset="0"/>
              </a:rPr>
              <a:t>Software Requirements</a:t>
            </a:r>
            <a:endParaRPr sz="2400" dirty="0">
              <a:latin typeface="Times New Roman" pitchFamily="18" charset="0"/>
              <a:cs typeface="Times New Roman" pitchFamily="18" charset="0"/>
            </a:endParaRPr>
          </a:p>
        </p:txBody>
      </p:sp>
      <p:sp>
        <p:nvSpPr>
          <p:cNvPr id="22" name="TextBox 21"/>
          <p:cNvSpPr txBox="1"/>
          <p:nvPr/>
        </p:nvSpPr>
        <p:spPr>
          <a:xfrm>
            <a:off x="807720" y="2209800"/>
            <a:ext cx="4023360" cy="2757165"/>
          </a:xfrm>
          <a:prstGeom prst="rect">
            <a:avLst/>
          </a:prstGeom>
          <a:noFill/>
        </p:spPr>
        <p:txBody>
          <a:bodyPr wrap="square">
            <a:spAutoFit/>
          </a:bodyPr>
          <a:lstStyle/>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Windows</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Python 3</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Google Colab / Jupyter</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Pandas</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NumPy</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Matplotlib</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SciPy</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Requests</a:t>
            </a:r>
          </a:p>
          <a:p>
            <a:pPr algn="l">
              <a:spcAft>
                <a:spcPts val="700"/>
              </a:spcAft>
              <a:defRPr sz="1800" b="0">
                <a:solidFill>
                  <a:srgbClr val="2D2D2D"/>
                </a:solidFill>
                <a:latin typeface="Aptos"/>
              </a:defRPr>
            </a:pPr>
            <a:r>
              <a:rPr sz="2400" dirty="0">
                <a:latin typeface="Times New Roman" panose="02020603050405020304" pitchFamily="18" charset="0"/>
                <a:cs typeface="Times New Roman" panose="02020603050405020304" pitchFamily="18" charset="0"/>
              </a:rPr>
              <a:t>• BeautifulSoup4 / lxml</a:t>
            </a:r>
          </a:p>
        </p:txBody>
      </p:sp>
    </p:spTree>
    <p:extLst>
      <p:ext uri="{BB962C8B-B14F-4D97-AF65-F5344CB8AC3E}">
        <p14:creationId xmlns:p14="http://schemas.microsoft.com/office/powerpoint/2010/main" val="2272052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00"/>
            </a:p>
          </p:txBody>
        </p:sp>
      </p:gr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p:cNvSpPr txBox="1"/>
          <p:nvPr/>
        </p:nvSpPr>
        <p:spPr>
          <a:xfrm>
            <a:off x="2414826" y="437450"/>
            <a:ext cx="5120640" cy="400110"/>
          </a:xfrm>
          <a:prstGeom prst="rect">
            <a:avLst/>
          </a:prstGeom>
          <a:noFill/>
        </p:spPr>
        <p:txBody>
          <a:bodyPr wrap="square">
            <a:spAutoFit/>
          </a:bodyPr>
          <a:lstStyle/>
          <a:p>
            <a:pPr algn="ctr">
              <a:spcAft>
                <a:spcPts val="700"/>
              </a:spcAft>
              <a:defRPr sz="2200" b="1">
                <a:solidFill>
                  <a:srgbClr val="233464"/>
                </a:solidFill>
                <a:latin typeface="Aptos"/>
              </a:defRPr>
            </a:pPr>
            <a:r>
              <a:rPr sz="2000" dirty="0">
                <a:solidFill>
                  <a:schemeClr val="bg1"/>
                </a:solidFill>
                <a:latin typeface="Times New Roman" pitchFamily="18" charset="0"/>
                <a:cs typeface="Times New Roman" pitchFamily="18" charset="0"/>
              </a:rPr>
              <a:t>METHODOLOGY</a:t>
            </a:r>
          </a:p>
        </p:txBody>
      </p:sp>
      <p:sp>
        <p:nvSpPr>
          <p:cNvPr id="20" name="TextBox 19"/>
          <p:cNvSpPr txBox="1"/>
          <p:nvPr/>
        </p:nvSpPr>
        <p:spPr>
          <a:xfrm>
            <a:off x="42253" y="1115220"/>
            <a:ext cx="9770832" cy="1569660"/>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Stage 1 – Data Loading &amp; Reading</a:t>
            </a:r>
          </a:p>
          <a:p>
            <a:pPr algn="ctr"/>
            <a:r>
              <a:rPr lang="en-US" sz="2400" dirty="0">
                <a:latin typeface="Times New Roman" pitchFamily="18" charset="0"/>
                <a:cs typeface="Times New Roman" pitchFamily="18" charset="0"/>
              </a:rPr>
              <a:t>Read the raw CSV with Pandas.</a:t>
            </a:r>
          </a:p>
          <a:p>
            <a:pPr algn="ctr"/>
            <a:r>
              <a:rPr lang="en-US" sz="2400" dirty="0">
                <a:latin typeface="Times New Roman" pitchFamily="18" charset="0"/>
                <a:cs typeface="Times New Roman" pitchFamily="18" charset="0"/>
              </a:rPr>
              <a:t>Inspect shape (32 × 9), types, and summary stats.</a:t>
            </a:r>
          </a:p>
          <a:p>
            <a:pPr algn="ctr"/>
            <a:endParaRPr lang="en-US" sz="2400" dirty="0">
              <a:latin typeface="Times New Roman" pitchFamily="18" charset="0"/>
              <a:cs typeface="Times New Roman" pitchFamily="18" charset="0"/>
            </a:endParaRPr>
          </a:p>
        </p:txBody>
      </p:sp>
      <p:sp>
        <p:nvSpPr>
          <p:cNvPr id="4" name="Arrow: Down 3">
            <a:extLst>
              <a:ext uri="{FF2B5EF4-FFF2-40B4-BE49-F238E27FC236}">
                <a16:creationId xmlns:a16="http://schemas.microsoft.com/office/drawing/2014/main" id="{52502A97-D245-72B2-C4CE-36C3CF74332D}"/>
              </a:ext>
            </a:extLst>
          </p:cNvPr>
          <p:cNvSpPr/>
          <p:nvPr/>
        </p:nvSpPr>
        <p:spPr>
          <a:xfrm>
            <a:off x="4796282" y="2373939"/>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13" name="TextBox 12">
            <a:extLst>
              <a:ext uri="{FF2B5EF4-FFF2-40B4-BE49-F238E27FC236}">
                <a16:creationId xmlns:a16="http://schemas.microsoft.com/office/drawing/2014/main" id="{0E34B842-9CD3-AA46-6CA7-F730C9D1D96E}"/>
              </a:ext>
            </a:extLst>
          </p:cNvPr>
          <p:cNvSpPr txBox="1"/>
          <p:nvPr/>
        </p:nvSpPr>
        <p:spPr>
          <a:xfrm>
            <a:off x="2425647" y="2609096"/>
            <a:ext cx="4931158" cy="1569660"/>
          </a:xfrm>
          <a:prstGeom prst="rect">
            <a:avLst/>
          </a:prstGeom>
          <a:noFill/>
        </p:spPr>
        <p:txBody>
          <a:bodyPr wrap="none" rtlCol="0">
            <a:spAutoFit/>
          </a:bodyPr>
          <a:lstStyle/>
          <a:p>
            <a:pPr algn="ctr"/>
            <a:r>
              <a:rPr lang="en-IN" sz="2400" b="1" dirty="0">
                <a:latin typeface="Times New Roman" panose="02020603050405020304" pitchFamily="18" charset="0"/>
                <a:cs typeface="Times New Roman" panose="02020603050405020304" pitchFamily="18" charset="0"/>
              </a:rPr>
              <a:t>Stage 2 – Acquisition &amp; Filtering</a:t>
            </a:r>
          </a:p>
          <a:p>
            <a:pPr lvl="0" algn="ctr"/>
            <a:r>
              <a:rPr lang="en-IN" sz="2400" dirty="0">
                <a:latin typeface="Times New Roman" panose="02020603050405020304" pitchFamily="18" charset="0"/>
                <a:cs typeface="Times New Roman" panose="02020603050405020304" pitchFamily="18" charset="0"/>
              </a:rPr>
              <a:t>Scrape Amazon India with Requests + BeautifulSoup.</a:t>
            </a:r>
          </a:p>
          <a:p>
            <a:pPr lvl="0" algn="ctr"/>
            <a:r>
              <a:rPr lang="en-IN" sz="2400" dirty="0">
                <a:latin typeface="Times New Roman" panose="02020603050405020304" pitchFamily="18" charset="0"/>
                <a:cs typeface="Times New Roman" panose="02020603050405020304" pitchFamily="18" charset="0"/>
              </a:rPr>
              <a:t>Keep genuine ACs, valid links, unique ASINs.</a:t>
            </a:r>
          </a:p>
          <a:p>
            <a:pPr algn="ctr"/>
            <a:endParaRPr lang="en-IN" sz="2400" dirty="0">
              <a:latin typeface="Times New Roman" panose="02020603050405020304" pitchFamily="18" charset="0"/>
              <a:cs typeface="Times New Roman" panose="02020603050405020304" pitchFamily="18" charset="0"/>
            </a:endParaRPr>
          </a:p>
        </p:txBody>
      </p:sp>
      <p:sp>
        <p:nvSpPr>
          <p:cNvPr id="15" name="Arrow: Down 14">
            <a:extLst>
              <a:ext uri="{FF2B5EF4-FFF2-40B4-BE49-F238E27FC236}">
                <a16:creationId xmlns:a16="http://schemas.microsoft.com/office/drawing/2014/main" id="{D18714A5-46F1-BD0D-4A00-BB0C1211F660}"/>
              </a:ext>
            </a:extLst>
          </p:cNvPr>
          <p:cNvSpPr/>
          <p:nvPr/>
        </p:nvSpPr>
        <p:spPr>
          <a:xfrm>
            <a:off x="4756604" y="3814644"/>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16" name="TextBox 15">
            <a:extLst>
              <a:ext uri="{FF2B5EF4-FFF2-40B4-BE49-F238E27FC236}">
                <a16:creationId xmlns:a16="http://schemas.microsoft.com/office/drawing/2014/main" id="{D359C03E-C4CB-43D3-0C7D-3D50822A8B32}"/>
              </a:ext>
            </a:extLst>
          </p:cNvPr>
          <p:cNvSpPr txBox="1"/>
          <p:nvPr/>
        </p:nvSpPr>
        <p:spPr>
          <a:xfrm>
            <a:off x="2986011" y="4228115"/>
            <a:ext cx="4086375" cy="1200329"/>
          </a:xfrm>
          <a:prstGeom prst="rect">
            <a:avLst/>
          </a:prstGeom>
          <a:noFill/>
        </p:spPr>
        <p:txBody>
          <a:bodyPr wrap="none" rtlCol="0">
            <a:spAutoFit/>
          </a:bodyPr>
          <a:lstStyle/>
          <a:p>
            <a:pPr algn="ctr"/>
            <a:r>
              <a:rPr lang="en-IN" sz="2400" b="1" dirty="0">
                <a:latin typeface="Times New Roman" panose="02020603050405020304" pitchFamily="18" charset="0"/>
                <a:cs typeface="Times New Roman" panose="02020603050405020304" pitchFamily="18" charset="0"/>
              </a:rPr>
              <a:t>Stage 3 – Data Extraction</a:t>
            </a:r>
          </a:p>
          <a:p>
            <a:pPr lvl="0" algn="ctr"/>
            <a:r>
              <a:rPr lang="en-IN" sz="2400" dirty="0">
                <a:latin typeface="Times New Roman" panose="02020603050405020304" pitchFamily="18" charset="0"/>
                <a:cs typeface="Times New Roman" panose="02020603050405020304" pitchFamily="18" charset="0"/>
              </a:rPr>
              <a:t>Regex on titles: tonnage, stars, brand, AC type.</a:t>
            </a:r>
          </a:p>
          <a:p>
            <a:pPr lvl="0" algn="ctr"/>
            <a:r>
              <a:rPr lang="en-IN" sz="2400" dirty="0">
                <a:latin typeface="Times New Roman" panose="02020603050405020304" pitchFamily="18" charset="0"/>
                <a:cs typeface="Times New Roman" panose="02020603050405020304" pitchFamily="18" charset="0"/>
              </a:rPr>
              <a:t>Flag inverter and Wi-Fi models (9 → 16 columns).</a:t>
            </a:r>
          </a:p>
        </p:txBody>
      </p:sp>
      <p:sp>
        <p:nvSpPr>
          <p:cNvPr id="18" name="Arrow: Down 17">
            <a:extLst>
              <a:ext uri="{FF2B5EF4-FFF2-40B4-BE49-F238E27FC236}">
                <a16:creationId xmlns:a16="http://schemas.microsoft.com/office/drawing/2014/main" id="{E02D8121-E16D-A49A-1052-85D8AFE05F58}"/>
              </a:ext>
            </a:extLst>
          </p:cNvPr>
          <p:cNvSpPr/>
          <p:nvPr/>
        </p:nvSpPr>
        <p:spPr>
          <a:xfrm>
            <a:off x="4754386" y="5469412"/>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21" name="TextBox 20">
            <a:extLst>
              <a:ext uri="{FF2B5EF4-FFF2-40B4-BE49-F238E27FC236}">
                <a16:creationId xmlns:a16="http://schemas.microsoft.com/office/drawing/2014/main" id="{B1C9C953-BED3-2F43-1A1F-3B7650BC3A88}"/>
              </a:ext>
            </a:extLst>
          </p:cNvPr>
          <p:cNvSpPr txBox="1"/>
          <p:nvPr/>
        </p:nvSpPr>
        <p:spPr>
          <a:xfrm>
            <a:off x="2460546" y="5841915"/>
            <a:ext cx="5029200" cy="1200329"/>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Stage 4 – Validation &amp; Cleaning</a:t>
            </a:r>
          </a:p>
          <a:p>
            <a:pPr lvl="0" algn="ctr"/>
            <a:r>
              <a:rPr lang="en-IN" sz="2400" dirty="0">
                <a:latin typeface="Times New Roman" panose="02020603050405020304" pitchFamily="18" charset="0"/>
                <a:cs typeface="Times New Roman" panose="02020603050405020304" pitchFamily="18" charset="0"/>
              </a:rPr>
              <a:t>Fix types; blank 6 wrong MRPs.</a:t>
            </a:r>
          </a:p>
          <a:p>
            <a:pPr lvl="0" algn="ctr"/>
            <a:r>
              <a:rPr lang="en-IN" sz="2400" dirty="0">
                <a:latin typeface="Times New Roman" panose="02020603050405020304" pitchFamily="18" charset="0"/>
                <a:cs typeface="Times New Roman" panose="02020603050405020304" pitchFamily="18" charset="0"/>
              </a:rPr>
              <a:t>Flag 3 price outliers with the IQR rule.</a:t>
            </a:r>
          </a:p>
        </p:txBody>
      </p:sp>
    </p:spTree>
    <p:extLst>
      <p:ext uri="{BB962C8B-B14F-4D97-AF65-F5344CB8AC3E}">
        <p14:creationId xmlns:p14="http://schemas.microsoft.com/office/powerpoint/2010/main" val="314495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BE1A7-3004-3B9A-3BDF-6F0CD676F7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C6D514-1AF0-EDB1-7078-687065ECF56B}"/>
              </a:ext>
            </a:extLst>
          </p:cNvPr>
          <p:cNvSpPr txBox="1"/>
          <p:nvPr/>
        </p:nvSpPr>
        <p:spPr>
          <a:xfrm>
            <a:off x="2414826" y="437450"/>
            <a:ext cx="5120640" cy="400110"/>
          </a:xfrm>
          <a:prstGeom prst="rect">
            <a:avLst/>
          </a:prstGeom>
          <a:noFill/>
        </p:spPr>
        <p:txBody>
          <a:bodyPr wrap="square">
            <a:spAutoFit/>
          </a:bodyPr>
          <a:lstStyle/>
          <a:p>
            <a:pPr algn="ctr">
              <a:spcAft>
                <a:spcPts val="700"/>
              </a:spcAft>
              <a:defRPr sz="2200" b="1">
                <a:solidFill>
                  <a:srgbClr val="233464"/>
                </a:solidFill>
                <a:latin typeface="Aptos"/>
              </a:defRPr>
            </a:pPr>
            <a:r>
              <a:rPr sz="2000" dirty="0">
                <a:solidFill>
                  <a:schemeClr val="bg1"/>
                </a:solidFill>
                <a:latin typeface="Times New Roman" pitchFamily="18" charset="0"/>
                <a:cs typeface="Times New Roman" pitchFamily="18" charset="0"/>
              </a:rPr>
              <a:t>METHODOLOGY</a:t>
            </a:r>
          </a:p>
        </p:txBody>
      </p:sp>
      <p:grpSp>
        <p:nvGrpSpPr>
          <p:cNvPr id="4" name="object 3">
            <a:extLst>
              <a:ext uri="{FF2B5EF4-FFF2-40B4-BE49-F238E27FC236}">
                <a16:creationId xmlns:a16="http://schemas.microsoft.com/office/drawing/2014/main" id="{F02D1B8B-963F-84C5-69F0-17C3EECCFD8D}"/>
              </a:ext>
            </a:extLst>
          </p:cNvPr>
          <p:cNvGrpSpPr/>
          <p:nvPr/>
        </p:nvGrpSpPr>
        <p:grpSpPr>
          <a:xfrm>
            <a:off x="2590800" y="161097"/>
            <a:ext cx="5103904" cy="1198311"/>
            <a:chOff x="2648188" y="47148"/>
            <a:chExt cx="5103904" cy="1198311"/>
          </a:xfrm>
        </p:grpSpPr>
        <p:pic>
          <p:nvPicPr>
            <p:cNvPr id="10" name="object 4">
              <a:extLst>
                <a:ext uri="{FF2B5EF4-FFF2-40B4-BE49-F238E27FC236}">
                  <a16:creationId xmlns:a16="http://schemas.microsoft.com/office/drawing/2014/main" id="{BD448D2F-A85D-4EA9-4AFA-DBD143FFC367}"/>
                </a:ext>
              </a:extLst>
            </p:cNvPr>
            <p:cNvPicPr/>
            <p:nvPr/>
          </p:nvPicPr>
          <p:blipFill>
            <a:blip r:embed="rId3" cstate="print"/>
            <a:stretch>
              <a:fillRect/>
            </a:stretch>
          </p:blipFill>
          <p:spPr>
            <a:xfrm>
              <a:off x="2648188" y="47148"/>
              <a:ext cx="5103904" cy="1198311"/>
            </a:xfrm>
            <a:prstGeom prst="rect">
              <a:avLst/>
            </a:prstGeom>
          </p:spPr>
        </p:pic>
        <p:pic>
          <p:nvPicPr>
            <p:cNvPr id="21" name="object 5">
              <a:extLst>
                <a:ext uri="{FF2B5EF4-FFF2-40B4-BE49-F238E27FC236}">
                  <a16:creationId xmlns:a16="http://schemas.microsoft.com/office/drawing/2014/main" id="{70B9531E-FF63-3CBC-8C76-5101CEB24CF2}"/>
                </a:ext>
              </a:extLst>
            </p:cNvPr>
            <p:cNvPicPr/>
            <p:nvPr/>
          </p:nvPicPr>
          <p:blipFill>
            <a:blip r:embed="rId4" cstate="print"/>
            <a:stretch>
              <a:fillRect/>
            </a:stretch>
          </p:blipFill>
          <p:spPr>
            <a:xfrm>
              <a:off x="2703195" y="86439"/>
              <a:ext cx="4997767" cy="1092279"/>
            </a:xfrm>
            <a:prstGeom prst="rect">
              <a:avLst/>
            </a:prstGeom>
          </p:spPr>
        </p:pic>
        <p:pic>
          <p:nvPicPr>
            <p:cNvPr id="22" name="object 6">
              <a:extLst>
                <a:ext uri="{FF2B5EF4-FFF2-40B4-BE49-F238E27FC236}">
                  <a16:creationId xmlns:a16="http://schemas.microsoft.com/office/drawing/2014/main" id="{A51A82D2-D894-569F-6C1F-514FA4F12972}"/>
                </a:ext>
              </a:extLst>
            </p:cNvPr>
            <p:cNvPicPr/>
            <p:nvPr/>
          </p:nvPicPr>
          <p:blipFill>
            <a:blip r:embed="rId5" cstate="print"/>
            <a:stretch>
              <a:fillRect/>
            </a:stretch>
          </p:blipFill>
          <p:spPr>
            <a:xfrm>
              <a:off x="2828925" y="243549"/>
              <a:ext cx="4585268" cy="522565"/>
            </a:xfrm>
            <a:prstGeom prst="rect">
              <a:avLst/>
            </a:prstGeom>
          </p:spPr>
        </p:pic>
        <p:sp>
          <p:nvSpPr>
            <p:cNvPr id="23" name="object 7">
              <a:extLst>
                <a:ext uri="{FF2B5EF4-FFF2-40B4-BE49-F238E27FC236}">
                  <a16:creationId xmlns:a16="http://schemas.microsoft.com/office/drawing/2014/main" id="{B3782B54-B821-DE87-C2B7-79ECF9E77AF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00"/>
            </a:p>
          </p:txBody>
        </p:sp>
      </p:grpSp>
      <p:sp>
        <p:nvSpPr>
          <p:cNvPr id="25" name="TextBox 24">
            <a:extLst>
              <a:ext uri="{FF2B5EF4-FFF2-40B4-BE49-F238E27FC236}">
                <a16:creationId xmlns:a16="http://schemas.microsoft.com/office/drawing/2014/main" id="{A5CA9835-2A27-E3B2-E349-E0FE4429CFBE}"/>
              </a:ext>
            </a:extLst>
          </p:cNvPr>
          <p:cNvSpPr txBox="1"/>
          <p:nvPr/>
        </p:nvSpPr>
        <p:spPr>
          <a:xfrm>
            <a:off x="2586213" y="413290"/>
            <a:ext cx="5029200" cy="400110"/>
          </a:xfrm>
          <a:prstGeom prst="rect">
            <a:avLst/>
          </a:prstGeom>
          <a:noFill/>
        </p:spPr>
        <p:txBody>
          <a:bodyPr wrap="square">
            <a:spAutoFit/>
          </a:bodyPr>
          <a:lstStyle/>
          <a:p>
            <a:pPr algn="ctr">
              <a:spcAft>
                <a:spcPts val="700"/>
              </a:spcAft>
              <a:defRPr sz="2200" b="1">
                <a:solidFill>
                  <a:srgbClr val="233464"/>
                </a:solidFill>
                <a:latin typeface="Aptos"/>
              </a:defRPr>
            </a:pPr>
            <a:r>
              <a:rPr lang="en-IN" sz="2000" dirty="0">
                <a:solidFill>
                  <a:schemeClr val="bg1"/>
                </a:solidFill>
                <a:latin typeface="Times New Roman" pitchFamily="18" charset="0"/>
                <a:cs typeface="Times New Roman" pitchFamily="18" charset="0"/>
              </a:rPr>
              <a:t>METHODOLOGY</a:t>
            </a:r>
          </a:p>
        </p:txBody>
      </p:sp>
      <p:sp>
        <p:nvSpPr>
          <p:cNvPr id="27" name="TextBox 26">
            <a:extLst>
              <a:ext uri="{FF2B5EF4-FFF2-40B4-BE49-F238E27FC236}">
                <a16:creationId xmlns:a16="http://schemas.microsoft.com/office/drawing/2014/main" id="{769BA950-6049-F76A-4A0C-CF5ED87D2763}"/>
              </a:ext>
            </a:extLst>
          </p:cNvPr>
          <p:cNvSpPr txBox="1"/>
          <p:nvPr/>
        </p:nvSpPr>
        <p:spPr>
          <a:xfrm>
            <a:off x="1816265" y="953427"/>
            <a:ext cx="6652974" cy="1200329"/>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Stage 5 – Data Aggregation</a:t>
            </a:r>
          </a:p>
          <a:p>
            <a:pPr lvl="0" algn="ctr"/>
            <a:r>
              <a:rPr lang="en-IN" sz="2400" dirty="0" err="1">
                <a:latin typeface="Times New Roman" panose="02020603050405020304" pitchFamily="18" charset="0"/>
                <a:cs typeface="Times New Roman" panose="02020603050405020304" pitchFamily="18" charset="0"/>
              </a:rPr>
              <a:t>Group by brand, tonnage, star.</a:t>
            </a:r>
          </a:p>
          <a:p>
            <a:pPr lvl="0" algn="ctr"/>
            <a:r>
              <a:rPr lang="en-IN" sz="2400" dirty="0">
                <a:latin typeface="Times New Roman" panose="02020603050405020304" pitchFamily="18" charset="0"/>
                <a:cs typeface="Times New Roman" panose="02020603050405020304" pitchFamily="18" charset="0"/>
              </a:rPr>
              <a:t>Pivot, cross-tab, price bands.</a:t>
            </a:r>
          </a:p>
        </p:txBody>
      </p:sp>
      <p:sp>
        <p:nvSpPr>
          <p:cNvPr id="29" name="Arrow: Down 28">
            <a:extLst>
              <a:ext uri="{FF2B5EF4-FFF2-40B4-BE49-F238E27FC236}">
                <a16:creationId xmlns:a16="http://schemas.microsoft.com/office/drawing/2014/main" id="{3B0312D2-1C2D-0FC3-47A4-8970E0D691E7}"/>
              </a:ext>
            </a:extLst>
          </p:cNvPr>
          <p:cNvSpPr/>
          <p:nvPr/>
        </p:nvSpPr>
        <p:spPr>
          <a:xfrm>
            <a:off x="4850336" y="2242125"/>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1" name="TextBox 30">
            <a:extLst>
              <a:ext uri="{FF2B5EF4-FFF2-40B4-BE49-F238E27FC236}">
                <a16:creationId xmlns:a16="http://schemas.microsoft.com/office/drawing/2014/main" id="{6FA49019-54D3-0F1F-3651-5D4892AE3078}"/>
              </a:ext>
            </a:extLst>
          </p:cNvPr>
          <p:cNvSpPr txBox="1"/>
          <p:nvPr/>
        </p:nvSpPr>
        <p:spPr>
          <a:xfrm>
            <a:off x="2590800" y="2612335"/>
            <a:ext cx="4876800" cy="1200329"/>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Stage 6 – Data Analysis</a:t>
            </a:r>
          </a:p>
          <a:p>
            <a:pPr lvl="0" algn="ctr"/>
            <a:r>
              <a:rPr lang="en-IN" sz="2400" dirty="0" err="1">
                <a:latin typeface="Times New Roman" panose="02020603050405020304" pitchFamily="18" charset="0"/>
                <a:cs typeface="Times New Roman" panose="02020603050405020304" pitchFamily="18" charset="0"/>
              </a:rPr>
              <a:t>Correlations and star-premium t-test.</a:t>
            </a:r>
          </a:p>
          <a:p>
            <a:pPr lvl="0" algn="ctr"/>
            <a:r>
              <a:rPr lang="en-IN" sz="2400" dirty="0">
                <a:latin typeface="Times New Roman" panose="02020603050405020304" pitchFamily="18" charset="0"/>
                <a:cs typeface="Times New Roman" panose="02020603050405020304" pitchFamily="18" charset="0"/>
              </a:rPr>
              <a:t>Top-N priciest and discounted ACs.</a:t>
            </a:r>
          </a:p>
        </p:txBody>
      </p:sp>
      <p:sp>
        <p:nvSpPr>
          <p:cNvPr id="33" name="Arrow: Down 32">
            <a:extLst>
              <a:ext uri="{FF2B5EF4-FFF2-40B4-BE49-F238E27FC236}">
                <a16:creationId xmlns:a16="http://schemas.microsoft.com/office/drawing/2014/main" id="{6D0F4567-D057-4BE7-32A7-334EC2164A2C}"/>
              </a:ext>
            </a:extLst>
          </p:cNvPr>
          <p:cNvSpPr/>
          <p:nvPr/>
        </p:nvSpPr>
        <p:spPr>
          <a:xfrm>
            <a:off x="4850336" y="3959586"/>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5" name="TextBox 34">
            <a:extLst>
              <a:ext uri="{FF2B5EF4-FFF2-40B4-BE49-F238E27FC236}">
                <a16:creationId xmlns:a16="http://schemas.microsoft.com/office/drawing/2014/main" id="{53C43C12-4B70-F721-9E0A-DD8370D3BABC}"/>
              </a:ext>
            </a:extLst>
          </p:cNvPr>
          <p:cNvSpPr txBox="1"/>
          <p:nvPr/>
        </p:nvSpPr>
        <p:spPr>
          <a:xfrm>
            <a:off x="2628152" y="4271243"/>
            <a:ext cx="5029200" cy="1200329"/>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Stage 7 – Data Visualization</a:t>
            </a:r>
          </a:p>
          <a:p>
            <a:pPr lvl="0" algn="ctr"/>
            <a:r>
              <a:rPr lang="en-IN" sz="2400" dirty="0">
                <a:latin typeface="Times New Roman" panose="02020603050405020304" pitchFamily="18" charset="0"/>
                <a:cs typeface="Times New Roman" panose="02020603050405020304" pitchFamily="18" charset="0"/>
              </a:rPr>
              <a:t>Nine Matplotlib charts: bar, pie,</a:t>
            </a:r>
          </a:p>
          <a:p>
            <a:pPr lvl="0" algn="ctr"/>
            <a:r>
              <a:rPr lang="en-IN" sz="2400" dirty="0">
                <a:latin typeface="Times New Roman" panose="02020603050405020304" pitchFamily="18" charset="0"/>
                <a:cs typeface="Times New Roman" panose="02020603050405020304" pitchFamily="18" charset="0"/>
              </a:rPr>
              <a:t>scatter, box plot, and heatmap.</a:t>
            </a:r>
          </a:p>
        </p:txBody>
      </p:sp>
      <p:sp>
        <p:nvSpPr>
          <p:cNvPr id="37" name="Arrow: Down 36">
            <a:extLst>
              <a:ext uri="{FF2B5EF4-FFF2-40B4-BE49-F238E27FC236}">
                <a16:creationId xmlns:a16="http://schemas.microsoft.com/office/drawing/2014/main" id="{D2A13C47-9211-7F6A-3235-E7CA857CC45D}"/>
              </a:ext>
            </a:extLst>
          </p:cNvPr>
          <p:cNvSpPr/>
          <p:nvPr/>
        </p:nvSpPr>
        <p:spPr>
          <a:xfrm>
            <a:off x="4850336" y="5576154"/>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9" name="TextBox 38">
            <a:extLst>
              <a:ext uri="{FF2B5EF4-FFF2-40B4-BE49-F238E27FC236}">
                <a16:creationId xmlns:a16="http://schemas.microsoft.com/office/drawing/2014/main" id="{A378BCE5-A3E9-0942-2521-8A05596F86BE}"/>
              </a:ext>
            </a:extLst>
          </p:cNvPr>
          <p:cNvSpPr txBox="1"/>
          <p:nvPr/>
        </p:nvSpPr>
        <p:spPr>
          <a:xfrm>
            <a:off x="2675624" y="5946716"/>
            <a:ext cx="6392176" cy="1200329"/>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Stage 8 – Results &amp; Insights</a:t>
            </a:r>
          </a:p>
          <a:p>
            <a:pPr lvl="0"/>
            <a:r>
              <a:rPr lang="en-IN" sz="2400" dirty="0">
                <a:latin typeface="Times New Roman" panose="02020603050405020304" pitchFamily="18" charset="0"/>
                <a:cs typeface="Times New Roman" panose="02020603050405020304" pitchFamily="18" charset="0"/>
              </a:rPr>
              <a:t>Plain-language key findings.</a:t>
            </a:r>
          </a:p>
          <a:p>
            <a:pPr lvl="0"/>
            <a:r>
              <a:rPr lang="en-IN" sz="2400" dirty="0">
                <a:latin typeface="Times New Roman" panose="02020603050405020304" pitchFamily="18" charset="0"/>
                <a:cs typeface="Times New Roman" panose="02020603050405020304" pitchFamily="18" charset="0"/>
              </a:rPr>
              <a:t>Advice for buyers and sellers.</a:t>
            </a:r>
          </a:p>
        </p:txBody>
      </p:sp>
    </p:spTree>
    <p:extLst>
      <p:ext uri="{BB962C8B-B14F-4D97-AF65-F5344CB8AC3E}">
        <p14:creationId xmlns:p14="http://schemas.microsoft.com/office/powerpoint/2010/main" val="3744217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object 3">
            <a:extLst>
              <a:ext uri="{FF2B5EF4-FFF2-40B4-BE49-F238E27FC236}">
                <a16:creationId xmlns:a16="http://schemas.microsoft.com/office/drawing/2014/main" id="{D26E0863-A3EE-1EC4-F128-4D4F1A60D3A0}"/>
              </a:ext>
            </a:extLst>
          </p:cNvPr>
          <p:cNvGrpSpPr/>
          <p:nvPr/>
        </p:nvGrpSpPr>
        <p:grpSpPr>
          <a:xfrm>
            <a:off x="2590800" y="161097"/>
            <a:ext cx="5103904" cy="1198311"/>
            <a:chOff x="2648188" y="47148"/>
            <a:chExt cx="5103904" cy="1198311"/>
          </a:xfrm>
        </p:grpSpPr>
        <p:pic>
          <p:nvPicPr>
            <p:cNvPr id="21"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22"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23"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24"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25" name="TextBox 24"/>
          <p:cNvSpPr txBox="1"/>
          <p:nvPr/>
        </p:nvSpPr>
        <p:spPr>
          <a:xfrm>
            <a:off x="2468880" y="396841"/>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IN" dirty="0">
                <a:solidFill>
                  <a:schemeClr val="bg1"/>
                </a:solidFill>
                <a:latin typeface="Times New Roman" pitchFamily="18" charset="0"/>
                <a:cs typeface="Times New Roman" pitchFamily="18" charset="0"/>
              </a:rPr>
              <a:t>Data Visualization</a:t>
            </a:r>
            <a:endParaRPr dirty="0">
              <a:solidFill>
                <a:schemeClr val="bg1"/>
              </a:solidFill>
              <a:latin typeface="Times New Roman" pitchFamily="18" charset="0"/>
              <a:cs typeface="Times New Roman" pitchFamily="18" charset="0"/>
            </a:endParaRPr>
          </a:p>
        </p:txBody>
      </p:sp>
      <p:sp>
        <p:nvSpPr>
          <p:cNvPr id="26" name="TextBox 25"/>
          <p:cNvSpPr txBox="1"/>
          <p:nvPr/>
        </p:nvSpPr>
        <p:spPr>
          <a:xfrm>
            <a:off x="411480" y="1234440"/>
            <a:ext cx="9144000" cy="365760"/>
          </a:xfrm>
          <a:prstGeom prst="rect">
            <a:avLst/>
          </a:prstGeom>
          <a:noFill/>
        </p:spPr>
        <p:txBody>
          <a:bodyPr wrap="none">
            <a:spAutoFit/>
          </a:bodyPr>
          <a:lstStyle/>
          <a:p>
            <a:r>
              <a:rPr sz="1300" i="1">
                <a:solidFill>
                  <a:srgbClr val="808080"/>
                </a:solidFill>
                <a:latin typeface="Times New Roman"/>
              </a:rPr>
              <a:t>Price analysis charts from the scraped AC dataset (31 listings with verified price)</a:t>
            </a:r>
          </a:p>
        </p:txBody>
      </p:sp>
      <p:pic>
        <p:nvPicPr>
          <p:cNvPr id="35" name="Picture 34" descr="02_avg_price_by_brand.png"/>
          <p:cNvPicPr>
            <a:picLocks noChangeAspect="1"/>
          </p:cNvPicPr>
          <p:nvPr/>
        </p:nvPicPr>
        <p:blipFill>
          <a:blip r:embed="rId9"/>
          <a:stretch>
            <a:fillRect/>
          </a:stretch>
        </p:blipFill>
        <p:spPr>
          <a:xfrm>
            <a:off x="655320" y="1691640"/>
            <a:ext cx="3901440" cy="2926080"/>
          </a:xfrm>
          <a:prstGeom prst="rect">
            <a:avLst/>
          </a:prstGeom>
        </p:spPr>
      </p:pic>
      <p:pic>
        <p:nvPicPr>
          <p:cNvPr id="36" name="Picture 35" descr="04_energy_star_share.png"/>
          <p:cNvPicPr>
            <a:picLocks noChangeAspect="1"/>
          </p:cNvPicPr>
          <p:nvPr/>
        </p:nvPicPr>
        <p:blipFill>
          <a:blip r:embed="rId10"/>
          <a:stretch>
            <a:fillRect/>
          </a:stretch>
        </p:blipFill>
        <p:spPr>
          <a:xfrm>
            <a:off x="5806440" y="1691640"/>
            <a:ext cx="2926080" cy="2926080"/>
          </a:xfrm>
          <a:prstGeom prst="rect">
            <a:avLst/>
          </a:prstGeom>
        </p:spPr>
      </p:pic>
      <p:pic>
        <p:nvPicPr>
          <p:cNvPr id="37" name="Picture 36" descr="01_price_distribution.png"/>
          <p:cNvPicPr>
            <a:picLocks noChangeAspect="1"/>
          </p:cNvPicPr>
          <p:nvPr/>
        </p:nvPicPr>
        <p:blipFill>
          <a:blip r:embed="rId11"/>
          <a:stretch>
            <a:fillRect/>
          </a:stretch>
        </p:blipFill>
        <p:spPr>
          <a:xfrm>
            <a:off x="411480" y="4937760"/>
            <a:ext cx="4389120" cy="2468880"/>
          </a:xfrm>
          <a:prstGeom prst="rect">
            <a:avLst/>
          </a:prstGeom>
        </p:spPr>
      </p:pic>
      <p:pic>
        <p:nvPicPr>
          <p:cNvPr id="38" name="Picture 37" descr="09_correlation_heatmap.png"/>
          <p:cNvPicPr>
            <a:picLocks noChangeAspect="1"/>
          </p:cNvPicPr>
          <p:nvPr/>
        </p:nvPicPr>
        <p:blipFill>
          <a:blip r:embed="rId12"/>
          <a:stretch>
            <a:fillRect/>
          </a:stretch>
        </p:blipFill>
        <p:spPr>
          <a:xfrm>
            <a:off x="5548964" y="4709160"/>
            <a:ext cx="3441031" cy="2926080"/>
          </a:xfrm>
          <a:prstGeom prst="rect">
            <a:avLst/>
          </a:prstGeom>
        </p:spPr>
      </p:pic>
    </p:spTree>
    <p:extLst>
      <p:ext uri="{BB962C8B-B14F-4D97-AF65-F5344CB8AC3E}">
        <p14:creationId xmlns:p14="http://schemas.microsoft.com/office/powerpoint/2010/main" val="3751606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D26E0863-A3EE-1EC4-F128-4D4F1A60D3A0}"/>
              </a:ext>
            </a:extLst>
          </p:cNvPr>
          <p:cNvGrpSpPr/>
          <p:nvPr/>
        </p:nvGrpSpPr>
        <p:grpSpPr>
          <a:xfrm>
            <a:off x="2590800" y="0"/>
            <a:ext cx="5103904" cy="1198311"/>
            <a:chOff x="2648188" y="47148"/>
            <a:chExt cx="5103904" cy="1198311"/>
          </a:xfrm>
        </p:grpSpPr>
        <p:pic>
          <p:nvPicPr>
            <p:cNvPr id="5"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9" name="TextBox 8"/>
          <p:cNvSpPr txBox="1"/>
          <p:nvPr/>
        </p:nvSpPr>
        <p:spPr>
          <a:xfrm>
            <a:off x="3429000" y="152400"/>
            <a:ext cx="3265998" cy="769441"/>
          </a:xfrm>
          <a:prstGeom prst="rect">
            <a:avLst/>
          </a:prstGeom>
          <a:noFill/>
        </p:spPr>
        <p:txBody>
          <a:bodyPr wrap="square" rtlCol="0">
            <a:spAutoFit/>
          </a:bodyPr>
          <a:lstStyle/>
          <a:p>
            <a:pPr algn="ctr"/>
            <a:r>
              <a:rPr lang="en-IN" sz="2000" dirty="0">
                <a:solidFill>
                  <a:schemeClr val="bg1"/>
                </a:solidFill>
                <a:latin typeface="Times New Roman" pitchFamily="18" charset="0"/>
                <a:cs typeface="Times New Roman" pitchFamily="18" charset="0"/>
              </a:rPr>
              <a:t>Columns Used  </a:t>
            </a:r>
          </a:p>
          <a:p>
            <a:endParaRPr lang="en-US" sz="2400" dirty="0"/>
          </a:p>
        </p:txBody>
      </p:sp>
      <p:sp>
        <p:nvSpPr>
          <p:cNvPr id="10" name="TextBox 9"/>
          <p:cNvSpPr txBox="1"/>
          <p:nvPr/>
        </p:nvSpPr>
        <p:spPr>
          <a:xfrm>
            <a:off x="548640" y="1554480"/>
            <a:ext cx="8961120" cy="5029200"/>
          </a:xfrm>
          <a:prstGeom prst="rect">
            <a:avLst/>
          </a:prstGeom>
          <a:noFill/>
        </p:spPr>
        <p:txBody>
          <a:bodyPr wrap="square">
            <a:spAutoFit/>
          </a:bodyPr>
          <a:lstStyle/>
          <a:p>
            <a:pPr>
              <a:spcAft>
                <a:spcPts val="1400"/>
              </a:spcAft>
            </a:pPr>
            <a:r>
              <a:rPr sz="1700">
                <a:solidFill>
                  <a:srgbClr val="2D2D2D"/>
                </a:solidFill>
                <a:latin typeface="Times New Roman"/>
              </a:rPr>
              <a:t>Bar – Average Price by Brand: brand (grouping) and discount_price (bar length, mean)</a:t>
            </a:r>
          </a:p>
          <a:p>
            <a:pPr>
              <a:spcAft>
                <a:spcPts val="1400"/>
              </a:spcAft>
            </a:pPr>
            <a:r>
              <a:rPr sz="1700">
                <a:solidFill>
                  <a:srgbClr val="2D2D2D"/>
                </a:solidFill>
                <a:latin typeface="Times New Roman"/>
              </a:rPr>
              <a:t>Pie – Energy Star Rating Share: energy_star (slice category) and count of listings per star</a:t>
            </a:r>
          </a:p>
          <a:p>
            <a:pPr>
              <a:spcAft>
                <a:spcPts val="1400"/>
              </a:spcAft>
            </a:pPr>
            <a:r>
              <a:rPr sz="1700">
                <a:solidFill>
                  <a:srgbClr val="2D2D2D"/>
                </a:solidFill>
                <a:latin typeface="Times New Roman"/>
              </a:rPr>
              <a:t>Histogram – Price Distribution: discount_price (binned) and count of listings per bin (dashed line = median)</a:t>
            </a:r>
          </a:p>
          <a:p>
            <a:pPr>
              <a:spcAft>
                <a:spcPts val="1400"/>
              </a:spcAft>
            </a:pPr>
            <a:r>
              <a:rPr sz="1700">
                <a:solidFill>
                  <a:srgbClr val="2D2D2D"/>
                </a:solidFill>
                <a:latin typeface="Times New Roman"/>
              </a:rPr>
              <a:t>Correlation Heatmap: discount_price, actual_price, discount_percent, tonnage, energy_star, ratings, no_of_ratings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object 3">
            <a:extLst>
              <a:ext uri="{FF2B5EF4-FFF2-40B4-BE49-F238E27FC236}">
                <a16:creationId xmlns:a16="http://schemas.microsoft.com/office/drawing/2014/main" id="{D26E0863-A3EE-1EC4-F128-4D4F1A60D3A0}"/>
              </a:ext>
            </a:extLst>
          </p:cNvPr>
          <p:cNvGrpSpPr/>
          <p:nvPr/>
        </p:nvGrpSpPr>
        <p:grpSpPr>
          <a:xfrm>
            <a:off x="2590800" y="161097"/>
            <a:ext cx="5103904" cy="1198311"/>
            <a:chOff x="2648188" y="47148"/>
            <a:chExt cx="5103904" cy="1198311"/>
          </a:xfrm>
        </p:grpSpPr>
        <p:pic>
          <p:nvPicPr>
            <p:cNvPr id="21"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22"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23"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24"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25" name="TextBox 24"/>
          <p:cNvSpPr txBox="1"/>
          <p:nvPr/>
        </p:nvSpPr>
        <p:spPr>
          <a:xfrm>
            <a:off x="2468880" y="396841"/>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IN" dirty="0">
                <a:solidFill>
                  <a:schemeClr val="bg1"/>
                </a:solidFill>
                <a:latin typeface="Times New Roman" pitchFamily="18" charset="0"/>
                <a:cs typeface="Times New Roman" pitchFamily="18" charset="0"/>
              </a:rPr>
              <a:t>Data Visualization  </a:t>
            </a:r>
            <a:endParaRPr dirty="0">
              <a:solidFill>
                <a:schemeClr val="bg1"/>
              </a:solidFill>
              <a:latin typeface="Times New Roman" pitchFamily="18" charset="0"/>
              <a:cs typeface="Times New Roman" pitchFamily="18" charset="0"/>
            </a:endParaRPr>
          </a:p>
        </p:txBody>
      </p:sp>
      <p:pic>
        <p:nvPicPr>
          <p:cNvPr id="33" name="Picture 32" descr="03_listings_by_brand.png"/>
          <p:cNvPicPr>
            <a:picLocks noChangeAspect="1"/>
          </p:cNvPicPr>
          <p:nvPr/>
        </p:nvPicPr>
        <p:blipFill>
          <a:blip r:embed="rId11"/>
          <a:stretch>
            <a:fillRect/>
          </a:stretch>
        </p:blipFill>
        <p:spPr>
          <a:xfrm>
            <a:off x="411480" y="1959609"/>
            <a:ext cx="3063240" cy="1531620"/>
          </a:xfrm>
          <a:prstGeom prst="rect">
            <a:avLst/>
          </a:prstGeom>
        </p:spPr>
      </p:pic>
      <p:pic>
        <p:nvPicPr>
          <p:cNvPr id="34" name="Picture 33" descr="05_avg_price_by_tonnage.png"/>
          <p:cNvPicPr>
            <a:picLocks noChangeAspect="1"/>
          </p:cNvPicPr>
          <p:nvPr/>
        </p:nvPicPr>
        <p:blipFill>
          <a:blip r:embed="rId12"/>
          <a:stretch>
            <a:fillRect/>
          </a:stretch>
        </p:blipFill>
        <p:spPr>
          <a:xfrm>
            <a:off x="3630789" y="1874519"/>
            <a:ext cx="3025422" cy="1701800"/>
          </a:xfrm>
          <a:prstGeom prst="rect">
            <a:avLst/>
          </a:prstGeom>
        </p:spPr>
      </p:pic>
      <p:pic>
        <p:nvPicPr>
          <p:cNvPr id="35" name="Picture 34" descr="06_price_vs_rating.png"/>
          <p:cNvPicPr>
            <a:picLocks noChangeAspect="1"/>
          </p:cNvPicPr>
          <p:nvPr/>
        </p:nvPicPr>
        <p:blipFill>
          <a:blip r:embed="rId13"/>
          <a:stretch>
            <a:fillRect/>
          </a:stretch>
        </p:blipFill>
        <p:spPr>
          <a:xfrm>
            <a:off x="6982460" y="1874519"/>
            <a:ext cx="2722880" cy="1701800"/>
          </a:xfrm>
          <a:prstGeom prst="rect">
            <a:avLst/>
          </a:prstGeom>
        </p:spPr>
      </p:pic>
      <p:pic>
        <p:nvPicPr>
          <p:cNvPr id="36" name="Picture 35" descr="07_discount_distribution.png"/>
          <p:cNvPicPr>
            <a:picLocks noChangeAspect="1"/>
          </p:cNvPicPr>
          <p:nvPr/>
        </p:nvPicPr>
        <p:blipFill>
          <a:blip r:embed="rId14"/>
          <a:stretch>
            <a:fillRect/>
          </a:stretch>
        </p:blipFill>
        <p:spPr>
          <a:xfrm>
            <a:off x="2030589" y="3896360"/>
            <a:ext cx="3025422" cy="1701800"/>
          </a:xfrm>
          <a:prstGeom prst="rect">
            <a:avLst/>
          </a:prstGeom>
        </p:spPr>
      </p:pic>
      <p:pic>
        <p:nvPicPr>
          <p:cNvPr id="37" name="Picture 36" descr="08_price_by_star_boxplot.png"/>
          <p:cNvPicPr>
            <a:picLocks noChangeAspect="1"/>
          </p:cNvPicPr>
          <p:nvPr/>
        </p:nvPicPr>
        <p:blipFill>
          <a:blip r:embed="rId15"/>
          <a:stretch>
            <a:fillRect/>
          </a:stretch>
        </p:blipFill>
        <p:spPr>
          <a:xfrm>
            <a:off x="5230989" y="3896360"/>
            <a:ext cx="3025422" cy="1701800"/>
          </a:xfrm>
          <a:prstGeom prst="rect">
            <a:avLst/>
          </a:prstGeom>
        </p:spPr>
      </p:pic>
    </p:spTree>
    <p:extLst>
      <p:ext uri="{BB962C8B-B14F-4D97-AF65-F5344CB8AC3E}">
        <p14:creationId xmlns:p14="http://schemas.microsoft.com/office/powerpoint/2010/main" val="3751606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D26E0863-A3EE-1EC4-F128-4D4F1A60D3A0}"/>
              </a:ext>
            </a:extLst>
          </p:cNvPr>
          <p:cNvGrpSpPr/>
          <p:nvPr/>
        </p:nvGrpSpPr>
        <p:grpSpPr>
          <a:xfrm>
            <a:off x="2590800" y="0"/>
            <a:ext cx="5103904" cy="1198311"/>
            <a:chOff x="2648188" y="47148"/>
            <a:chExt cx="5103904" cy="1198311"/>
          </a:xfrm>
        </p:grpSpPr>
        <p:pic>
          <p:nvPicPr>
            <p:cNvPr id="5"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9" name="TextBox 8"/>
          <p:cNvSpPr txBox="1"/>
          <p:nvPr/>
        </p:nvSpPr>
        <p:spPr>
          <a:xfrm>
            <a:off x="3429000" y="152400"/>
            <a:ext cx="3265998" cy="830997"/>
          </a:xfrm>
          <a:prstGeom prst="rect">
            <a:avLst/>
          </a:prstGeom>
          <a:noFill/>
        </p:spPr>
        <p:txBody>
          <a:bodyPr wrap="square" rtlCol="0">
            <a:spAutoFit/>
          </a:bodyPr>
          <a:lstStyle/>
          <a:p>
            <a:pPr algn="ctr"/>
            <a:r>
              <a:rPr lang="en-IN" sz="2000" dirty="0">
                <a:solidFill>
                  <a:schemeClr val="bg1"/>
                </a:solidFill>
                <a:latin typeface="Times New Roman" pitchFamily="18" charset="0"/>
                <a:cs typeface="Times New Roman" pitchFamily="18" charset="0"/>
              </a:rPr>
              <a:t>Columns Used — Additional Visualizations</a:t>
            </a:r>
          </a:p>
          <a:p>
            <a:endParaRPr lang="en-US" sz="2400" dirty="0"/>
          </a:p>
        </p:txBody>
      </p:sp>
      <p:sp>
        <p:nvSpPr>
          <p:cNvPr id="10" name="TextBox 9"/>
          <p:cNvSpPr txBox="1"/>
          <p:nvPr/>
        </p:nvSpPr>
        <p:spPr>
          <a:xfrm>
            <a:off x="548640" y="1554480"/>
            <a:ext cx="8961120" cy="5029200"/>
          </a:xfrm>
          <a:prstGeom prst="rect">
            <a:avLst/>
          </a:prstGeom>
          <a:noFill/>
        </p:spPr>
        <p:txBody>
          <a:bodyPr wrap="square">
            <a:spAutoFit/>
          </a:bodyPr>
          <a:lstStyle/>
          <a:p>
            <a:pPr>
              <a:spcAft>
                <a:spcPts val="1400"/>
              </a:spcAft>
            </a:pPr>
            <a:r>
              <a:rPr sz="1700">
                <a:solidFill>
                  <a:srgbClr val="2D2D2D"/>
                </a:solidFill>
                <a:latin typeface="Times New Roman"/>
              </a:rPr>
              <a:t>Number of Listings by Brand: brand (grouping) and count of listings</a:t>
            </a:r>
          </a:p>
          <a:p>
            <a:pPr>
              <a:spcAft>
                <a:spcPts val="1400"/>
              </a:spcAft>
            </a:pPr>
            <a:r>
              <a:rPr sz="1700">
                <a:solidFill>
                  <a:srgbClr val="2D2D2D"/>
                </a:solidFill>
                <a:latin typeface="Times New Roman"/>
              </a:rPr>
              <a:t>Average Price by Tonnage: tonnage (grouping) and discount_price (bar height, mean)</a:t>
            </a:r>
          </a:p>
          <a:p>
            <a:pPr>
              <a:spcAft>
                <a:spcPts val="1400"/>
              </a:spcAft>
            </a:pPr>
            <a:r>
              <a:rPr sz="1700">
                <a:solidFill>
                  <a:srgbClr val="2D2D2D"/>
                </a:solidFill>
                <a:latin typeface="Times New Roman"/>
              </a:rPr>
              <a:t>Selling Price vs Customer Rating: discount_price (x-axis) and ratings (y-axis)</a:t>
            </a:r>
          </a:p>
          <a:p>
            <a:pPr>
              <a:spcAft>
                <a:spcPts val="1400"/>
              </a:spcAft>
            </a:pPr>
            <a:r>
              <a:rPr sz="1700">
                <a:solidFill>
                  <a:srgbClr val="2D2D2D"/>
                </a:solidFill>
                <a:latin typeface="Times New Roman"/>
              </a:rPr>
              <a:t>Distribution of Discount Percentage: discount_percent (binned, computed from verified discount_price and actual_price)</a:t>
            </a:r>
          </a:p>
          <a:p>
            <a:pPr>
              <a:spcAft>
                <a:spcPts val="1400"/>
              </a:spcAft>
            </a:pPr>
            <a:r>
              <a:rPr sz="1700">
                <a:solidFill>
                  <a:srgbClr val="2D2D2D"/>
                </a:solidFill>
                <a:latin typeface="Times New Roman"/>
              </a:rPr>
              <a:t>Selling Price by Energy Star Rating (box plot): energy_star (groups) and discount_price (spread)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D26E0863-A3EE-1EC4-F128-4D4F1A60D3A0}"/>
              </a:ext>
            </a:extLst>
          </p:cNvPr>
          <p:cNvGrpSpPr/>
          <p:nvPr/>
        </p:nvGrpSpPr>
        <p:grpSpPr>
          <a:xfrm>
            <a:off x="2590800" y="0"/>
            <a:ext cx="5103904" cy="1198311"/>
            <a:chOff x="2648188" y="47148"/>
            <a:chExt cx="5103904" cy="1198311"/>
          </a:xfrm>
        </p:grpSpPr>
        <p:pic>
          <p:nvPicPr>
            <p:cNvPr id="5"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9" name="TextBox 8"/>
          <p:cNvSpPr txBox="1"/>
          <p:nvPr/>
        </p:nvSpPr>
        <p:spPr>
          <a:xfrm>
            <a:off x="3429000" y="152400"/>
            <a:ext cx="3265998" cy="830997"/>
          </a:xfrm>
          <a:prstGeom prst="rect">
            <a:avLst/>
          </a:prstGeom>
          <a:noFill/>
        </p:spPr>
        <p:txBody>
          <a:bodyPr wrap="square" rtlCol="0">
            <a:spAutoFit/>
          </a:bodyPr>
          <a:lstStyle/>
          <a:p>
            <a:pPr algn="ctr"/>
            <a:r>
              <a:rPr lang="en-IN" sz="2400" dirty="0">
                <a:solidFill>
                  <a:schemeClr val="bg1"/>
                </a:solidFill>
                <a:latin typeface="Times New Roman" pitchFamily="18" charset="0"/>
                <a:cs typeface="Times New Roman" pitchFamily="18" charset="0"/>
              </a:rPr>
              <a:t>Key Insights &amp; Analysis</a:t>
            </a:r>
          </a:p>
          <a:p>
            <a:endParaRPr lang="en-US" sz="2400" dirty="0"/>
          </a:p>
        </p:txBody>
      </p:sp>
      <p:sp>
        <p:nvSpPr>
          <p:cNvPr id="10" name="TextBox 9"/>
          <p:cNvSpPr txBox="1"/>
          <p:nvPr/>
        </p:nvSpPr>
        <p:spPr>
          <a:xfrm>
            <a:off x="548640" y="1554480"/>
            <a:ext cx="8961120" cy="5029200"/>
          </a:xfrm>
          <a:prstGeom prst="rect">
            <a:avLst/>
          </a:prstGeom>
          <a:noFill/>
        </p:spPr>
        <p:txBody>
          <a:bodyPr wrap="square">
            <a:spAutoFit/>
          </a:bodyPr>
          <a:lstStyle/>
          <a:p>
            <a:pPr>
              <a:spcAft>
                <a:spcPts val="1400"/>
              </a:spcAft>
            </a:pPr>
            <a:r>
              <a:rPr sz="1700">
                <a:solidFill>
                  <a:srgbClr val="2D2D2D"/>
                </a:solidFill>
                <a:latin typeface="Times New Roman"/>
              </a:rPr>
              <a:t>• 32 AC listings from 16 brands; 31 have a verified price and 25 a verified discount.</a:t>
            </a:r>
          </a:p>
          <a:p>
            <a:pPr>
              <a:spcAft>
                <a:spcPts val="1400"/>
              </a:spcAft>
            </a:pPr>
            <a:r>
              <a:rPr sz="1700">
                <a:solidFill>
                  <a:srgbClr val="2D2D2D"/>
                </a:solidFill>
                <a:latin typeface="Times New Roman"/>
              </a:rPr>
              <a:t>• Median price is ₹34,990 (mean ₹34,483); prices range from ₹16,999 to ₹49,804.</a:t>
            </a:r>
          </a:p>
          <a:p>
            <a:pPr>
              <a:spcAft>
                <a:spcPts val="1400"/>
              </a:spcAft>
            </a:pPr>
            <a:r>
              <a:rPr sz="1700">
                <a:solidFill>
                  <a:srgbClr val="2D2D2D"/>
                </a:solidFill>
                <a:latin typeface="Times New Roman"/>
              </a:rPr>
              <a:t>• Average discount is 40.3% (max 52.5%); Samsung (52%), LG (49%), and Voltas (45%) discount most.</a:t>
            </a:r>
          </a:p>
          <a:p>
            <a:pPr>
              <a:spcAft>
                <a:spcPts val="1400"/>
              </a:spcAft>
            </a:pPr>
            <a:r>
              <a:rPr sz="1700">
                <a:solidFill>
                  <a:srgbClr val="2D2D2D"/>
                </a:solidFill>
                <a:latin typeface="Times New Roman"/>
              </a:rPr>
              <a:t>• Blue Star is priciest on average (₹38.7k) and has the most listings (4); Cruise is cheapest (~₹28k).</a:t>
            </a:r>
          </a:p>
          <a:p>
            <a:pPr>
              <a:spcAft>
                <a:spcPts val="1400"/>
              </a:spcAft>
            </a:pPr>
            <a:r>
              <a:rPr sz="1700">
                <a:solidFill>
                  <a:srgbClr val="2D2D2D"/>
                </a:solidFill>
                <a:latin typeface="Times New Roman"/>
              </a:rPr>
              <a:t>• 1.5-ton ACs are 53% of listings; price rises with tonnage (r = 0.74).</a:t>
            </a:r>
          </a:p>
          <a:p>
            <a:pPr>
              <a:spcAft>
                <a:spcPts val="1400"/>
              </a:spcAft>
            </a:pPr>
            <a:r>
              <a:rPr sz="1700">
                <a:solidFill>
                  <a:srgbClr val="2D2D2D"/>
                </a:solidFill>
                <a:latin typeface="Times New Roman"/>
              </a:rPr>
              <a:t>• Price and rating are mildly positive (r = 0.33); more ratings do not mean a higher rating (r = −0.34).</a:t>
            </a:r>
          </a:p>
          <a:p>
            <a:pPr>
              <a:spcAft>
                <a:spcPts val="1400"/>
              </a:spcAft>
            </a:pPr>
            <a:r>
              <a:rPr sz="1700">
                <a:solidFill>
                  <a:srgbClr val="2D2D2D"/>
                </a:solidFill>
                <a:latin typeface="Times New Roman"/>
              </a:rPr>
              <a:t>• 72% of ACs are 3-star, 16% are 5-star; 5-star models cost ~₹10.7k more (₹43.5k vs ₹32.8k).</a:t>
            </a:r>
          </a:p>
          <a:p>
            <a:pPr>
              <a:spcAft>
                <a:spcPts val="1400"/>
              </a:spcAft>
            </a:pPr>
            <a:r>
              <a:rPr sz="1700">
                <a:solidFill>
                  <a:srgbClr val="2D2D2D"/>
                </a:solidFill>
                <a:latin typeface="Times New Roman"/>
              </a:rPr>
              <a:t>• 97% are inverter ACs; Wi-Fi models (22%) cost ~₹3.8k more (₹37.6k vs ₹33.7k).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67ACC245-70D9-3E8C-5FB8-754CFCF29BA7}"/>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6520D471-D4E5-A862-75B1-D9BCC13CCE76}"/>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D22DAB3-C37B-1766-28C4-6EB13F7079CD}"/>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DC96198-DF83-D7E8-5187-D35038090D7B}"/>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BAA191BE-B616-456E-A32A-06C5D11989B1}"/>
                </a:ext>
              </a:extLst>
            </p:cNvPr>
            <p:cNvSpPr/>
            <p:nvPr/>
          </p:nvSpPr>
          <p:spPr>
            <a:xfrm>
              <a:off x="2828925" y="282892"/>
              <a:ext cx="4534295"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t>                     </a:t>
              </a:r>
              <a:endParaRPr sz="2800" dirty="0">
                <a:solidFill>
                  <a:schemeClr val="bg1"/>
                </a:solidFill>
              </a:endParaRPr>
            </a:p>
          </p:txBody>
        </p:sp>
      </p:grpSp>
      <p:sp>
        <p:nvSpPr>
          <p:cNvPr id="12" name="TextBox 11"/>
          <p:cNvSpPr txBox="1"/>
          <p:nvPr/>
        </p:nvSpPr>
        <p:spPr>
          <a:xfrm>
            <a:off x="2477248" y="39384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Implementation Workflow</a:t>
            </a:r>
          </a:p>
        </p:txBody>
      </p:sp>
      <p:sp>
        <p:nvSpPr>
          <p:cNvPr id="14" name="Chevron 13"/>
          <p:cNvSpPr/>
          <p:nvPr/>
        </p:nvSpPr>
        <p:spPr>
          <a:xfrm>
            <a:off x="365760" y="1965960"/>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Times New Roman"/>
              </a:rPr>
              <a:t>1. Loading &amp;
Reading</a:t>
            </a:r>
          </a:p>
        </p:txBody>
      </p:sp>
      <p:sp>
        <p:nvSpPr>
          <p:cNvPr id="15" name="Chevron 14"/>
          <p:cNvSpPr/>
          <p:nvPr/>
        </p:nvSpPr>
        <p:spPr>
          <a:xfrm>
            <a:off x="3291839" y="196596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Times New Roman"/>
              </a:rPr>
              <a:t>2. Scraping &amp;
Filtering</a:t>
            </a:r>
          </a:p>
        </p:txBody>
      </p:sp>
      <p:sp>
        <p:nvSpPr>
          <p:cNvPr id="16" name="Chevron 15"/>
          <p:cNvSpPr/>
          <p:nvPr/>
        </p:nvSpPr>
        <p:spPr>
          <a:xfrm>
            <a:off x="6217920" y="1965960"/>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Times New Roman"/>
              </a:rPr>
              <a:t>3. Data
Extraction</a:t>
            </a:r>
          </a:p>
        </p:txBody>
      </p:sp>
      <p:sp>
        <p:nvSpPr>
          <p:cNvPr id="17" name="Chevron 16"/>
          <p:cNvSpPr/>
          <p:nvPr/>
        </p:nvSpPr>
        <p:spPr>
          <a:xfrm>
            <a:off x="365760" y="370332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Times New Roman"/>
              </a:rPr>
              <a:t>4. Validation
&amp; Cleaning</a:t>
            </a:r>
          </a:p>
        </p:txBody>
      </p:sp>
      <p:sp>
        <p:nvSpPr>
          <p:cNvPr id="18" name="Chevron 17"/>
          <p:cNvSpPr/>
          <p:nvPr/>
        </p:nvSpPr>
        <p:spPr>
          <a:xfrm>
            <a:off x="3291839" y="3703320"/>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Times New Roman"/>
              </a:rPr>
              <a:t>5. Aggregation
&amp; Analysis</a:t>
            </a:r>
          </a:p>
        </p:txBody>
      </p:sp>
      <p:sp>
        <p:nvSpPr>
          <p:cNvPr id="19" name="Chevron 18"/>
          <p:cNvSpPr/>
          <p:nvPr/>
        </p:nvSpPr>
        <p:spPr>
          <a:xfrm>
            <a:off x="6217920" y="370332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Times New Roman"/>
              </a:rPr>
              <a:t>6. Visualization
&amp; Results</a:t>
            </a:r>
          </a:p>
        </p:txBody>
      </p:sp>
      <p:sp>
        <p:nvSpPr>
          <p:cNvPr id="20" name="Down Arrow 19"/>
          <p:cNvSpPr/>
          <p:nvPr/>
        </p:nvSpPr>
        <p:spPr>
          <a:xfrm>
            <a:off x="4572000" y="2999232"/>
            <a:ext cx="640080" cy="640080"/>
          </a:xfrm>
          <a:prstGeom prst="downArrow">
            <a:avLst/>
          </a:prstGeom>
          <a:solidFill>
            <a:srgbClr val="C25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5074920"/>
            <a:ext cx="9144000" cy="457200"/>
          </a:xfrm>
          <a:prstGeom prst="rect">
            <a:avLst/>
          </a:prstGeom>
          <a:noFill/>
        </p:spPr>
        <p:txBody>
          <a:bodyPr wrap="none">
            <a:spAutoFit/>
          </a:bodyPr>
          <a:lstStyle/>
          <a:p>
            <a:pPr algn="ctr"/>
            <a:r>
              <a:rPr sz="1300" i="1">
                <a:solidFill>
                  <a:srgbClr val="233464"/>
                </a:solidFill>
                <a:latin typeface="Times New Roman"/>
              </a:rPr>
              <a:t>Output: raw CSV → filtered → extracted → cleaned → aggregates → 9 charts → key findings</a:t>
            </a:r>
          </a:p>
        </p:txBody>
      </p:sp>
    </p:spTree>
    <p:extLst>
      <p:ext uri="{BB962C8B-B14F-4D97-AF65-F5344CB8AC3E}">
        <p14:creationId xmlns:p14="http://schemas.microsoft.com/office/powerpoint/2010/main" val="49352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
        <p:nvSpPr>
          <p:cNvPr id="14" name="TextBox 13"/>
          <p:cNvSpPr txBox="1"/>
          <p:nvPr/>
        </p:nvSpPr>
        <p:spPr>
          <a:xfrm>
            <a:off x="2488870" y="36844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CONCLUSION</a:t>
            </a:r>
          </a:p>
        </p:txBody>
      </p:sp>
      <p:sp>
        <p:nvSpPr>
          <p:cNvPr id="15" name="TextBox 14"/>
          <p:cNvSpPr txBox="1"/>
          <p:nvPr/>
        </p:nvSpPr>
        <p:spPr>
          <a:xfrm>
            <a:off x="777240" y="1463040"/>
            <a:ext cx="8412480" cy="3808735"/>
          </a:xfrm>
          <a:prstGeom prst="rect">
            <a:avLst/>
          </a:prstGeom>
          <a:noFill/>
        </p:spPr>
        <p:txBody>
          <a:bodyPr wrap="square">
            <a:spAutoFit/>
          </a:bodyPr>
          <a:lstStyle/>
          <a:p>
            <a:pPr algn="l">
              <a:spcAft>
                <a:spcPts val="700"/>
              </a:spcAft>
              <a:defRPr sz="2000" b="0">
                <a:solidFill>
                  <a:srgbClr val="2D2D2D"/>
                </a:solidFill>
                <a:latin typeface="Aptos"/>
              </a:defRPr>
            </a:pPr>
            <a:r>
              <a:rPr sz="2800" dirty="0">
                <a:latin typeface="Times New Roman" panose="02020603050405020304" pitchFamily="18" charset="0"/>
                <a:cs typeface="Times New Roman" panose="02020603050405020304" pitchFamily="18" charset="0"/>
              </a:rPr>
              <a:t>• This project completes an e-commerce workflow — web-scraped listings to price insights — using Python.</a:t>
            </a:r>
          </a:p>
          <a:p>
            <a:pPr algn="l">
              <a:spcAft>
                <a:spcPts val="700"/>
              </a:spcAft>
              <a:defRPr sz="2000" b="0">
                <a:solidFill>
                  <a:srgbClr val="2D2D2D"/>
                </a:solidFill>
                <a:latin typeface="Aptos"/>
              </a:defRPr>
            </a:pPr>
            <a:r>
              <a:rPr sz="2800" dirty="0">
                <a:latin typeface="Times New Roman" panose="02020603050405020304" pitchFamily="18" charset="0"/>
                <a:cs typeface="Times New Roman" panose="02020603050405020304" pitchFamily="18" charset="0"/>
              </a:rPr>
              <a:t>• Cleaning the data — blank missing values, wrong MRPs removed, outliers flagged — prevents distorted averages.</a:t>
            </a:r>
          </a:p>
          <a:p>
            <a:pPr algn="l">
              <a:spcAft>
                <a:spcPts val="700"/>
              </a:spcAft>
              <a:defRPr sz="2000" b="0">
                <a:solidFill>
                  <a:srgbClr val="2D2D2D"/>
                </a:solidFill>
                <a:latin typeface="Aptos"/>
              </a:defRPr>
            </a:pPr>
            <a:r>
              <a:rPr sz="2800" dirty="0">
                <a:latin typeface="Times New Roman" panose="02020603050405020304" pitchFamily="18" charset="0"/>
                <a:cs typeface="Times New Roman" panose="02020603050405020304" pitchFamily="18" charset="0"/>
              </a:rPr>
              <a:t>• Tonnage and energy star shape AC prices most (r = 0.74); brand and Wi-Fi add a smaller premium.</a:t>
            </a:r>
          </a:p>
          <a:p>
            <a:pPr algn="l">
              <a:spcAft>
                <a:spcPts val="700"/>
              </a:spcAft>
              <a:defRPr sz="2000" b="0">
                <a:solidFill>
                  <a:srgbClr val="2D2D2D"/>
                </a:solidFill>
                <a:latin typeface="Aptos"/>
              </a:defRPr>
            </a:pPr>
            <a:r>
              <a:rPr sz="2800" dirty="0">
                <a:latin typeface="Times New Roman" panose="02020603050405020304" pitchFamily="18" charset="0"/>
                <a:cs typeface="Times New Roman" panose="02020603050405020304" pitchFamily="18" charset="0"/>
              </a:rPr>
              <a:t>• Charts make price and brand comparisons far clearer than raw tables.</a:t>
            </a:r>
          </a:p>
        </p:txBody>
      </p:sp>
      <p:sp>
        <p:nvSpPr>
          <p:cNvPr id="16" name="TextBox 15"/>
          <p:cNvSpPr txBox="1"/>
          <p:nvPr/>
        </p:nvSpPr>
        <p:spPr>
          <a:xfrm>
            <a:off x="872251" y="6126486"/>
            <a:ext cx="8138160" cy="830997"/>
          </a:xfrm>
          <a:prstGeom prst="rect">
            <a:avLst/>
          </a:prstGeom>
          <a:noFill/>
        </p:spPr>
        <p:txBody>
          <a:bodyPr wrap="square">
            <a:spAutoFit/>
          </a:bodyPr>
          <a:lstStyle/>
          <a:p>
            <a:pPr algn="ctr">
              <a:spcAft>
                <a:spcPts val="700"/>
              </a:spcAft>
              <a:defRPr sz="1600" b="1">
                <a:solidFill>
                  <a:srgbClr val="C25B30"/>
                </a:solidFill>
                <a:latin typeface="Aptos"/>
              </a:defRPr>
            </a:pPr>
            <a:r>
              <a:rPr sz="2400" dirty="0">
                <a:latin typeface="Times New Roman" pitchFamily="18" charset="0"/>
                <a:cs typeface="Times New Roman" pitchFamily="18" charset="0"/>
              </a:rPr>
              <a:t>Future scope: scrape more listings over time, predict AC price with regression, and mine review text.</a:t>
            </a:r>
          </a:p>
        </p:txBody>
      </p:sp>
    </p:spTree>
    <p:extLst>
      <p:ext uri="{BB962C8B-B14F-4D97-AF65-F5344CB8AC3E}">
        <p14:creationId xmlns:p14="http://schemas.microsoft.com/office/powerpoint/2010/main" val="2694192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58400" cy="7772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Freeform: Shape 23">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9400" y="0"/>
            <a:ext cx="8219599" cy="77724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5372" y="0"/>
            <a:ext cx="8207655" cy="77724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p:cNvSpPr txBox="1"/>
          <p:nvPr/>
        </p:nvSpPr>
        <p:spPr>
          <a:xfrm>
            <a:off x="1257302" y="2266230"/>
            <a:ext cx="7543800" cy="3132565"/>
          </a:xfrm>
          <a:prstGeom prst="rect">
            <a:avLst/>
          </a:prstGeom>
        </p:spPr>
        <p:txBody>
          <a:bodyPr vert="horz" lIns="91440" tIns="45720" rIns="91440" bIns="45720" rtlCol="0" anchor="ctr">
            <a:normAutofit/>
          </a:bodyPr>
          <a:lstStyle/>
          <a:p>
            <a:pPr algn="ctr" rtl="0">
              <a:lnSpc>
                <a:spcPct val="90000"/>
              </a:lnSpc>
              <a:spcBef>
                <a:spcPct val="0"/>
              </a:spcBef>
              <a:spcAft>
                <a:spcPts val="700"/>
              </a:spcAft>
              <a:defRPr sz="3400" b="1">
                <a:solidFill>
                  <a:srgbClr val="233464"/>
                </a:solidFill>
                <a:latin typeface="Aptos"/>
              </a:defRPr>
            </a:pPr>
            <a:r>
              <a:rPr lang="en-US" sz="3600" kern="1200" dirty="0">
                <a:solidFill>
                  <a:schemeClr val="tx1"/>
                </a:solidFill>
                <a:latin typeface="Times New Roman" pitchFamily="18" charset="0"/>
                <a:ea typeface="+mj-ea"/>
                <a:cs typeface="Times New Roman" pitchFamily="18" charset="0"/>
              </a:rPr>
              <a:t>THANK YOU</a:t>
            </a:r>
          </a:p>
        </p:txBody>
      </p:sp>
      <p:sp>
        <p:nvSpPr>
          <p:cNvPr id="26" name="Rectangle 25">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67812" y="6261424"/>
            <a:ext cx="3922776" cy="310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object 3">
            <a:extLst>
              <a:ext uri="{FF2B5EF4-FFF2-40B4-BE49-F238E27FC236}">
                <a16:creationId xmlns:a16="http://schemas.microsoft.com/office/drawing/2014/main" id="{A36E30A8-BD1B-0058-4620-F390351DADBD}"/>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3207</TotalTime>
  <Words>1420</Words>
  <Application>Microsoft Office PowerPoint</Application>
  <PresentationFormat>Custom</PresentationFormat>
  <Paragraphs>159</Paragraphs>
  <Slides>19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Calibri</vt:lpstr>
      <vt:lpstr>Palatino Linotype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25B11CS608</cp:lastModifiedBy>
  <cp:revision>113</cp:revision>
  <cp:lastPrinted>2025-10-14T18:21:49Z</cp:lastPrinted>
  <dcterms:created xsi:type="dcterms:W3CDTF">2025-10-10T08:28:06Z</dcterms:created>
  <dcterms:modified xsi:type="dcterms:W3CDTF">2026-09-29T16:55:26Z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