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430" r:id="rId3"/>
    <p:sldId id="460" r:id="rId4"/>
    <p:sldId id="432" r:id="rId5"/>
    <p:sldId id="433" r:id="rId6"/>
    <p:sldId id="436" r:id="rId7"/>
    <p:sldId id="437" r:id="rId8"/>
    <p:sldId id="438" r:id="rId9"/>
    <p:sldId id="461" r:id="rId10"/>
    <p:sldId id="462" r:id="rId11"/>
    <p:sldId id="439" r:id="rId12"/>
    <p:sldId id="440" r:id="rId13"/>
    <p:sldId id="442" r:id="rId14"/>
    <p:sldId id="293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7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87" autoAdjust="0"/>
    <p:restoredTop sz="95033" autoAdjust="0"/>
  </p:normalViewPr>
  <p:slideViewPr>
    <p:cSldViewPr showGuides="1">
      <p:cViewPr>
        <p:scale>
          <a:sx n="78" d="100"/>
          <a:sy n="78" d="100"/>
        </p:scale>
        <p:origin x="854" y="163"/>
      </p:cViewPr>
      <p:guideLst>
        <p:guide orient="horz" pos="2160"/>
        <p:guide pos="38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86" y="-84"/>
      </p:cViewPr>
      <p:guideLst>
        <p:guide orient="horz" pos="2880"/>
        <p:guide pos="217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2DB80D-D8DC-40C9-8603-2D92EB853E85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72EF51-F63D-488E-9B3C-4A470AE4E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22768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EF2DC9-9E6B-4115-80F7-AF3C0B919820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B36BD8-3BE0-4B04-B520-77C1F1F1F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12457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854199"/>
            <a:ext cx="9144000" cy="16557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608" y="592088"/>
            <a:ext cx="7609140" cy="10081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9085" y="1561876"/>
            <a:ext cx="10515600" cy="4531419"/>
          </a:xfrm>
        </p:spPr>
        <p:txBody>
          <a:bodyPr/>
          <a:lstStyle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Date Placeholder 2"/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368060C-F3A5-4600-9262-589A0797613D}" type="datetime1">
              <a:rPr lang="en-IN" smtClean="0"/>
              <a:t>08-08-2026</a:t>
            </a:fld>
            <a:endParaRPr lang="en-US" dirty="0"/>
          </a:p>
        </p:txBody>
      </p:sp>
      <p:sp>
        <p:nvSpPr>
          <p:cNvPr id="11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Course Name                                                                Faculty Name, Designation, Dept.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3"/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2"/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368060C-F3A5-4600-9262-589A0797613D}" type="datetime1">
              <a:rPr lang="en-IN" smtClean="0"/>
              <a:t>08-08-2026</a:t>
            </a:fld>
            <a:endParaRPr lang="en-US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DBMS                                                                K </a:t>
            </a:r>
            <a:r>
              <a:rPr lang="en-US" dirty="0" err="1"/>
              <a:t>Vydehi</a:t>
            </a:r>
            <a:r>
              <a:rPr lang="en-US" dirty="0"/>
              <a:t>, </a:t>
            </a:r>
            <a:r>
              <a:rPr lang="en-US" dirty="0" err="1"/>
              <a:t>Asst</a:t>
            </a:r>
            <a:r>
              <a:rPr lang="en-US" dirty="0"/>
              <a:t> Professor, CSE Dept.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3AD86-BCE5-402A-9A63-AC164DC60237}" type="datetime1">
              <a:rPr lang="en-IN" smtClean="0"/>
              <a:t>08-08-2026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Course Name                                                                Faculty Name, Designation, Dept.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EF2E3-409D-4D76-AD02-397A36B0DA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685800" y="2060848"/>
            <a:ext cx="10696612" cy="242889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 algn="ctr" defTabSz="914400">
              <a:lnSpc>
                <a:spcPct val="90000"/>
              </a:lnSpc>
              <a:spcBef>
                <a:spcPct val="0"/>
              </a:spcBef>
              <a:defRPr/>
            </a:pPr>
            <a:r>
              <a:rPr lang="en-IN" sz="4400" b="1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Web Scraping and Product Price </a:t>
            </a:r>
          </a:p>
          <a:p>
            <a:pPr lvl="0" algn="ctr" defTabSz="914400">
              <a:lnSpc>
                <a:spcPct val="90000"/>
              </a:lnSpc>
              <a:spcBef>
                <a:spcPct val="0"/>
              </a:spcBef>
              <a:defRPr/>
            </a:pPr>
            <a:r>
              <a:rPr lang="en-IN" sz="4400" b="1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Analysis System</a:t>
            </a:r>
            <a:b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Tahoma" pitchFamily="34" charset="0"/>
                <a:cs typeface="Times New Roman" pitchFamily="18" charset="0"/>
              </a:rPr>
            </a:br>
            <a:endParaRPr kumimoji="0" lang="en-IN" sz="4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</p:txBody>
      </p:sp>
      <p:sp>
        <p:nvSpPr>
          <p:cNvPr id="6" name="Subtitle 2"/>
          <p:cNvSpPr txBox="1"/>
          <p:nvPr/>
        </p:nvSpPr>
        <p:spPr>
          <a:xfrm>
            <a:off x="809588" y="4149080"/>
            <a:ext cx="5070388" cy="20660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algn="ctr" defTabSz="914400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2000" dirty="0">
                <a:solidFill>
                  <a:srgbClr val="002060"/>
                </a:solidFill>
                <a:latin typeface="Tw Cen MT" panose="020B0602020104020603" pitchFamily="34" charset="0"/>
              </a:rPr>
              <a:t> 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w Cen MT" panose="020B0602020104020603" pitchFamily="34" charset="0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AEBDE1-E7D7-3A74-59E9-4FFCA7494C93}"/>
              </a:ext>
            </a:extLst>
          </p:cNvPr>
          <p:cNvSpPr txBox="1"/>
          <p:nvPr/>
        </p:nvSpPr>
        <p:spPr>
          <a:xfrm>
            <a:off x="4511824" y="5845750"/>
            <a:ext cx="3384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Analysis Essentials project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DAE                              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2</a:t>
            </a:fld>
            <a:endParaRPr lang="en-US"/>
          </a:p>
        </p:txBody>
      </p:sp>
      <p:sp>
        <p:nvSpPr>
          <p:cNvPr id="5" name="Content Placeholder 1"/>
          <p:cNvSpPr txBox="1"/>
          <p:nvPr/>
        </p:nvSpPr>
        <p:spPr>
          <a:xfrm>
            <a:off x="869085" y="1561876"/>
            <a:ext cx="10515600" cy="453141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5B11CS608- M. AKSHAYA(Team lead)</a:t>
            </a:r>
          </a:p>
          <a:p>
            <a:pPr marL="0" indent="0" algn="just">
              <a:buNone/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25B11CS710- P. JAGANNADHA VEERA MANIKANTA(Data and Tech Lead)</a:t>
            </a:r>
          </a:p>
          <a:p>
            <a:pPr marL="0" indent="0" algn="just">
              <a:buNone/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25B11CS388- K. SAIKRISHNA(Implementation Lead)</a:t>
            </a:r>
          </a:p>
          <a:p>
            <a:pPr marL="0" indent="0" algn="just">
              <a:buNone/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25B11CS923- T. YEGHNA SURYA TEJA(Q &amp;A and Strategy Lead)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588" y="642918"/>
            <a:ext cx="1056155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04</a:t>
            </a:r>
          </a:p>
          <a:p>
            <a:pPr algn="ctr"/>
            <a:endParaRPr lang="en-IN" sz="4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DAE                                         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3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09588" y="642918"/>
            <a:ext cx="1056155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ctr"/>
            <a:endParaRPr lang="en-IN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0D8632-1CC3-E1B5-83FA-A62086EFB7D6}"/>
              </a:ext>
            </a:extLst>
          </p:cNvPr>
          <p:cNvSpPr txBox="1"/>
          <p:nvPr/>
        </p:nvSpPr>
        <p:spPr>
          <a:xfrm>
            <a:off x="911424" y="2114610"/>
            <a:ext cx="1070806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800" dirty="0"/>
              <a:t>E-commerce platforms contain large amounts of product information.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800" dirty="0"/>
              <a:t>Product analysis helps compare price, rating, category, and availability.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800" dirty="0"/>
              <a:t>This project </a:t>
            </a:r>
            <a:r>
              <a:rPr lang="en-IN" sz="2800" dirty="0" err="1"/>
              <a:t>analyzes</a:t>
            </a:r>
            <a:r>
              <a:rPr lang="en-IN" sz="2800" dirty="0"/>
              <a:t> an e-commerce product dataset.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800" dirty="0"/>
              <a:t>The dataset was prepared with assistance from Google Gemini.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800" dirty="0"/>
              <a:t>Python tools were used for cleaning, analysis, and visualization.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DAE                                             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4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09588" y="642918"/>
            <a:ext cx="1056155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ctr"/>
            <a:endParaRPr lang="en-IN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ED4350-57D2-7182-3FD7-F9FA27AC9C48}"/>
              </a:ext>
            </a:extLst>
          </p:cNvPr>
          <p:cNvSpPr txBox="1"/>
          <p:nvPr/>
        </p:nvSpPr>
        <p:spPr>
          <a:xfrm>
            <a:off x="671340" y="1988840"/>
            <a:ext cx="1070530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800" dirty="0"/>
              <a:t>Product data contains multiple attributes that are difficult to compare </a:t>
            </a:r>
          </a:p>
          <a:p>
            <a:pPr lvl="0"/>
            <a:r>
              <a:rPr lang="en-IN" sz="2800" dirty="0"/>
              <a:t>    manually.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800" dirty="0"/>
              <a:t>Raw data may contain inconsistent values and different formats.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800" dirty="0"/>
              <a:t>A structured analysis is needed to identify product patterns.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800" dirty="0"/>
              <a:t>The project organizes product data and presents the results visually.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09588" y="642918"/>
            <a:ext cx="105615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6" name="Content Placeholder 1"/>
          <p:cNvSpPr txBox="1"/>
          <p:nvPr/>
        </p:nvSpPr>
        <p:spPr>
          <a:xfrm>
            <a:off x="623392" y="1929914"/>
            <a:ext cx="10515600" cy="453141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dirty="0"/>
              <a:t>Analyse an e-commerce product dataset.</a:t>
            </a:r>
          </a:p>
          <a:p>
            <a:pPr lvl="0"/>
            <a:r>
              <a:rPr lang="en-IN" dirty="0"/>
              <a:t>Clean and organize product records.</a:t>
            </a:r>
          </a:p>
          <a:p>
            <a:pPr lvl="0"/>
            <a:r>
              <a:rPr lang="en-IN" dirty="0"/>
              <a:t>Compare prices, ratings, and categories.</a:t>
            </a:r>
          </a:p>
          <a:p>
            <a:pPr lvl="0"/>
            <a:r>
              <a:rPr lang="en-IN" dirty="0"/>
              <a:t>Identify high-rated and low-priced products.</a:t>
            </a:r>
          </a:p>
          <a:p>
            <a:pPr lvl="0"/>
            <a:r>
              <a:rPr lang="en-IN" dirty="0"/>
              <a:t>Create charts and tables from the dataset.</a:t>
            </a:r>
          </a:p>
          <a:p>
            <a:pPr lvl="0"/>
            <a:r>
              <a:rPr lang="en-IN" dirty="0"/>
              <a:t>Present meaningful product insights.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</p:spPr>
        <p:txBody>
          <a:bodyPr/>
          <a:lstStyle/>
          <a:p>
            <a:r>
              <a:rPr lang="en-US" dirty="0"/>
              <a:t>DAE                                                          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09588" y="476672"/>
            <a:ext cx="105615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sp>
        <p:nvSpPr>
          <p:cNvPr id="6" name="Content Placeholder 1"/>
          <p:cNvSpPr txBox="1"/>
          <p:nvPr/>
        </p:nvSpPr>
        <p:spPr>
          <a:xfrm>
            <a:off x="855538" y="1412776"/>
            <a:ext cx="10561550" cy="432048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000" dirty="0"/>
              <a:t>Dataset type: AI-assisted synthetic e-commerce dataset.</a:t>
            </a:r>
          </a:p>
          <a:p>
            <a:pPr lvl="0"/>
            <a:r>
              <a:rPr lang="en-IN" sz="2000" dirty="0"/>
              <a:t>Dataset source: Google Gemini.</a:t>
            </a:r>
          </a:p>
          <a:p>
            <a:pPr lvl="0"/>
            <a:r>
              <a:rPr lang="en-IN" sz="2000" dirty="0"/>
              <a:t>Dataset format: CSV.</a:t>
            </a:r>
          </a:p>
          <a:p>
            <a:pPr lvl="0"/>
            <a:r>
              <a:rPr lang="en-IN" sz="2000" dirty="0"/>
              <a:t>Product fields:</a:t>
            </a:r>
          </a:p>
          <a:p>
            <a:pPr lvl="1"/>
            <a:r>
              <a:rPr lang="en-IN" sz="2000" dirty="0"/>
              <a:t>Product name.</a:t>
            </a:r>
          </a:p>
          <a:p>
            <a:pPr lvl="1"/>
            <a:r>
              <a:rPr lang="en-IN" sz="2000" dirty="0"/>
              <a:t>Category.</a:t>
            </a:r>
          </a:p>
          <a:p>
            <a:pPr lvl="1"/>
            <a:r>
              <a:rPr lang="en-IN" sz="2000" dirty="0"/>
              <a:t>Price.</a:t>
            </a:r>
          </a:p>
          <a:p>
            <a:pPr lvl="1"/>
            <a:r>
              <a:rPr lang="en-IN" sz="2000" dirty="0"/>
              <a:t>Rating.</a:t>
            </a:r>
          </a:p>
          <a:p>
            <a:pPr lvl="1"/>
            <a:r>
              <a:rPr lang="en-IN" sz="2000" dirty="0"/>
              <a:t>Availability.</a:t>
            </a:r>
          </a:p>
          <a:p>
            <a:pPr lvl="1"/>
            <a:r>
              <a:rPr lang="en-IN" sz="2000" dirty="0"/>
              <a:t>Brand or seller, if available.</a:t>
            </a:r>
          </a:p>
          <a:p>
            <a:pPr lvl="0"/>
            <a:r>
              <a:rPr lang="en-IN" sz="2000" dirty="0"/>
              <a:t>Number of records: 20050 product records(rows)</a:t>
            </a:r>
          </a:p>
          <a:p>
            <a:pPr lvl="0"/>
            <a:r>
              <a:rPr lang="en-IN" sz="2000" dirty="0"/>
              <a:t>Dataset limitation: It may not represent real market data.</a:t>
            </a:r>
          </a:p>
          <a:p>
            <a:pPr marL="0" indent="0">
              <a:buNone/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</p:spPr>
        <p:txBody>
          <a:bodyPr/>
          <a:lstStyle/>
          <a:p>
            <a:r>
              <a:rPr lang="en-US" dirty="0"/>
              <a:t>DAE                                                               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D7E42C-1DE5-2AD8-2C8C-2033DD36A9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016" y="1765056"/>
            <a:ext cx="5472608" cy="3282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57548" y="332656"/>
            <a:ext cx="105615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</a:p>
        </p:txBody>
      </p:sp>
      <p:sp>
        <p:nvSpPr>
          <p:cNvPr id="6" name="Content Placeholder 1"/>
          <p:cNvSpPr txBox="1"/>
          <p:nvPr/>
        </p:nvSpPr>
        <p:spPr>
          <a:xfrm>
            <a:off x="0" y="1260305"/>
            <a:ext cx="10515600" cy="453141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000" dirty="0"/>
              <a:t>Python:</a:t>
            </a:r>
          </a:p>
          <a:p>
            <a:pPr lvl="2"/>
            <a:r>
              <a:rPr lang="en-IN" dirty="0"/>
              <a:t>Used for data analysis.</a:t>
            </a:r>
          </a:p>
          <a:p>
            <a:pPr lvl="1"/>
            <a:r>
              <a:rPr lang="en-IN" sz="2000" dirty="0"/>
              <a:t>Pandas:</a:t>
            </a:r>
          </a:p>
          <a:p>
            <a:pPr lvl="2"/>
            <a:r>
              <a:rPr lang="en-IN" dirty="0"/>
              <a:t>Used for loading and cleaning the CSV file.</a:t>
            </a:r>
          </a:p>
          <a:p>
            <a:pPr lvl="1"/>
            <a:r>
              <a:rPr lang="en-IN" sz="2000" dirty="0"/>
              <a:t>Matplotlib:</a:t>
            </a:r>
          </a:p>
          <a:p>
            <a:pPr lvl="2"/>
            <a:r>
              <a:rPr lang="en-IN" dirty="0"/>
              <a:t>Used for creating charts.</a:t>
            </a:r>
          </a:p>
          <a:p>
            <a:pPr lvl="1"/>
            <a:r>
              <a:rPr lang="en-IN" sz="2000" dirty="0"/>
              <a:t>Google </a:t>
            </a:r>
            <a:r>
              <a:rPr lang="en-IN" sz="2000" dirty="0" err="1"/>
              <a:t>Colab</a:t>
            </a:r>
            <a:r>
              <a:rPr lang="en-IN" sz="2000" dirty="0"/>
              <a:t>:</a:t>
            </a:r>
          </a:p>
          <a:p>
            <a:pPr lvl="2"/>
            <a:r>
              <a:rPr lang="en-IN" dirty="0"/>
              <a:t>Used to run Python code.</a:t>
            </a:r>
          </a:p>
          <a:p>
            <a:pPr lvl="1"/>
            <a:r>
              <a:rPr lang="en-IN" sz="2000" dirty="0"/>
              <a:t>Google Gemini:</a:t>
            </a:r>
          </a:p>
          <a:p>
            <a:pPr lvl="2"/>
            <a:r>
              <a:rPr lang="en-IN" dirty="0"/>
              <a:t>Used to assist with dataset preparation or generation.</a:t>
            </a:r>
          </a:p>
          <a:p>
            <a:pPr lvl="1"/>
            <a:r>
              <a:rPr lang="en-IN" sz="2000" dirty="0"/>
              <a:t>CSV:</a:t>
            </a:r>
          </a:p>
          <a:p>
            <a:pPr lvl="2"/>
            <a:r>
              <a:rPr lang="en-IN" dirty="0"/>
              <a:t>Used to store structured product data.</a:t>
            </a:r>
          </a:p>
          <a:p>
            <a:pPr lvl="1"/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</p:spPr>
        <p:txBody>
          <a:bodyPr/>
          <a:lstStyle/>
          <a:p>
            <a:r>
              <a:rPr lang="en-US" dirty="0"/>
              <a:t>DAE                                                              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DDED9D-09C5-7F11-688B-7EAF7CDAF5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3185" y="1260306"/>
            <a:ext cx="4854382" cy="45314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8</a:t>
            </a:fld>
            <a:endParaRPr lang="en-US"/>
          </a:p>
        </p:txBody>
      </p:sp>
      <p:sp>
        <p:nvSpPr>
          <p:cNvPr id="6" name="Content Placeholder 1"/>
          <p:cNvSpPr txBox="1"/>
          <p:nvPr/>
        </p:nvSpPr>
        <p:spPr>
          <a:xfrm>
            <a:off x="869085" y="1561876"/>
            <a:ext cx="10515600" cy="453141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dirty="0"/>
              <a:t>Load the CSV dataset.</a:t>
            </a:r>
          </a:p>
          <a:p>
            <a:pPr lvl="0"/>
            <a:r>
              <a:rPr lang="en-IN" dirty="0"/>
              <a:t>Inspect columns and data types.</a:t>
            </a:r>
          </a:p>
          <a:p>
            <a:pPr lvl="0"/>
            <a:r>
              <a:rPr lang="en-IN" dirty="0"/>
              <a:t>Check missing values and duplicates.</a:t>
            </a:r>
          </a:p>
          <a:p>
            <a:pPr lvl="0"/>
            <a:r>
              <a:rPr lang="en-IN" dirty="0"/>
              <a:t>Clean prices, ratings, and categories.</a:t>
            </a:r>
          </a:p>
          <a:p>
            <a:pPr lvl="0"/>
            <a:r>
              <a:rPr lang="en-IN" dirty="0"/>
              <a:t>Calculate summary statistics.</a:t>
            </a:r>
          </a:p>
          <a:p>
            <a:pPr lvl="0"/>
            <a:r>
              <a:rPr lang="en-IN" dirty="0"/>
              <a:t>Compare products and categories.</a:t>
            </a:r>
          </a:p>
          <a:p>
            <a:pPr lvl="0"/>
            <a:r>
              <a:rPr lang="en-IN" dirty="0"/>
              <a:t>Create charts.</a:t>
            </a:r>
          </a:p>
          <a:p>
            <a:pPr lvl="0"/>
            <a:r>
              <a:rPr lang="en-IN" dirty="0"/>
              <a:t>Interpret the findings.</a:t>
            </a:r>
          </a:p>
          <a:p>
            <a:pPr marL="0" indent="0"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7548" y="332656"/>
            <a:ext cx="105615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</p:spPr>
        <p:txBody>
          <a:bodyPr/>
          <a:lstStyle/>
          <a:p>
            <a:r>
              <a:rPr lang="en-US" dirty="0"/>
              <a:t>DAE                                                                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C5260BB-4732-BE61-26EA-91EE8C31AE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080" y="1089170"/>
            <a:ext cx="4206605" cy="21871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9769A42-6758-8B50-9955-308209B1EC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2104" y="3827585"/>
            <a:ext cx="4198984" cy="11964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5AE01D-A86B-E0CE-1972-7CA15F6D291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DAE                                                   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F5443B-C098-0A99-ED9C-6253BF303A9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A791DF-18FC-78F5-2E5E-0DE9A352C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464" y="980727"/>
            <a:ext cx="9361040" cy="529804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504228A-F095-0AA3-5C1F-3B50A84C6AA3}"/>
              </a:ext>
            </a:extLst>
          </p:cNvPr>
          <p:cNvSpPr txBox="1"/>
          <p:nvPr/>
        </p:nvSpPr>
        <p:spPr>
          <a:xfrm>
            <a:off x="4439816" y="183272"/>
            <a:ext cx="27574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3177600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1C168-942F-0338-3443-E2CCF581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D3A43A-6D33-CF67-6F57-0E0F0DDFEB4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DAE                                                   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CBCB30-7EF6-98DD-CC0F-3A7D212C990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10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E4ACBD-1414-4885-37FA-77D98679BCBA}"/>
              </a:ext>
            </a:extLst>
          </p:cNvPr>
          <p:cNvSpPr txBox="1"/>
          <p:nvPr/>
        </p:nvSpPr>
        <p:spPr>
          <a:xfrm>
            <a:off x="4439816" y="183272"/>
            <a:ext cx="27574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endParaRPr lang="en-IN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336EA6-4EF5-93CD-C85C-38B45824E8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536" y="952713"/>
            <a:ext cx="8136903" cy="5425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451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11</a:t>
            </a:fld>
            <a:endParaRPr lang="en-US"/>
          </a:p>
        </p:txBody>
      </p:sp>
      <p:sp>
        <p:nvSpPr>
          <p:cNvPr id="6" name="Content Placeholder 1"/>
          <p:cNvSpPr txBox="1"/>
          <p:nvPr/>
        </p:nvSpPr>
        <p:spPr>
          <a:xfrm>
            <a:off x="869085" y="1561876"/>
            <a:ext cx="10515600" cy="453141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dirty="0"/>
              <a:t>Some websites may block or restrict requests.</a:t>
            </a:r>
          </a:p>
          <a:p>
            <a:pPr lvl="0"/>
            <a:r>
              <a:rPr lang="en-IN" dirty="0"/>
              <a:t>Results depend on the quality of the collected data</a:t>
            </a:r>
          </a:p>
          <a:p>
            <a:pPr lvl="0"/>
            <a:r>
              <a:rPr lang="en-IN" dirty="0"/>
              <a:t>Website HTML structure may change.</a:t>
            </a:r>
          </a:p>
          <a:p>
            <a:pPr lvl="0"/>
            <a:r>
              <a:rPr lang="en-IN" dirty="0"/>
              <a:t>Some product fields may be missing.</a:t>
            </a:r>
          </a:p>
          <a:p>
            <a:pPr lvl="0"/>
            <a:r>
              <a:rPr lang="en-IN" dirty="0"/>
              <a:t>Prices and availability may change over time.</a:t>
            </a:r>
          </a:p>
          <a:p>
            <a:pPr marL="0" indent="0"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7548" y="332656"/>
            <a:ext cx="105615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</p:spPr>
        <p:txBody>
          <a:bodyPr/>
          <a:lstStyle/>
          <a:p>
            <a:r>
              <a:rPr lang="en-US" dirty="0"/>
              <a:t>DAE                                                                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12</a:t>
            </a:fld>
            <a:endParaRPr lang="en-US"/>
          </a:p>
        </p:txBody>
      </p:sp>
      <p:sp>
        <p:nvSpPr>
          <p:cNvPr id="6" name="Content Placeholder 1"/>
          <p:cNvSpPr txBox="1"/>
          <p:nvPr/>
        </p:nvSpPr>
        <p:spPr>
          <a:xfrm>
            <a:off x="869085" y="1561876"/>
            <a:ext cx="10515600" cy="453141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/>
              <a:t>Add more product websites and categories.</a:t>
            </a:r>
          </a:p>
          <a:p>
            <a:pPr lvl="0"/>
            <a:r>
              <a:rPr lang="en-IN" dirty="0"/>
              <a:t>Create an interactive dashboard.</a:t>
            </a:r>
          </a:p>
          <a:p>
            <a:pPr lvl="0"/>
            <a:r>
              <a:rPr lang="en-IN" dirty="0"/>
              <a:t>Automate daily or weekly data updates.</a:t>
            </a:r>
          </a:p>
          <a:p>
            <a:pPr lvl="0"/>
            <a:r>
              <a:rPr lang="en-IN" dirty="0"/>
              <a:t>Add customer review sentiment analysis.</a:t>
            </a:r>
          </a:p>
          <a:p>
            <a:pPr lvl="0"/>
            <a:r>
              <a:rPr lang="en-IN" dirty="0"/>
              <a:t>Compare products across multiple platforms.</a:t>
            </a:r>
          </a:p>
          <a:p>
            <a:pPr lvl="0"/>
            <a:r>
              <a:rPr lang="en-IN" dirty="0"/>
              <a:t>Add recommendation or price-prediction features.</a:t>
            </a:r>
          </a:p>
          <a:p>
            <a:pPr marL="0" indent="0"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7548" y="332656"/>
            <a:ext cx="105615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</p:spPr>
        <p:txBody>
          <a:bodyPr/>
          <a:lstStyle/>
          <a:p>
            <a:r>
              <a:rPr lang="en-US" dirty="0"/>
              <a:t>DAE                                                                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13</a:t>
            </a:fld>
            <a:endParaRPr lang="en-US"/>
          </a:p>
        </p:txBody>
      </p:sp>
      <p:sp>
        <p:nvSpPr>
          <p:cNvPr id="6" name="Content Placeholder 1"/>
          <p:cNvSpPr txBox="1"/>
          <p:nvPr/>
        </p:nvSpPr>
        <p:spPr>
          <a:xfrm>
            <a:off x="869085" y="1561876"/>
            <a:ext cx="10515600" cy="453141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/>
              <a:t>Product data can be collected automatically using web scraping.</a:t>
            </a:r>
          </a:p>
          <a:p>
            <a:pPr lvl="0"/>
            <a:r>
              <a:rPr lang="en-IN" dirty="0"/>
              <a:t>Cleaning makes the data suitable for analysis.</a:t>
            </a:r>
          </a:p>
          <a:p>
            <a:pPr lvl="0"/>
            <a:r>
              <a:rPr lang="en-IN" dirty="0"/>
              <a:t>Charts make product comparison easier.</a:t>
            </a:r>
          </a:p>
          <a:p>
            <a:pPr lvl="0"/>
            <a:r>
              <a:rPr lang="en-IN" dirty="0"/>
              <a:t>The project converts raw web data into useful insights.</a:t>
            </a:r>
          </a:p>
          <a:p>
            <a:pPr lvl="0"/>
            <a:r>
              <a:rPr lang="en-IN" dirty="0"/>
              <a:t>We gained experience in Python, data analysis, visualization, and teamwork.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9085" y="548680"/>
            <a:ext cx="105615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</p:spPr>
        <p:txBody>
          <a:bodyPr/>
          <a:lstStyle/>
          <a:p>
            <a:r>
              <a:rPr lang="en-US" dirty="0"/>
              <a:t>DAE                                                                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/>
          <p:nvPr/>
        </p:nvSpPr>
        <p:spPr>
          <a:xfrm>
            <a:off x="1595406" y="2857496"/>
            <a:ext cx="9215502" cy="13635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514350" indent="-514350" algn="ctr" defTabSz="914400">
              <a:lnSpc>
                <a:spcPct val="170000"/>
              </a:lnSpc>
              <a:spcBef>
                <a:spcPct val="0"/>
              </a:spcBef>
              <a:defRPr/>
            </a:pPr>
            <a:r>
              <a:rPr lang="en-US" sz="7200" b="1" spc="-50" dirty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Thank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t>14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t>08-08-2026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3287688" y="6356350"/>
            <a:ext cx="6120680" cy="365125"/>
          </a:xfrm>
        </p:spPr>
        <p:txBody>
          <a:bodyPr/>
          <a:lstStyle/>
          <a:p>
            <a:r>
              <a:rPr lang="en-US" dirty="0"/>
              <a:t>DAE                                                          K </a:t>
            </a:r>
            <a:r>
              <a:rPr lang="en-US" dirty="0" err="1"/>
              <a:t>Vydehi</a:t>
            </a:r>
            <a:r>
              <a:rPr lang="en-US" dirty="0"/>
              <a:t>, </a:t>
            </a:r>
            <a:r>
              <a:rPr lang="en-US" dirty="0" err="1"/>
              <a:t>Asst</a:t>
            </a:r>
            <a:r>
              <a:rPr lang="en-US" dirty="0"/>
              <a:t> </a:t>
            </a:r>
            <a:r>
              <a:rPr lang="en-US" dirty="0" err="1"/>
              <a:t>Professor,CSE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</TotalTime>
  <Words>532</Words>
  <Application>Microsoft Office PowerPoint</Application>
  <PresentationFormat>Widescreen</PresentationFormat>
  <Paragraphs>116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Maiandra GD</vt:lpstr>
      <vt:lpstr>Times New Roman</vt:lpstr>
      <vt:lpstr>Tw Cen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25B11CS608</cp:lastModifiedBy>
  <cp:revision>729</cp:revision>
  <cp:lastPrinted>2023-06-09T04:58:00Z</cp:lastPrinted>
  <dcterms:created xsi:type="dcterms:W3CDTF">2019-12-14T03:50:00Z</dcterms:created>
  <dcterms:modified xsi:type="dcterms:W3CDTF">2026-08-08T02:06:00Z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C323A45F88CA49A9ABA8E43EBA54F955_12</vt:lpwstr>
  </property>
  <property fmtid="{D5CDD505-2E9C-101B-9397-08002B2CF9AE}" pid="3" name="KSOProductBuildVer">
    <vt:lpwstr>1033-12.2.0.21931</vt:lpwstr>
  </property>
</Properties>
</file>