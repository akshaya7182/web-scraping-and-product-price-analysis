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74" r:id="rId6"/>
    <p:sldId id="279" r:id="rId7"/>
    <p:sldId id="276" r:id="rId8"/>
    <p:sldId id="280" r:id="rId9"/>
    <p:sldId id="278" r:id="rId10"/>
    <p:sldId id="271" r:id="rId11"/>
    <p:sldId id="281" r:id="rId12"/>
    <p:sldId id="283" r:id="rId13"/>
    <p:sldId id="287" r:id="rId14"/>
    <p:sldId id="286" r:id="rId15"/>
    <p:sldId id="288" r:id="rId16"/>
    <p:sldId id="285" r:id="rId17"/>
    <p:sldId id="284" r:id="rId18"/>
    <p:sldId id="268" r:id="rId19"/>
    <p:sldId id="269" r:id="rId20"/>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97685-9CB6-45F9-A194-17869D503BB0}" v="6" dt="2026-09-22T09:10:40.5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29-09-2026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051560"/>
            <a:ext cx="7315200" cy="523220"/>
          </a:xfrm>
          <a:prstGeom prst="rect">
            <a:avLst/>
          </a:prstGeom>
          <a:noFill/>
        </p:spPr>
        <p:txBody>
          <a:bodyPr wrap="square">
            <a:spAutoFit/>
          </a:bodyPr>
          <a:lstStyle/>
          <a:p>
            <a:pPr algn="ctr">
              <a:spcAft>
                <a:spcPts val="700"/>
              </a:spcAft>
              <a:defRPr sz="2500" b="1">
                <a:solidFill>
                  <a:srgbClr val="233464"/>
                </a:solidFill>
                <a:latin typeface="Aptos"/>
              </a:defRPr>
            </a:pPr>
            <a:r>
              <a:rPr sz="2800" dirty="0">
                <a:latin typeface="Times New Roman" pitchFamily="18" charset="0"/>
                <a:cs typeface="Times New Roman" pitchFamily="18" charset="0"/>
              </a:rPr>
              <a:t>Data Analysis Essentials</a:t>
            </a:r>
          </a:p>
        </p:txBody>
      </p:sp>
      <p:sp>
        <p:nvSpPr>
          <p:cNvPr id="4" name="TextBox 3"/>
          <p:cNvSpPr txBox="1"/>
          <p:nvPr/>
        </p:nvSpPr>
        <p:spPr>
          <a:xfrm>
            <a:off x="1463040" y="1508760"/>
            <a:ext cx="7315200" cy="446276"/>
          </a:xfrm>
          <a:prstGeom prst="rect">
            <a:avLst/>
          </a:prstGeom>
          <a:noFill/>
        </p:spPr>
        <p:txBody>
          <a:bodyPr wrap="square">
            <a:spAutoFit/>
          </a:bodyPr>
          <a:lstStyle/>
          <a:p>
            <a:pPr algn="ctr">
              <a:spcAft>
                <a:spcPts val="700"/>
              </a:spcAft>
              <a:defRPr sz="2300" b="1">
                <a:solidFill>
                  <a:srgbClr val="C25B30"/>
                </a:solidFill>
                <a:latin typeface="Aptos"/>
              </a:defRPr>
            </a:pPr>
            <a:r>
              <a:rPr dirty="0">
                <a:latin typeface="Times New Roman" pitchFamily="18" charset="0"/>
                <a:cs typeface="Times New Roman" pitchFamily="18" charset="0"/>
              </a:rPr>
              <a:t>Cornerstone Project</a:t>
            </a:r>
          </a:p>
        </p:txBody>
      </p:sp>
      <p:sp>
        <p:nvSpPr>
          <p:cNvPr id="5" name="TextBox 4"/>
          <p:cNvSpPr txBox="1"/>
          <p:nvPr/>
        </p:nvSpPr>
        <p:spPr>
          <a:xfrm>
            <a:off x="640080" y="2331720"/>
            <a:ext cx="8778240" cy="584775"/>
          </a:xfrm>
          <a:prstGeom prst="rect">
            <a:avLst/>
          </a:prstGeom>
          <a:noFill/>
        </p:spPr>
        <p:txBody>
          <a:bodyPr wrap="square">
            <a:spAutoFit/>
          </a:bodyPr>
          <a:lstStyle/>
          <a:p>
            <a:pPr algn="ctr">
              <a:spcAft>
                <a:spcPts val="700"/>
              </a:spcAft>
              <a:defRPr sz="3000" b="1">
                <a:solidFill>
                  <a:srgbClr val="233464"/>
                </a:solidFill>
                <a:latin typeface="Aptos"/>
              </a:defRPr>
            </a:pPr>
            <a:r>
              <a:rPr sz="3200" dirty="0">
                <a:latin typeface="Times New Roman" pitchFamily="18" charset="0"/>
                <a:cs typeface="Times New Roman" pitchFamily="18" charset="0"/>
              </a:rPr>
              <a:t>Web Scraping &amp; Product Price Analysis</a:t>
            </a:r>
          </a:p>
        </p:txBody>
      </p:sp>
      <p:sp>
        <p:nvSpPr>
          <p:cNvPr id="6" name="TextBox 5"/>
          <p:cNvSpPr txBox="1"/>
          <p:nvPr/>
        </p:nvSpPr>
        <p:spPr>
          <a:xfrm>
            <a:off x="1188720" y="2907792"/>
            <a:ext cx="7680960" cy="461665"/>
          </a:xfrm>
          <a:prstGeom prst="rect">
            <a:avLst/>
          </a:prstGeom>
          <a:noFill/>
        </p:spPr>
        <p:txBody>
          <a:bodyPr wrap="square">
            <a:spAutoFit/>
          </a:bodyPr>
          <a:lstStyle/>
          <a:p>
            <a:pPr algn="ctr">
              <a:spcAft>
                <a:spcPts val="700"/>
              </a:spcAft>
              <a:defRPr sz="1800" b="0">
                <a:solidFill>
                  <a:srgbClr val="375BA0"/>
                </a:solidFill>
                <a:latin typeface="Aptos"/>
              </a:defRPr>
            </a:pPr>
            <a:r>
              <a:rPr sz="2400" dirty="0">
                <a:latin typeface="Times New Roman" pitchFamily="18" charset="0"/>
                <a:cs typeface="Times New Roman" pitchFamily="18" charset="0"/>
              </a:rPr>
              <a:t>E-Commerce | Amazon India AC Listings</a:t>
            </a:r>
          </a:p>
        </p:txBody>
      </p:sp>
      <p:sp>
        <p:nvSpPr>
          <p:cNvPr id="7" name="TextBox 6"/>
          <p:cNvSpPr txBox="1"/>
          <p:nvPr/>
        </p:nvSpPr>
        <p:spPr>
          <a:xfrm>
            <a:off x="1051560" y="3657600"/>
            <a:ext cx="7955279" cy="2298065"/>
          </a:xfrm>
          <a:prstGeom prst="rect">
            <a:avLst/>
          </a:prstGeom>
          <a:noFill/>
        </p:spPr>
        <p:txBody>
          <a:bodyPr wrap="square">
            <a:spAutoFit/>
          </a:bodyPr>
          <a:lstStyle/>
          <a:p>
            <a:pPr algn="ctr">
              <a:spcAft>
                <a:spcPts val="700"/>
              </a:spcAft>
              <a:defRPr sz="1400" b="0">
                <a:solidFill>
                  <a:srgbClr val="2D2D2D"/>
                </a:solidFill>
                <a:latin typeface="Aptos"/>
              </a:defRPr>
            </a:pPr>
            <a:r>
              <a:rPr sz="2400" b="1" dirty="0">
                <a:solidFill>
                  <a:srgbClr val="FF0000"/>
                </a:solidFill>
                <a:latin typeface="Times New Roman" pitchFamily="18" charset="0"/>
                <a:cs typeface="Times New Roman" pitchFamily="18" charset="0"/>
              </a:rPr>
              <a:t>Presented by</a:t>
            </a:r>
          </a:p>
          <a:p>
            <a:pPr algn="ctr">
              <a:spcAft>
                <a:spcPts val="700"/>
              </a:spcAft>
              <a:defRPr sz="1400" b="0">
                <a:solidFill>
                  <a:srgbClr val="2D2D2D"/>
                </a:solidFill>
                <a:latin typeface="Aptos"/>
              </a:defRPr>
            </a:pPr>
            <a:r>
              <a:rPr sz="2000" b="1" dirty="0" err="1">
                <a:latin typeface="Times New Roman" pitchFamily="18" charset="0"/>
                <a:cs typeface="Times New Roman" pitchFamily="18" charset="0"/>
              </a:rPr>
              <a:t>M. Akshaya (25B11CS608)</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P. Jagannadha Veera Manikanta (25B11CS710)</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K. Sai Krishna (25B11CS388)</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T. Yeghna Surya Teja (25B11CS923)</a:t>
            </a:r>
          </a:p>
          <a:p>
            <a:pPr algn="ctr">
              <a:spcAft>
                <a:spcPts val="700"/>
              </a:spcAft>
              <a:defRPr sz="1400" b="0">
                <a:solidFill>
                  <a:srgbClr val="2D2D2D"/>
                </a:solidFill>
                <a:latin typeface="Aptos"/>
              </a:defRPr>
            </a:pPr>
            <a:r>
              <a:rPr sz="1600" b="1" dirty="0" err="1">
                <a:latin typeface="Times New Roman" pitchFamily="18" charset="0"/>
                <a:cs typeface="Times New Roman" pitchFamily="18" charset="0"/>
              </a:rPr>
              <a:t>Guide: Mr. K. Ashok Teja, Assistant Professor, CSE Dept.</a:t>
            </a:r>
          </a:p>
        </p:txBody>
      </p:sp>
      <p:sp>
        <p:nvSpPr>
          <p:cNvPr id="8" name="TextBox 7"/>
          <p:cNvSpPr txBox="1"/>
          <p:nvPr/>
        </p:nvSpPr>
        <p:spPr>
          <a:xfrm>
            <a:off x="914400" y="6446520"/>
            <a:ext cx="8229600" cy="400110"/>
          </a:xfrm>
          <a:prstGeom prst="rect">
            <a:avLst/>
          </a:prstGeom>
          <a:noFill/>
        </p:spPr>
        <p:txBody>
          <a:bodyPr wrap="square">
            <a:spAutoFit/>
          </a:bodyPr>
          <a:lstStyle/>
          <a:p>
            <a:pPr algn="ctr">
              <a:spcAft>
                <a:spcPts val="700"/>
              </a:spcAft>
              <a:defRPr sz="1300" b="1">
                <a:solidFill>
                  <a:srgbClr val="233464"/>
                </a:solidFill>
                <a:latin typeface="Aptos"/>
              </a:defRPr>
            </a:pPr>
            <a:r>
              <a:rPr sz="2000" dirty="0">
                <a:latin typeface="Times New Roman" pitchFamily="18" charset="0"/>
                <a:cs typeface="Times New Roman" pitchFamily="18" charset="0"/>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Contents</a:t>
            </a:r>
            <a:endParaRPr dirty="0">
              <a:solidFill>
                <a:schemeClr val="bg1"/>
              </a:solidFill>
              <a:latin typeface="Times New Roman" pitchFamily="18" charset="0"/>
              <a:cs typeface="Times New Roman" pitchFamily="18" charset="0"/>
            </a:endParaRPr>
          </a:p>
        </p:txBody>
      </p:sp>
      <p:sp>
        <p:nvSpPr>
          <p:cNvPr id="11" name="TextBox 10"/>
          <p:cNvSpPr txBox="1"/>
          <p:nvPr/>
        </p:nvSpPr>
        <p:spPr>
          <a:xfrm>
            <a:off x="1219200" y="1676400"/>
            <a:ext cx="7132320" cy="5052665"/>
          </a:xfrm>
          <a:prstGeom prst="rect">
            <a:avLst/>
          </a:prstGeom>
          <a:noFill/>
        </p:spPr>
        <p:txBody>
          <a:bodyPr wrap="square">
            <a:spAutoFit/>
          </a:bodyPr>
          <a:lstStyle/>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Problem Understanding</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Introduction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Current Approach &amp; Limitations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Proposed Approach</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Dataset Description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Requirements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Methodology</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 Visualization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Key Insights &amp; Analysis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Implementation Workflow</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PROBLEM UNDERSTANDING</a:t>
            </a:r>
          </a:p>
        </p:txBody>
      </p:sp>
      <p:sp>
        <p:nvSpPr>
          <p:cNvPr id="12" name="TextBox 11"/>
          <p:cNvSpPr txBox="1"/>
          <p:nvPr/>
        </p:nvSpPr>
        <p:spPr>
          <a:xfrm>
            <a:off x="609600" y="1524000"/>
            <a:ext cx="8686800" cy="3970318"/>
          </a:xfrm>
          <a:prstGeom prst="rect">
            <a:avLst/>
          </a:prstGeom>
          <a:noFill/>
        </p:spPr>
        <p:txBody>
          <a:bodyPr wrap="square">
            <a:spAutoFit/>
          </a:bodyPr>
          <a:lstStyle/>
          <a:p>
            <a:pPr algn="just">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E-commerce platforms list thousands of products with constantly changing prices, discounts, and ratings, but this information is scattered across web pages and hard to compare. This project collects air conditioner listings from Amazon India through web scraping (720 listings) and applies exploratory data analysis (EDA) in Python to clean the data and analyse how price, brand, size, energy rating, and discounts relate — helping buyers and sellers make informed pricing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Introduction</a:t>
            </a:r>
          </a:p>
        </p:txBody>
      </p:sp>
      <p:sp>
        <p:nvSpPr>
          <p:cNvPr id="19" name="TextBox 18"/>
          <p:cNvSpPr txBox="1"/>
          <p:nvPr/>
        </p:nvSpPr>
        <p:spPr>
          <a:xfrm>
            <a:off x="685800" y="1417320"/>
            <a:ext cx="8778240" cy="5711820"/>
          </a:xfrm>
          <a:prstGeom prst="rect">
            <a:avLst/>
          </a:prstGeom>
          <a:noFill/>
        </p:spPr>
        <p:txBody>
          <a:bodyPr wrap="square">
            <a:spAutoFit/>
          </a:bodyPr>
          <a:lstStyle/>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E-commerce is one of the largest sources of product and price data today.</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Buying an AC involves many factors: price, brand, tonnage, star rating, and reviews.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Web-scraped data is messy: missing values, placeholder entries, and non-AC items.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Python (Pandas, NumPy, Matplotlib) helps clean, structure, and interpret this data.</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This project scrapes and analyses 720 Amazon India "Air Conditioners" listings.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Clear visualizations make price and brand patterns easy to compare.</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667000" y="304800"/>
            <a:ext cx="518160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Current / Manual Approach</a:t>
            </a:r>
          </a:p>
        </p:txBody>
      </p:sp>
      <p:sp>
        <p:nvSpPr>
          <p:cNvPr id="19" name="TextBox 18"/>
          <p:cNvSpPr txBox="1"/>
          <p:nvPr/>
        </p:nvSpPr>
        <p:spPr>
          <a:xfrm>
            <a:off x="685800" y="1417320"/>
            <a:ext cx="8778240" cy="4850046"/>
          </a:xfrm>
          <a:prstGeom prst="rect">
            <a:avLst/>
          </a:prstGeom>
          <a:noFill/>
        </p:spPr>
        <p:txBody>
          <a:bodyPr wrap="square">
            <a:spAutoFit/>
          </a:bodyPr>
          <a:lstStyle/>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Shoppers open many product pages and compare prices by hand.</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Spreadsheet review of 720 rows is slow and error-prone.</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Comparing brand-wise or size-wise pricing manually is difficult.</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Accessories (AC stands, motors) and portable coolers get mistaken for real ACs.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Missing prices and ratings often go unnoticed in raw tables.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Discounts are hard to judge without comparing MRP and selling price.</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5B758792-840A-895D-A2CD-A09955CC1720}"/>
              </a:ext>
            </a:extLst>
          </p:cNvPr>
          <p:cNvGrpSpPr/>
          <p:nvPr/>
        </p:nvGrpSpPr>
        <p:grpSpPr>
          <a:xfrm>
            <a:off x="2743200" y="0"/>
            <a:ext cx="5103904" cy="1198311"/>
            <a:chOff x="2648188" y="47148"/>
            <a:chExt cx="5103904" cy="1198311"/>
          </a:xfrm>
        </p:grpSpPr>
        <p:pic>
          <p:nvPicPr>
            <p:cNvPr id="3" name="object 4">
              <a:extLst>
                <a:ext uri="{FF2B5EF4-FFF2-40B4-BE49-F238E27FC236}">
                  <a16:creationId xmlns:a16="http://schemas.microsoft.com/office/drawing/2014/main" id="{E290B6E4-4C6A-D92F-FFFC-B388B784351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7F4EE37-279F-308C-F87F-6E638DA19370}"/>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D23BED-35EB-2EF2-62D6-17D1E3CB000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F06FBF5-D468-2472-2E09-3659EB0BF5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Limitations of Manual Analysis</a:t>
            </a:r>
          </a:p>
        </p:txBody>
      </p:sp>
      <p:sp>
        <p:nvSpPr>
          <p:cNvPr id="19" name="TextBox 18"/>
          <p:cNvSpPr txBox="1"/>
          <p:nvPr/>
        </p:nvSpPr>
        <p:spPr>
          <a:xfrm>
            <a:off x="685800" y="1325880"/>
            <a:ext cx="8778240" cy="4508927"/>
          </a:xfrm>
          <a:prstGeom prst="rect">
            <a:avLst/>
          </a:prstGeom>
          <a:noFill/>
        </p:spPr>
        <p:txBody>
          <a:bodyPr wrap="square">
            <a:spAutoFit/>
          </a:bodyPr>
          <a:lstStyle/>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Manual analysis is time-consuming and does not scale.</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Missing or filled-in values silently distort averages and discounts.</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Non-AC products in the data inflate counts and skew statistics.</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Brand-wise and size-wise patterns are hard to see without charts.</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Outliers (e.g. ₹1.28 lakh cassette ACs) are easy to miss by eye.</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Manual comparison increases the risk of human error.</a:t>
            </a:r>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grpSp>
        <p:nvGrpSpPr>
          <p:cNvPr id="3" name="object 3">
            <a:extLst>
              <a:ext uri="{FF2B5EF4-FFF2-40B4-BE49-F238E27FC236}">
                <a16:creationId xmlns:a16="http://schemas.microsoft.com/office/drawing/2014/main" id="{39A132B5-7282-BB0D-41D0-2D605FAF9D2A}"/>
              </a:ext>
            </a:extLst>
          </p:cNvPr>
          <p:cNvGrpSpPr/>
          <p:nvPr/>
        </p:nvGrpSpPr>
        <p:grpSpPr>
          <a:xfrm>
            <a:off x="2743200" y="228600"/>
            <a:ext cx="4997767" cy="1092279"/>
            <a:chOff x="2703195" y="86439"/>
            <a:chExt cx="4997767" cy="1092279"/>
          </a:xfrm>
        </p:grpSpPr>
        <p:pic>
          <p:nvPicPr>
            <p:cNvPr id="5" name="object 5">
              <a:extLst>
                <a:ext uri="{FF2B5EF4-FFF2-40B4-BE49-F238E27FC236}">
                  <a16:creationId xmlns:a16="http://schemas.microsoft.com/office/drawing/2014/main" id="{19E5F2C6-879E-09C8-70D8-F12E4105BA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2F6F0F7-7EC3-7119-588E-9CA45688A5E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FF94120-5DAA-BA86-6F61-CE59BF796C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374808"/>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Proposed Approach</a:t>
            </a:r>
          </a:p>
        </p:txBody>
      </p:sp>
      <p:sp>
        <p:nvSpPr>
          <p:cNvPr id="19" name="TextBox 18"/>
          <p:cNvSpPr txBox="1"/>
          <p:nvPr/>
        </p:nvSpPr>
        <p:spPr>
          <a:xfrm>
            <a:off x="777240" y="1234440"/>
            <a:ext cx="8503920" cy="4167808"/>
          </a:xfrm>
          <a:prstGeom prst="rect">
            <a:avLst/>
          </a:prstGeom>
          <a:noFill/>
        </p:spPr>
        <p:txBody>
          <a:bodyPr wrap="square">
            <a:spAutoFit/>
          </a:bodyPr>
          <a:lstStyle/>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Web-scrape product listings from Amazon India and load the data</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Convert text fields to numbers; audit missing and placeholder values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Remove non-AC items (stands, motors, portable coolers)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Extract tonnage, energy star, and brand from product names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Descriptive statistics on price, discount, and rating</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Brand-wise, tonnage-wise, and star-wise comparison</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Visualization: bar, pie, histogram, correlation heatmap</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Summarise key insights and findings</a:t>
            </a:r>
          </a:p>
        </p:txBody>
      </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DATASET DESCRIPTION</a:t>
            </a:r>
          </a:p>
        </p:txBody>
      </p:sp>
      <p:sp>
        <p:nvSpPr>
          <p:cNvPr id="19" name="TextBox 18"/>
          <p:cNvSpPr txBox="1"/>
          <p:nvPr/>
        </p:nvSpPr>
        <p:spPr>
          <a:xfrm>
            <a:off x="777240" y="1143000"/>
            <a:ext cx="8046720" cy="461665"/>
          </a:xfrm>
          <a:prstGeom prst="rect">
            <a:avLst/>
          </a:prstGeom>
          <a:noFill/>
        </p:spPr>
        <p:txBody>
          <a:bodyPr wrap="square">
            <a:spAutoFit/>
          </a:bodyPr>
          <a:lstStyle/>
          <a:p>
            <a:pPr algn="ctr">
              <a:spcAft>
                <a:spcPts val="700"/>
              </a:spcAft>
              <a:defRPr sz="1900" b="1">
                <a:solidFill>
                  <a:srgbClr val="233464"/>
                </a:solidFill>
                <a:latin typeface="Aptos"/>
              </a:defRPr>
            </a:pPr>
            <a:r>
              <a:rPr sz="2400" dirty="0">
                <a:latin typeface="Times New Roman" pitchFamily="18" charset="0"/>
                <a:cs typeface="Times New Roman" pitchFamily="18" charset="0"/>
              </a:rPr>
              <a:t>Web-scraped Amazon India "Air Conditioners" listings (Mar 2023) — key fields</a:t>
            </a:r>
          </a:p>
        </p:txBody>
      </p:sp>
      <p:graphicFrame>
        <p:nvGraphicFramePr>
          <p:cNvPr id="20" name="Table 19"/>
          <p:cNvGraphicFramePr>
            <a:graphicFrameLocks noGrp="1"/>
          </p:cNvGraphicFramePr>
          <p:nvPr/>
        </p:nvGraphicFramePr>
        <p:xfrm>
          <a:off x="411480" y="1965960"/>
          <a:ext cx="4480560" cy="301752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31074">
                <a:tc>
                  <a:txBody>
                    <a:bodyPr/>
                    <a:lstStyle/>
                    <a:p>
                      <a:pPr>
                        <a:defRPr sz="1100" b="1">
                          <a:solidFill>
                            <a:srgbClr val="FFFFFF"/>
                          </a:solidFill>
                          <a:latin typeface="Times New Roman"/>
                        </a:defRPr>
                      </a:pPr>
                      <a:r>
                        <a:t>Field</a:t>
                      </a:r>
                    </a:p>
                  </a:txBody>
                  <a:tcPr marT="25400" marB="25400">
                    <a:solidFill>
                      <a:srgbClr val="233464"/>
                    </a:solidFill>
                  </a:tcPr>
                </a:tc>
                <a:tc>
                  <a:txBody>
                    <a:bodyPr/>
                    <a:lstStyle/>
                    <a:p>
                      <a:pPr>
                        <a:defRPr sz="1100" b="1">
                          <a:solidFill>
                            <a:srgbClr val="FFFFFF"/>
                          </a:solidFill>
                          <a:latin typeface="Times New Roman"/>
                        </a:defRPr>
                      </a:pPr>
                      <a:r>
                        <a:t>Description</a:t>
                      </a:r>
                    </a:p>
                  </a:txBody>
                  <a:tcPr marT="25400" marB="25400">
                    <a:solidFill>
                      <a:srgbClr val="233464"/>
                    </a:solidFill>
                  </a:tcPr>
                </a:tc>
                <a:extLst>
                  <a:ext uri="{0D108BD9-81ED-4DB2-BD59-A6C34878D82A}">
                    <a16:rowId xmlns:a16="http://schemas.microsoft.com/office/drawing/2014/main" val="10000"/>
                  </a:ext>
                </a:extLst>
              </a:tr>
              <a:tr h="431074">
                <a:tc>
                  <a:txBody>
                    <a:bodyPr/>
                    <a:lstStyle/>
                    <a:p>
                      <a:pPr>
                        <a:defRPr sz="1100">
                          <a:solidFill>
                            <a:srgbClr val="2D2D2D"/>
                          </a:solidFill>
                          <a:latin typeface="Times New Roman"/>
                        </a:defRPr>
                      </a:pPr>
                      <a:r>
                        <a:t>name</a:t>
                      </a:r>
                    </a:p>
                  </a:txBody>
                  <a:tcPr marT="25400" marB="25400">
                    <a:solidFill>
                      <a:srgbClr val="FFFFFF"/>
                    </a:solidFill>
                  </a:tcPr>
                </a:tc>
                <a:tc>
                  <a:txBody>
                    <a:bodyPr/>
                    <a:lstStyle/>
                    <a:p>
                      <a:pPr>
                        <a:defRPr sz="1100">
                          <a:solidFill>
                            <a:srgbClr val="2D2D2D"/>
                          </a:solidFill>
                          <a:latin typeface="Times New Roman"/>
                        </a:defRPr>
                      </a:pPr>
                      <a:r>
                        <a:t>Product title (source for brand, tonnage, stars)</a:t>
                      </a:r>
                    </a:p>
                  </a:txBody>
                  <a:tcPr marT="25400" marB="25400">
                    <a:solidFill>
                      <a:srgbClr val="FFFFFF"/>
                    </a:solidFill>
                  </a:tcPr>
                </a:tc>
                <a:extLst>
                  <a:ext uri="{0D108BD9-81ED-4DB2-BD59-A6C34878D82A}">
                    <a16:rowId xmlns:a16="http://schemas.microsoft.com/office/drawing/2014/main" val="10001"/>
                  </a:ext>
                </a:extLst>
              </a:tr>
              <a:tr h="431074">
                <a:tc>
                  <a:txBody>
                    <a:bodyPr/>
                    <a:lstStyle/>
                    <a:p>
                      <a:pPr>
                        <a:defRPr sz="1100">
                          <a:solidFill>
                            <a:srgbClr val="2D2D2D"/>
                          </a:solidFill>
                          <a:latin typeface="Times New Roman"/>
                        </a:defRPr>
                      </a:pPr>
                      <a:r>
                        <a:t>ratings / no_of_ratings</a:t>
                      </a:r>
                    </a:p>
                  </a:txBody>
                  <a:tcPr marT="25400" marB="25400">
                    <a:solidFill>
                      <a:srgbClr val="F4F6FB"/>
                    </a:solidFill>
                  </a:tcPr>
                </a:tc>
                <a:tc>
                  <a:txBody>
                    <a:bodyPr/>
                    <a:lstStyle/>
                    <a:p>
                      <a:pPr>
                        <a:defRPr sz="1100">
                          <a:solidFill>
                            <a:srgbClr val="2D2D2D"/>
                          </a:solidFill>
                          <a:latin typeface="Times New Roman"/>
                        </a:defRPr>
                      </a:pPr>
                      <a:r>
                        <a:t>Average rating (1–5) / number of reviews</a:t>
                      </a:r>
                    </a:p>
                  </a:txBody>
                  <a:tcPr marT="25400" marB="25400">
                    <a:solidFill>
                      <a:srgbClr val="F4F6FB"/>
                    </a:solidFill>
                  </a:tcPr>
                </a:tc>
                <a:extLst>
                  <a:ext uri="{0D108BD9-81ED-4DB2-BD59-A6C34878D82A}">
                    <a16:rowId xmlns:a16="http://schemas.microsoft.com/office/drawing/2014/main" val="10002"/>
                  </a:ext>
                </a:extLst>
              </a:tr>
              <a:tr h="431074">
                <a:tc>
                  <a:txBody>
                    <a:bodyPr/>
                    <a:lstStyle/>
                    <a:p>
                      <a:pPr>
                        <a:defRPr sz="1100">
                          <a:solidFill>
                            <a:srgbClr val="2D2D2D"/>
                          </a:solidFill>
                          <a:latin typeface="Times New Roman"/>
                        </a:defRPr>
                      </a:pPr>
                      <a:r>
                        <a:t>discount_price</a:t>
                      </a:r>
                    </a:p>
                  </a:txBody>
                  <a:tcPr marT="25400" marB="25400">
                    <a:solidFill>
                      <a:srgbClr val="FFFFFF"/>
                    </a:solidFill>
                  </a:tcPr>
                </a:tc>
                <a:tc>
                  <a:txBody>
                    <a:bodyPr/>
                    <a:lstStyle/>
                    <a:p>
                      <a:pPr>
                        <a:defRPr sz="1100">
                          <a:solidFill>
                            <a:srgbClr val="2D2D2D"/>
                          </a:solidFill>
                          <a:latin typeface="Times New Roman"/>
                        </a:defRPr>
                      </a:pPr>
                      <a:r>
                        <a:t>Selling price on Amazon (₹)</a:t>
                      </a:r>
                    </a:p>
                  </a:txBody>
                  <a:tcPr marT="25400" marB="25400">
                    <a:solidFill>
                      <a:srgbClr val="FFFFFF"/>
                    </a:solidFill>
                  </a:tcPr>
                </a:tc>
                <a:extLst>
                  <a:ext uri="{0D108BD9-81ED-4DB2-BD59-A6C34878D82A}">
                    <a16:rowId xmlns:a16="http://schemas.microsoft.com/office/drawing/2014/main" val="10003"/>
                  </a:ext>
                </a:extLst>
              </a:tr>
              <a:tr h="431074">
                <a:tc>
                  <a:txBody>
                    <a:bodyPr/>
                    <a:lstStyle/>
                    <a:p>
                      <a:pPr>
                        <a:defRPr sz="1100">
                          <a:solidFill>
                            <a:srgbClr val="2D2D2D"/>
                          </a:solidFill>
                          <a:latin typeface="Times New Roman"/>
                        </a:defRPr>
                      </a:pPr>
                      <a:r>
                        <a:t>actual_price</a:t>
                      </a:r>
                    </a:p>
                  </a:txBody>
                  <a:tcPr marT="25400" marB="25400">
                    <a:solidFill>
                      <a:srgbClr val="F4F6FB"/>
                    </a:solidFill>
                  </a:tcPr>
                </a:tc>
                <a:tc>
                  <a:txBody>
                    <a:bodyPr/>
                    <a:lstStyle/>
                    <a:p>
                      <a:pPr>
                        <a:defRPr sz="1100">
                          <a:solidFill>
                            <a:srgbClr val="2D2D2D"/>
                          </a:solidFill>
                          <a:latin typeface="Times New Roman"/>
                        </a:defRPr>
                      </a:pPr>
                      <a:r>
                        <a:t>MRP / list price (₹)</a:t>
                      </a:r>
                    </a:p>
                  </a:txBody>
                  <a:tcPr marT="25400" marB="25400">
                    <a:solidFill>
                      <a:srgbClr val="F4F6FB"/>
                    </a:solidFill>
                  </a:tcPr>
                </a:tc>
                <a:extLst>
                  <a:ext uri="{0D108BD9-81ED-4DB2-BD59-A6C34878D82A}">
                    <a16:rowId xmlns:a16="http://schemas.microsoft.com/office/drawing/2014/main" val="10004"/>
                  </a:ext>
                </a:extLst>
              </a:tr>
              <a:tr h="431074">
                <a:tc>
                  <a:txBody>
                    <a:bodyPr/>
                    <a:lstStyle/>
                    <a:p>
                      <a:pPr>
                        <a:defRPr sz="1100">
                          <a:solidFill>
                            <a:srgbClr val="2D2D2D"/>
                          </a:solidFill>
                          <a:latin typeface="Times New Roman"/>
                        </a:defRPr>
                      </a:pPr>
                      <a:r>
                        <a:t>tonnage / energy_star</a:t>
                      </a:r>
                    </a:p>
                  </a:txBody>
                  <a:tcPr marT="25400" marB="25400">
                    <a:solidFill>
                      <a:srgbClr val="FFFFFF"/>
                    </a:solidFill>
                  </a:tcPr>
                </a:tc>
                <a:tc>
                  <a:txBody>
                    <a:bodyPr/>
                    <a:lstStyle/>
                    <a:p>
                      <a:pPr>
                        <a:defRPr sz="1100">
                          <a:solidFill>
                            <a:srgbClr val="2D2D2D"/>
                          </a:solidFill>
                          <a:latin typeface="Times New Roman"/>
                        </a:defRPr>
                      </a:pPr>
                      <a:r>
                        <a:t>Cooling capacity and star rating (extracted)</a:t>
                      </a:r>
                    </a:p>
                  </a:txBody>
                  <a:tcPr marT="25400" marB="25400">
                    <a:solidFill>
                      <a:srgbClr val="FFFFFF"/>
                    </a:solidFill>
                  </a:tcPr>
                </a:tc>
                <a:extLst>
                  <a:ext uri="{0D108BD9-81ED-4DB2-BD59-A6C34878D82A}">
                    <a16:rowId xmlns:a16="http://schemas.microsoft.com/office/drawing/2014/main" val="10005"/>
                  </a:ext>
                </a:extLst>
              </a:tr>
              <a:tr h="431076">
                <a:tc>
                  <a:txBody>
                    <a:bodyPr/>
                    <a:lstStyle/>
                    <a:p>
                      <a:pPr>
                        <a:defRPr sz="1100">
                          <a:solidFill>
                            <a:srgbClr val="2D2D2D"/>
                          </a:solidFill>
                          <a:latin typeface="Times New Roman"/>
                        </a:defRPr>
                      </a:pPr>
                      <a:r>
                        <a:t>discount_percent / brand</a:t>
                      </a:r>
                    </a:p>
                  </a:txBody>
                  <a:tcPr marT="25400" marB="25400">
                    <a:solidFill>
                      <a:srgbClr val="F4F6FB"/>
                    </a:solidFill>
                  </a:tcPr>
                </a:tc>
                <a:tc>
                  <a:txBody>
                    <a:bodyPr/>
                    <a:lstStyle/>
                    <a:p>
                      <a:pPr>
                        <a:defRPr sz="1100">
                          <a:solidFill>
                            <a:srgbClr val="2D2D2D"/>
                          </a:solidFill>
                          <a:latin typeface="Times New Roman"/>
                        </a:defRPr>
                      </a:pPr>
                      <a:r>
                        <a:t>Derived: (MRP − price) / MRP; brand from name</a:t>
                      </a:r>
                    </a:p>
                  </a:txBody>
                  <a:tcPr marT="25400" marB="25400">
                    <a:solidFill>
                      <a:srgbClr val="F4F6FB"/>
                    </a:solidFill>
                  </a:tcPr>
                </a:tc>
                <a:extLst>
                  <a:ext uri="{0D108BD9-81ED-4DB2-BD59-A6C34878D82A}">
                    <a16:rowId xmlns:a16="http://schemas.microsoft.com/office/drawing/2014/main" val="10006"/>
                  </a:ext>
                </a:extLst>
              </a:tr>
            </a:tbl>
          </a:graphicData>
        </a:graphic>
      </p:graphicFrame>
      <p:sp>
        <p:nvSpPr>
          <p:cNvPr id="21" name="Rounded Rectangle 20"/>
          <p:cNvSpPr/>
          <p:nvPr/>
        </p:nvSpPr>
        <p:spPr>
          <a:xfrm>
            <a:off x="5074920" y="196596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dirty="0">
                <a:solidFill>
                  <a:srgbClr val="FF6600"/>
                </a:solidFill>
                <a:latin typeface="Times New Roman"/>
              </a:rPr>
              <a:t>Dataset Snapshot</a:t>
            </a:r>
          </a:p>
          <a:p>
            <a:r>
              <a:rPr sz="1100" dirty="0">
                <a:solidFill>
                  <a:srgbClr val="2D2D2D"/>
                </a:solidFill>
                <a:latin typeface="Times New Roman"/>
              </a:rPr>
              <a:t>720 raw listings  |  9 columns → 1</a:t>
            </a:r>
            <a:r>
              <a:rPr lang="en-US" sz="1100" dirty="0">
                <a:solidFill>
                  <a:srgbClr val="2D2D2D"/>
                </a:solidFill>
                <a:latin typeface="Times New Roman"/>
              </a:rPr>
              <a:t>4</a:t>
            </a:r>
            <a:r>
              <a:rPr sz="1100" dirty="0">
                <a:solidFill>
                  <a:srgbClr val="2D2D2D"/>
                </a:solidFill>
                <a:latin typeface="Times New Roman"/>
              </a:rPr>
              <a:t> after cleaning</a:t>
            </a:r>
          </a:p>
        </p:txBody>
      </p:sp>
      <p:sp>
        <p:nvSpPr>
          <p:cNvPr id="22" name="Rounded Rectangle 21"/>
          <p:cNvSpPr/>
          <p:nvPr/>
        </p:nvSpPr>
        <p:spPr>
          <a:xfrm>
            <a:off x="5074920" y="297180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a:solidFill>
                  <a:srgbClr val="FF6600"/>
                </a:solidFill>
                <a:latin typeface="Times New Roman"/>
              </a:rPr>
              <a:t>Data Quality Checks</a:t>
            </a:r>
          </a:p>
          <a:p>
            <a:r>
              <a:rPr sz="1100">
                <a:solidFill>
                  <a:srgbClr val="2D2D2D"/>
                </a:solidFill>
                <a:latin typeface="Times New Roman"/>
              </a:rPr>
              <a:t>68 non-AC items removed • missing prices/ratings kept as blanks (not median-filled) • brands standardised</a:t>
            </a:r>
          </a:p>
        </p:txBody>
      </p:sp>
      <p:sp>
        <p:nvSpPr>
          <p:cNvPr id="23" name="Rounded Rectangle 22"/>
          <p:cNvSpPr/>
          <p:nvPr/>
        </p:nvSpPr>
        <p:spPr>
          <a:xfrm>
            <a:off x="5074920" y="3977639"/>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a:solidFill>
                  <a:srgbClr val="FF6600"/>
                </a:solidFill>
                <a:latin typeface="Times New Roman"/>
              </a:rPr>
              <a:t>Tools &amp; Libraries</a:t>
            </a:r>
          </a:p>
          <a:p>
            <a:r>
              <a:rPr sz="1100">
                <a:solidFill>
                  <a:srgbClr val="2D2D2D"/>
                </a:solidFill>
                <a:latin typeface="Times New Roman"/>
              </a:rPr>
              <a:t>Python • Pandas • NumPy • Matplotlib • Google Colab</a:t>
            </a:r>
          </a:p>
        </p:txBody>
      </p:sp>
      <p:sp>
        <p:nvSpPr>
          <p:cNvPr id="24" name="TextBox 23"/>
          <p:cNvSpPr txBox="1"/>
          <p:nvPr/>
        </p:nvSpPr>
        <p:spPr>
          <a:xfrm>
            <a:off x="411480" y="5120640"/>
            <a:ext cx="9144000" cy="457200"/>
          </a:xfrm>
          <a:prstGeom prst="rect">
            <a:avLst/>
          </a:prstGeom>
          <a:noFill/>
        </p:spPr>
        <p:txBody>
          <a:bodyPr wrap="square">
            <a:spAutoFit/>
          </a:bodyPr>
          <a:lstStyle/>
          <a:p>
            <a:r>
              <a:rPr sz="1200" i="1">
                <a:solidFill>
                  <a:srgbClr val="808080"/>
                </a:solidFill>
                <a:latin typeface="Times New Roman"/>
              </a:rPr>
              <a:t>Final analysis: 652 genuine ACs; 423 with verified prices, 392 with verified ratings.</a:t>
            </a:r>
          </a:p>
        </p:txBody>
      </p:sp>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819400" y="52623"/>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REQUIREMENTS</a:t>
            </a:r>
          </a:p>
        </p:txBody>
      </p:sp>
      <p:sp>
        <p:nvSpPr>
          <p:cNvPr id="21" name="TextBox 20"/>
          <p:cNvSpPr txBox="1"/>
          <p:nvPr/>
        </p:nvSpPr>
        <p:spPr>
          <a:xfrm>
            <a:off x="602036" y="1290958"/>
            <a:ext cx="3840480" cy="461665"/>
          </a:xfrm>
          <a:prstGeom prst="rect">
            <a:avLst/>
          </a:prstGeom>
          <a:noFill/>
        </p:spPr>
        <p:txBody>
          <a:bodyPr wrap="square">
            <a:spAutoFit/>
          </a:bodyPr>
          <a:lstStyle/>
          <a:p>
            <a:pPr algn="l">
              <a:spcAft>
                <a:spcPts val="700"/>
              </a:spcAft>
              <a:defRPr sz="2000" b="1">
                <a:solidFill>
                  <a:srgbClr val="233464"/>
                </a:solidFill>
                <a:latin typeface="Aptos"/>
              </a:defRPr>
            </a:pPr>
            <a:r>
              <a:rPr lang="en-IN" sz="2400" dirty="0">
                <a:latin typeface="Times New Roman" pitchFamily="18" charset="0"/>
                <a:cs typeface="Times New Roman" pitchFamily="18" charset="0"/>
              </a:rPr>
              <a:t>Software Requirements</a:t>
            </a:r>
            <a:endParaRPr sz="2400" dirty="0">
              <a:latin typeface="Times New Roman" pitchFamily="18" charset="0"/>
              <a:cs typeface="Times New Roman" pitchFamily="18" charset="0"/>
            </a:endParaRPr>
          </a:p>
        </p:txBody>
      </p:sp>
      <p:sp>
        <p:nvSpPr>
          <p:cNvPr id="22" name="TextBox 21"/>
          <p:cNvSpPr txBox="1"/>
          <p:nvPr/>
        </p:nvSpPr>
        <p:spPr>
          <a:xfrm>
            <a:off x="807720" y="2209800"/>
            <a:ext cx="4023360" cy="2757165"/>
          </a:xfrm>
          <a:prstGeom prst="rect">
            <a:avLst/>
          </a:prstGeom>
          <a:noFill/>
        </p:spPr>
        <p:txBody>
          <a:bodyPr wrap="square">
            <a:spAutoFit/>
          </a:bodyPr>
          <a:lstStyle/>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Windows</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Python 3</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Google Colab / Jupyter</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Pandas</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NumPy</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Matplotlib</a:t>
            </a:r>
          </a:p>
        </p:txBody>
      </p:sp>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sp>
        <p:nvSpPr>
          <p:cNvPr id="20" name="TextBox 19"/>
          <p:cNvSpPr txBox="1"/>
          <p:nvPr/>
        </p:nvSpPr>
        <p:spPr>
          <a:xfrm>
            <a:off x="42253" y="1115220"/>
            <a:ext cx="9770832" cy="1569660"/>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Module 1 – Data Collection (Web Scraping)</a:t>
            </a:r>
          </a:p>
          <a:p>
            <a:pPr algn="ctr"/>
            <a:r>
              <a:rPr lang="en-US" sz="2400" dirty="0">
                <a:latin typeface="Times New Roman" pitchFamily="18" charset="0"/>
                <a:cs typeface="Times New Roman" pitchFamily="18" charset="0"/>
              </a:rPr>
              <a:t>Scrape AC listings: name, price, rating, link.</a:t>
            </a:r>
          </a:p>
          <a:p>
            <a:pPr algn="ctr"/>
            <a:r>
              <a:rPr lang="en-US" sz="2400" dirty="0">
                <a:latin typeface="Times New Roman" pitchFamily="18" charset="0"/>
                <a:cs typeface="Times New Roman" pitchFamily="18" charset="0"/>
              </a:rPr>
              <a:t>Load scraped CSV (720 rows, 9 columns) in Pandas.</a:t>
            </a:r>
          </a:p>
          <a:p>
            <a:pPr algn="ctr"/>
            <a:endParaRPr lang="en-US" sz="2400" dirty="0">
              <a:latin typeface="Times New Roman" pitchFamily="18" charset="0"/>
              <a:cs typeface="Times New Roman" pitchFamily="18" charset="0"/>
            </a:endParaRPr>
          </a:p>
        </p:txBody>
      </p:sp>
      <p:sp>
        <p:nvSpPr>
          <p:cNvPr id="4" name="Arrow: Down 3">
            <a:extLst>
              <a:ext uri="{FF2B5EF4-FFF2-40B4-BE49-F238E27FC236}">
                <a16:creationId xmlns:a16="http://schemas.microsoft.com/office/drawing/2014/main" id="{52502A97-D245-72B2-C4CE-36C3CF74332D}"/>
              </a:ext>
            </a:extLst>
          </p:cNvPr>
          <p:cNvSpPr/>
          <p:nvPr/>
        </p:nvSpPr>
        <p:spPr>
          <a:xfrm>
            <a:off x="4796282" y="237393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0E34B842-9CD3-AA46-6CA7-F730C9D1D96E}"/>
              </a:ext>
            </a:extLst>
          </p:cNvPr>
          <p:cNvSpPr txBox="1"/>
          <p:nvPr/>
        </p:nvSpPr>
        <p:spPr>
          <a:xfrm>
            <a:off x="2425647" y="2609096"/>
            <a:ext cx="4931158" cy="1569660"/>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Module 2 – Data Exploration</a:t>
            </a:r>
          </a:p>
          <a:p>
            <a:pPr lvl="0" algn="ctr"/>
            <a:r>
              <a:rPr lang="en-IN" sz="2400" dirty="0">
                <a:latin typeface="Times New Roman" panose="02020603050405020304" pitchFamily="18" charset="0"/>
                <a:cs typeface="Times New Roman" panose="02020603050405020304" pitchFamily="18" charset="0"/>
              </a:rPr>
              <a:t>Check shape, data types, and summary statistics.</a:t>
            </a:r>
          </a:p>
          <a:p>
            <a:pPr lvl="0" algn="ctr"/>
            <a:r>
              <a:rPr lang="en-IN" sz="2400" dirty="0">
                <a:latin typeface="Times New Roman" panose="02020603050405020304" pitchFamily="18" charset="0"/>
                <a:cs typeface="Times New Roman" panose="02020603050405020304" pitchFamily="18" charset="0"/>
              </a:rPr>
              <a:t>Verify categories (all "Air Conditioners").</a:t>
            </a:r>
          </a:p>
          <a:p>
            <a:pPr algn="ctr"/>
            <a:endParaRPr lang="en-IN" sz="2400" dirty="0">
              <a:latin typeface="Times New Roman" panose="02020603050405020304" pitchFamily="18" charset="0"/>
              <a:cs typeface="Times New Roman" panose="02020603050405020304" pitchFamily="18" charset="0"/>
            </a:endParaRPr>
          </a:p>
        </p:txBody>
      </p:sp>
      <p:sp>
        <p:nvSpPr>
          <p:cNvPr id="15" name="Arrow: Down 14">
            <a:extLst>
              <a:ext uri="{FF2B5EF4-FFF2-40B4-BE49-F238E27FC236}">
                <a16:creationId xmlns:a16="http://schemas.microsoft.com/office/drawing/2014/main" id="{D18714A5-46F1-BD0D-4A00-BB0C1211F660}"/>
              </a:ext>
            </a:extLst>
          </p:cNvPr>
          <p:cNvSpPr/>
          <p:nvPr/>
        </p:nvSpPr>
        <p:spPr>
          <a:xfrm>
            <a:off x="4756604" y="381464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D359C03E-C4CB-43D3-0C7D-3D50822A8B32}"/>
              </a:ext>
            </a:extLst>
          </p:cNvPr>
          <p:cNvSpPr txBox="1"/>
          <p:nvPr/>
        </p:nvSpPr>
        <p:spPr>
          <a:xfrm>
            <a:off x="2986011" y="4228115"/>
            <a:ext cx="4086375" cy="1200329"/>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Module 3 – Data Cleaning</a:t>
            </a:r>
          </a:p>
          <a:p>
            <a:pPr lvl="0" algn="ctr"/>
            <a:r>
              <a:rPr lang="en-IN" sz="2400" dirty="0">
                <a:latin typeface="Times New Roman" panose="02020603050405020304" pitchFamily="18" charset="0"/>
                <a:cs typeface="Times New Roman" panose="02020603050405020304" pitchFamily="18" charset="0"/>
              </a:rPr>
              <a:t>Convert text prices and ratings to numbers.</a:t>
            </a:r>
          </a:p>
          <a:p>
            <a:pPr lvl="0" algn="ctr"/>
            <a:r>
              <a:rPr lang="en-IN" sz="2400" dirty="0">
                <a:latin typeface="Times New Roman" panose="02020603050405020304" pitchFamily="18" charset="0"/>
                <a:cs typeface="Times New Roman" panose="02020603050405020304" pitchFamily="18" charset="0"/>
              </a:rPr>
              <a:t>Keep missing prices as blanks — no median filling.</a:t>
            </a:r>
          </a:p>
        </p:txBody>
      </p:sp>
      <p:sp>
        <p:nvSpPr>
          <p:cNvPr id="18" name="Arrow: Down 17">
            <a:extLst>
              <a:ext uri="{FF2B5EF4-FFF2-40B4-BE49-F238E27FC236}">
                <a16:creationId xmlns:a16="http://schemas.microsoft.com/office/drawing/2014/main" id="{E02D8121-E16D-A49A-1052-85D8AFE05F58}"/>
              </a:ext>
            </a:extLst>
          </p:cNvPr>
          <p:cNvSpPr/>
          <p:nvPr/>
        </p:nvSpPr>
        <p:spPr>
          <a:xfrm>
            <a:off x="4754386" y="5469412"/>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21" name="TextBox 20">
            <a:extLst>
              <a:ext uri="{FF2B5EF4-FFF2-40B4-BE49-F238E27FC236}">
                <a16:creationId xmlns:a16="http://schemas.microsoft.com/office/drawing/2014/main" id="{B1C9C953-BED3-2F43-1A1F-3B7650BC3A88}"/>
              </a:ext>
            </a:extLst>
          </p:cNvPr>
          <p:cNvSpPr txBox="1"/>
          <p:nvPr/>
        </p:nvSpPr>
        <p:spPr>
          <a:xfrm>
            <a:off x="2460546" y="5841915"/>
            <a:ext cx="50292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4 – Data Preprocessing</a:t>
            </a:r>
          </a:p>
          <a:p>
            <a:pPr lvl="0" algn="ctr"/>
            <a:r>
              <a:rPr lang="en-IN" sz="2400" dirty="0">
                <a:latin typeface="Times New Roman" panose="02020603050405020304" pitchFamily="18" charset="0"/>
                <a:cs typeface="Times New Roman" panose="02020603050405020304" pitchFamily="18" charset="0"/>
              </a:rPr>
              <a:t>Extract tonnage, stars, brand; remove 68 non-AC items.</a:t>
            </a: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2590800" y="161097"/>
            <a:ext cx="5103904"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2586213" y="413290"/>
            <a:ext cx="5029200" cy="400110"/>
          </a:xfrm>
          <a:prstGeom prst="rect">
            <a:avLst/>
          </a:prstGeom>
          <a:noFill/>
        </p:spPr>
        <p:txBody>
          <a:bodyPr wrap="square">
            <a:spAutoFit/>
          </a:bodyPr>
          <a:lstStyle/>
          <a:p>
            <a:pPr algn="ctr">
              <a:spcAft>
                <a:spcPts val="700"/>
              </a:spcAft>
              <a:defRPr sz="2200" b="1">
                <a:solidFill>
                  <a:srgbClr val="233464"/>
                </a:solidFill>
                <a:latin typeface="Aptos"/>
              </a:defRPr>
            </a:pPr>
            <a:r>
              <a:rPr lang="en-IN" sz="2000" dirty="0">
                <a:solidFill>
                  <a:schemeClr val="bg1"/>
                </a:solidFill>
                <a:latin typeface="Times New Roman" pitchFamily="18" charset="0"/>
                <a:cs typeface="Times New Roman" pitchFamily="18" charset="0"/>
              </a:rPr>
              <a:t>METHODOLOGY</a:t>
            </a:r>
          </a:p>
        </p:txBody>
      </p:sp>
      <p:sp>
        <p:nvSpPr>
          <p:cNvPr id="27" name="TextBox 26">
            <a:extLst>
              <a:ext uri="{FF2B5EF4-FFF2-40B4-BE49-F238E27FC236}">
                <a16:creationId xmlns:a16="http://schemas.microsoft.com/office/drawing/2014/main" id="{769BA950-6049-F76A-4A0C-CF5ED87D2763}"/>
              </a:ext>
            </a:extLst>
          </p:cNvPr>
          <p:cNvSpPr txBox="1"/>
          <p:nvPr/>
        </p:nvSpPr>
        <p:spPr>
          <a:xfrm>
            <a:off x="1816265" y="953427"/>
            <a:ext cx="6652974"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5 – Exploratory Data Analysis (EDA)</a:t>
            </a:r>
          </a:p>
          <a:p>
            <a:pPr lvl="0" algn="ctr"/>
            <a:r>
              <a:rPr lang="en-IN" sz="2400" dirty="0" err="1">
                <a:latin typeface="Times New Roman" panose="02020603050405020304" pitchFamily="18" charset="0"/>
                <a:cs typeface="Times New Roman" panose="02020603050405020304" pitchFamily="18" charset="0"/>
              </a:rPr>
              <a:t>Analyze price, discount, and rating distributions.</a:t>
            </a:r>
          </a:p>
          <a:p>
            <a:pPr lvl="0" algn="ctr"/>
            <a:r>
              <a:rPr lang="en-IN" sz="2400" dirty="0">
                <a:latin typeface="Times New Roman" panose="02020603050405020304" pitchFamily="18" charset="0"/>
                <a:cs typeface="Times New Roman" panose="02020603050405020304" pitchFamily="18" charset="0"/>
              </a:rPr>
              <a:t>Explore price–rating–size relationships.</a:t>
            </a:r>
          </a:p>
        </p:txBody>
      </p:sp>
      <p:sp>
        <p:nvSpPr>
          <p:cNvPr id="29" name="Arrow: Down 28">
            <a:extLst>
              <a:ext uri="{FF2B5EF4-FFF2-40B4-BE49-F238E27FC236}">
                <a16:creationId xmlns:a16="http://schemas.microsoft.com/office/drawing/2014/main" id="{3B0312D2-1C2D-0FC3-47A4-8970E0D691E7}"/>
              </a:ext>
            </a:extLst>
          </p:cNvPr>
          <p:cNvSpPr/>
          <p:nvPr/>
        </p:nvSpPr>
        <p:spPr>
          <a:xfrm>
            <a:off x="4850336" y="2242125"/>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6FA49019-54D3-0F1F-3651-5D4892AE3078}"/>
              </a:ext>
            </a:extLst>
          </p:cNvPr>
          <p:cNvSpPr txBox="1"/>
          <p:nvPr/>
        </p:nvSpPr>
        <p:spPr>
          <a:xfrm>
            <a:off x="2590800" y="2612335"/>
            <a:ext cx="48768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6 – Trend Analysis</a:t>
            </a:r>
          </a:p>
          <a:p>
            <a:pPr lvl="0" algn="ctr"/>
            <a:r>
              <a:rPr lang="en-IN" sz="2400" dirty="0" err="1">
                <a:latin typeface="Times New Roman" panose="02020603050405020304" pitchFamily="18" charset="0"/>
                <a:cs typeface="Times New Roman" panose="02020603050405020304" pitchFamily="18" charset="0"/>
              </a:rPr>
              <a:t>Compare brands by price.</a:t>
            </a:r>
          </a:p>
          <a:p>
            <a:pPr lvl="0" algn="ctr"/>
            <a:r>
              <a:rPr lang="en-IN" sz="2400" dirty="0">
                <a:latin typeface="Times New Roman" panose="02020603050405020304" pitchFamily="18" charset="0"/>
                <a:cs typeface="Times New Roman" panose="02020603050405020304" pitchFamily="18" charset="0"/>
              </a:rPr>
              <a:t>Compare tonnage and star groups.</a:t>
            </a:r>
          </a:p>
        </p:txBody>
      </p:sp>
      <p:sp>
        <p:nvSpPr>
          <p:cNvPr id="33" name="Arrow: Down 32">
            <a:extLst>
              <a:ext uri="{FF2B5EF4-FFF2-40B4-BE49-F238E27FC236}">
                <a16:creationId xmlns:a16="http://schemas.microsoft.com/office/drawing/2014/main" id="{6D0F4567-D057-4BE7-32A7-334EC2164A2C}"/>
              </a:ext>
            </a:extLst>
          </p:cNvPr>
          <p:cNvSpPr/>
          <p:nvPr/>
        </p:nvSpPr>
        <p:spPr>
          <a:xfrm>
            <a:off x="4850336" y="3959586"/>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5" name="TextBox 34">
            <a:extLst>
              <a:ext uri="{FF2B5EF4-FFF2-40B4-BE49-F238E27FC236}">
                <a16:creationId xmlns:a16="http://schemas.microsoft.com/office/drawing/2014/main" id="{53C43C12-4B70-F721-9E0A-DD8370D3BABC}"/>
              </a:ext>
            </a:extLst>
          </p:cNvPr>
          <p:cNvSpPr txBox="1"/>
          <p:nvPr/>
        </p:nvSpPr>
        <p:spPr>
          <a:xfrm>
            <a:off x="2628152" y="4271243"/>
            <a:ext cx="50292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7 – Data Visualization</a:t>
            </a:r>
          </a:p>
          <a:p>
            <a:pPr lvl="0" algn="ctr"/>
            <a:r>
              <a:rPr lang="en-IN" sz="2400" dirty="0">
                <a:latin typeface="Times New Roman" panose="02020603050405020304" pitchFamily="18" charset="0"/>
                <a:cs typeface="Times New Roman" panose="02020603050405020304" pitchFamily="18" charset="0"/>
              </a:rPr>
              <a:t>Create bar and pie charts.</a:t>
            </a:r>
          </a:p>
          <a:p>
            <a:pPr lvl="0" algn="ctr"/>
            <a:r>
              <a:rPr lang="en-IN" sz="2400" dirty="0">
                <a:latin typeface="Times New Roman" panose="02020603050405020304" pitchFamily="18" charset="0"/>
                <a:cs typeface="Times New Roman" panose="02020603050405020304" pitchFamily="18" charset="0"/>
              </a:rPr>
              <a:t>Show price and star shares.</a:t>
            </a:r>
          </a:p>
        </p:txBody>
      </p:sp>
      <p:sp>
        <p:nvSpPr>
          <p:cNvPr id="37" name="Arrow: Down 36">
            <a:extLst>
              <a:ext uri="{FF2B5EF4-FFF2-40B4-BE49-F238E27FC236}">
                <a16:creationId xmlns:a16="http://schemas.microsoft.com/office/drawing/2014/main" id="{D2A13C47-9211-7F6A-3235-E7CA857CC45D}"/>
              </a:ext>
            </a:extLst>
          </p:cNvPr>
          <p:cNvSpPr/>
          <p:nvPr/>
        </p:nvSpPr>
        <p:spPr>
          <a:xfrm>
            <a:off x="4850336" y="557615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9" name="TextBox 38">
            <a:extLst>
              <a:ext uri="{FF2B5EF4-FFF2-40B4-BE49-F238E27FC236}">
                <a16:creationId xmlns:a16="http://schemas.microsoft.com/office/drawing/2014/main" id="{A378BCE5-A3E9-0942-2521-8A05596F86BE}"/>
              </a:ext>
            </a:extLst>
          </p:cNvPr>
          <p:cNvSpPr txBox="1"/>
          <p:nvPr/>
        </p:nvSpPr>
        <p:spPr>
          <a:xfrm>
            <a:off x="2675624" y="5946716"/>
            <a:ext cx="6392176" cy="1200329"/>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Module 8 – Advanced Visualization</a:t>
            </a:r>
          </a:p>
          <a:p>
            <a:pPr lvl="0"/>
            <a:r>
              <a:rPr lang="en-IN" sz="2400" dirty="0">
                <a:latin typeface="Times New Roman" panose="02020603050405020304" pitchFamily="18" charset="0"/>
                <a:cs typeface="Times New Roman" panose="02020603050405020304" pitchFamily="18" charset="0"/>
              </a:rPr>
              <a:t>Use a price histogram.</a:t>
            </a:r>
          </a:p>
          <a:p>
            <a:pPr lvl="0"/>
            <a:r>
              <a:rPr lang="en-IN" sz="2400" dirty="0">
                <a:latin typeface="Times New Roman" panose="02020603050405020304" pitchFamily="18" charset="0"/>
                <a:cs typeface="Times New Roman" panose="02020603050405020304" pitchFamily="18" charset="0"/>
              </a:rPr>
              <a:t>Create a correlation heatmap.</a:t>
            </a:r>
          </a:p>
        </p:txBody>
      </p:sp>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sp>
        <p:nvSpPr>
          <p:cNvPr id="26" name="TextBox 25"/>
          <p:cNvSpPr txBox="1"/>
          <p:nvPr/>
        </p:nvSpPr>
        <p:spPr>
          <a:xfrm>
            <a:off x="411480" y="1234440"/>
            <a:ext cx="9144000" cy="365760"/>
          </a:xfrm>
          <a:prstGeom prst="rect">
            <a:avLst/>
          </a:prstGeom>
          <a:noFill/>
        </p:spPr>
        <p:txBody>
          <a:bodyPr wrap="none">
            <a:spAutoFit/>
          </a:bodyPr>
          <a:lstStyle/>
          <a:p>
            <a:r>
              <a:rPr sz="1300" i="1">
                <a:solidFill>
                  <a:srgbClr val="808080"/>
                </a:solidFill>
                <a:latin typeface="Times New Roman"/>
              </a:rPr>
              <a:t>Price analysis charts from the scraped AC dataset (423 verified-price ACs)</a:t>
            </a:r>
          </a:p>
        </p:txBody>
      </p:sp>
      <p:pic>
        <p:nvPicPr>
          <p:cNvPr id="31" name="Picture 30" descr="bar.png"/>
          <p:cNvPicPr>
            <a:picLocks noChangeAspect="1"/>
          </p:cNvPicPr>
          <p:nvPr/>
        </p:nvPicPr>
        <p:blipFill>
          <a:blip r:embed="rId5"/>
          <a:stretch>
            <a:fillRect/>
          </a:stretch>
        </p:blipFill>
        <p:spPr>
          <a:xfrm>
            <a:off x="411480" y="1691640"/>
            <a:ext cx="4389120" cy="2926080"/>
          </a:xfrm>
          <a:prstGeom prst="rect">
            <a:avLst/>
          </a:prstGeom>
        </p:spPr>
      </p:pic>
      <p:pic>
        <p:nvPicPr>
          <p:cNvPr id="32" name="Picture 31" descr="pie.png"/>
          <p:cNvPicPr>
            <a:picLocks noChangeAspect="1"/>
          </p:cNvPicPr>
          <p:nvPr/>
        </p:nvPicPr>
        <p:blipFill>
          <a:blip r:embed="rId6"/>
          <a:stretch>
            <a:fillRect/>
          </a:stretch>
        </p:blipFill>
        <p:spPr>
          <a:xfrm>
            <a:off x="5074920" y="1691640"/>
            <a:ext cx="4389120" cy="2926080"/>
          </a:xfrm>
          <a:prstGeom prst="rect">
            <a:avLst/>
          </a:prstGeom>
        </p:spPr>
      </p:pic>
      <p:pic>
        <p:nvPicPr>
          <p:cNvPr id="33" name="Picture 32" descr="hist.png"/>
          <p:cNvPicPr>
            <a:picLocks noChangeAspect="1"/>
          </p:cNvPicPr>
          <p:nvPr/>
        </p:nvPicPr>
        <p:blipFill>
          <a:blip r:embed="rId7"/>
          <a:stretch>
            <a:fillRect/>
          </a:stretch>
        </p:blipFill>
        <p:spPr>
          <a:xfrm>
            <a:off x="411480" y="4709160"/>
            <a:ext cx="4389120" cy="2926080"/>
          </a:xfrm>
          <a:prstGeom prst="rect">
            <a:avLst/>
          </a:prstGeom>
        </p:spPr>
      </p:pic>
      <p:pic>
        <p:nvPicPr>
          <p:cNvPr id="34" name="Picture 33" descr="heat.png"/>
          <p:cNvPicPr>
            <a:picLocks noChangeAspect="1"/>
          </p:cNvPicPr>
          <p:nvPr/>
        </p:nvPicPr>
        <p:blipFill>
          <a:blip r:embed="rId8"/>
          <a:stretch>
            <a:fillRect/>
          </a:stretch>
        </p:blipFill>
        <p:spPr>
          <a:xfrm>
            <a:off x="5274425" y="4709160"/>
            <a:ext cx="3990109" cy="2926080"/>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769441"/>
          </a:xfrm>
          <a:prstGeom prst="rect">
            <a:avLst/>
          </a:prstGeom>
          <a:noFill/>
        </p:spPr>
        <p:txBody>
          <a:bodyPr wrap="square" rtlCol="0">
            <a:spAutoFit/>
          </a:bodyPr>
          <a:lstStyle/>
          <a:p>
            <a:pPr algn="ctr"/>
            <a:r>
              <a:rPr lang="en-IN" sz="2000" dirty="0">
                <a:solidFill>
                  <a:schemeClr val="bg1"/>
                </a:solidFill>
                <a:latin typeface="Times New Roman" pitchFamily="18" charset="0"/>
                <a:cs typeface="Times New Roman" pitchFamily="18" charset="0"/>
              </a:rPr>
              <a:t>Columns Used  </a:t>
            </a:r>
          </a:p>
          <a:p>
            <a:endParaRPr lang="en-US" sz="2400" dirty="0"/>
          </a:p>
        </p:txBody>
      </p:sp>
      <p:sp>
        <p:nvSpPr>
          <p:cNvPr id="10" name="TextBox 9"/>
          <p:cNvSpPr txBox="1"/>
          <p:nvPr/>
        </p:nvSpPr>
        <p:spPr>
          <a:xfrm>
            <a:off x="548640" y="1554480"/>
            <a:ext cx="8961120" cy="5029200"/>
          </a:xfrm>
          <a:prstGeom prst="rect">
            <a:avLst/>
          </a:prstGeom>
          <a:noFill/>
        </p:spPr>
        <p:txBody>
          <a:bodyPr wrap="square">
            <a:spAutoFit/>
          </a:bodyPr>
          <a:lstStyle/>
          <a:p>
            <a:pPr>
              <a:spcAft>
                <a:spcPts val="1400"/>
              </a:spcAft>
            </a:pPr>
            <a:r>
              <a:rPr sz="1700">
                <a:solidFill>
                  <a:srgbClr val="2D2D2D"/>
                </a:solidFill>
                <a:latin typeface="Times New Roman"/>
              </a:rPr>
              <a:t>Bar – Average Price by Brand: brand (grouping) and discount_price (bar length, mean)</a:t>
            </a:r>
          </a:p>
          <a:p>
            <a:pPr>
              <a:spcAft>
                <a:spcPts val="1400"/>
              </a:spcAft>
            </a:pPr>
            <a:r>
              <a:rPr sz="1700">
                <a:solidFill>
                  <a:srgbClr val="2D2D2D"/>
                </a:solidFill>
                <a:latin typeface="Times New Roman"/>
              </a:rPr>
              <a:t>Pie – Energy Star Rating Share: energy_star (slice category) and count of listings per star</a:t>
            </a:r>
          </a:p>
          <a:p>
            <a:pPr>
              <a:spcAft>
                <a:spcPts val="1400"/>
              </a:spcAft>
            </a:pPr>
            <a:r>
              <a:rPr sz="1700">
                <a:solidFill>
                  <a:srgbClr val="2D2D2D"/>
                </a:solidFill>
                <a:latin typeface="Times New Roman"/>
              </a:rPr>
              <a:t>Histogram – Price Distribution: discount_price (binned) and count of products per bin</a:t>
            </a:r>
          </a:p>
          <a:p>
            <a:pPr>
              <a:spcAft>
                <a:spcPts val="1400"/>
              </a:spcAft>
            </a:pPr>
            <a:r>
              <a:rPr sz="1700">
                <a:solidFill>
                  <a:srgbClr val="2D2D2D"/>
                </a:solidFill>
                <a:latin typeface="Times New Roman"/>
              </a:rPr>
              <a:t>Correlation Heatmap: discount_price, actual_price, discount_percent, tonnage, energy_star, ratings, no_of_ratings</a:t>
            </a:r>
          </a:p>
          <a:p>
            <a:pPr>
              <a:spcAft>
                <a:spcPts val="1400"/>
              </a:spcAft>
            </a:pPr>
            <a:r>
              <a:rPr sz="1700">
                <a:solidFill>
                  <a:srgbClr val="2D2D2D"/>
                </a:solidFill>
                <a:latin typeface="Times New Roman"/>
              </a:rPr>
              <a:t>Scatter – Price vs Rating: discount_price (x-axis) and ratings (y-axis)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  </a:t>
            </a:r>
            <a:endParaRPr dirty="0">
              <a:solidFill>
                <a:schemeClr val="bg1"/>
              </a:solidFill>
              <a:latin typeface="Times New Roman" pitchFamily="18" charset="0"/>
              <a:cs typeface="Times New Roman" pitchFamily="18" charset="0"/>
            </a:endParaRPr>
          </a:p>
        </p:txBody>
      </p:sp>
      <p:pic>
        <p:nvPicPr>
          <p:cNvPr id="27" name="Picture 26" descr="01_price_distribution.png"/>
          <p:cNvPicPr>
            <a:picLocks noChangeAspect="1"/>
          </p:cNvPicPr>
          <p:nvPr/>
        </p:nvPicPr>
        <p:blipFill>
          <a:blip r:embed="rId5"/>
          <a:stretch>
            <a:fillRect/>
          </a:stretch>
        </p:blipFill>
        <p:spPr>
          <a:xfrm>
            <a:off x="411480" y="1874519"/>
            <a:ext cx="3063240" cy="1701800"/>
          </a:xfrm>
          <a:prstGeom prst="rect">
            <a:avLst/>
          </a:prstGeom>
        </p:spPr>
      </p:pic>
      <p:pic>
        <p:nvPicPr>
          <p:cNvPr id="28" name="Picture 27" descr="02_average_price_by_brand.png"/>
          <p:cNvPicPr>
            <a:picLocks noChangeAspect="1"/>
          </p:cNvPicPr>
          <p:nvPr/>
        </p:nvPicPr>
        <p:blipFill>
          <a:blip r:embed="rId6"/>
          <a:stretch>
            <a:fillRect/>
          </a:stretch>
        </p:blipFill>
        <p:spPr>
          <a:xfrm>
            <a:off x="3611880" y="1874519"/>
            <a:ext cx="3063240" cy="1701800"/>
          </a:xfrm>
          <a:prstGeom prst="rect">
            <a:avLst/>
          </a:prstGeom>
        </p:spPr>
      </p:pic>
      <p:pic>
        <p:nvPicPr>
          <p:cNvPr id="29" name="Picture 28" descr="03_products_by_brand.png"/>
          <p:cNvPicPr>
            <a:picLocks noChangeAspect="1"/>
          </p:cNvPicPr>
          <p:nvPr/>
        </p:nvPicPr>
        <p:blipFill>
          <a:blip r:embed="rId7"/>
          <a:stretch>
            <a:fillRect/>
          </a:stretch>
        </p:blipFill>
        <p:spPr>
          <a:xfrm>
            <a:off x="6812280" y="1874519"/>
            <a:ext cx="3063240" cy="1701800"/>
          </a:xfrm>
          <a:prstGeom prst="rect">
            <a:avLst/>
          </a:prstGeom>
        </p:spPr>
      </p:pic>
      <p:pic>
        <p:nvPicPr>
          <p:cNvPr id="30" name="Picture 29" descr="04_price_vs_rating.png"/>
          <p:cNvPicPr>
            <a:picLocks noChangeAspect="1"/>
          </p:cNvPicPr>
          <p:nvPr/>
        </p:nvPicPr>
        <p:blipFill>
          <a:blip r:embed="rId8"/>
          <a:stretch>
            <a:fillRect/>
          </a:stretch>
        </p:blipFill>
        <p:spPr>
          <a:xfrm>
            <a:off x="411480" y="3896360"/>
            <a:ext cx="3063240" cy="1701800"/>
          </a:xfrm>
          <a:prstGeom prst="rect">
            <a:avLst/>
          </a:prstGeom>
        </p:spPr>
      </p:pic>
      <p:pic>
        <p:nvPicPr>
          <p:cNvPr id="31" name="Picture 30" descr="05_discount_distribution.png"/>
          <p:cNvPicPr>
            <a:picLocks noChangeAspect="1"/>
          </p:cNvPicPr>
          <p:nvPr/>
        </p:nvPicPr>
        <p:blipFill>
          <a:blip r:embed="rId9"/>
          <a:stretch>
            <a:fillRect/>
          </a:stretch>
        </p:blipFill>
        <p:spPr>
          <a:xfrm>
            <a:off x="3611880" y="3896360"/>
            <a:ext cx="3063240" cy="1701800"/>
          </a:xfrm>
          <a:prstGeom prst="rect">
            <a:avLst/>
          </a:prstGeom>
        </p:spPr>
      </p:pic>
      <p:pic>
        <p:nvPicPr>
          <p:cNvPr id="32" name="Picture 31" descr="06_rating_distribution.png"/>
          <p:cNvPicPr>
            <a:picLocks noChangeAspect="1"/>
          </p:cNvPicPr>
          <p:nvPr/>
        </p:nvPicPr>
        <p:blipFill>
          <a:blip r:embed="rId10"/>
          <a:stretch>
            <a:fillRect/>
          </a:stretch>
        </p:blipFill>
        <p:spPr>
          <a:xfrm>
            <a:off x="6812280" y="3896360"/>
            <a:ext cx="3063240" cy="1701800"/>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000" dirty="0">
                <a:solidFill>
                  <a:schemeClr val="bg1"/>
                </a:solidFill>
                <a:latin typeface="Times New Roman" pitchFamily="18" charset="0"/>
                <a:cs typeface="Times New Roman" pitchFamily="18" charset="0"/>
              </a:rPr>
              <a:t>Columns Used — Initial Run Visualizations</a:t>
            </a:r>
          </a:p>
          <a:p>
            <a:endParaRPr lang="en-US" sz="2400" dirty="0"/>
          </a:p>
        </p:txBody>
      </p:sp>
      <p:sp>
        <p:nvSpPr>
          <p:cNvPr id="10" name="TextBox 9"/>
          <p:cNvSpPr txBox="1"/>
          <p:nvPr/>
        </p:nvSpPr>
        <p:spPr>
          <a:xfrm>
            <a:off x="548640" y="1554480"/>
            <a:ext cx="8961120" cy="5029200"/>
          </a:xfrm>
          <a:prstGeom prst="rect">
            <a:avLst/>
          </a:prstGeom>
          <a:noFill/>
        </p:spPr>
        <p:txBody>
          <a:bodyPr wrap="square">
            <a:spAutoFit/>
          </a:bodyPr>
          <a:lstStyle/>
          <a:p>
            <a:pPr>
              <a:spcAft>
                <a:spcPts val="1400"/>
              </a:spcAft>
            </a:pPr>
            <a:r>
              <a:rPr sz="1700">
                <a:solidFill>
                  <a:srgbClr val="2D2D2D"/>
                </a:solidFill>
                <a:latin typeface="Times New Roman"/>
              </a:rPr>
              <a:t>Distribution of Discounted AC Prices: discount_price (binned) and count of products per bin</a:t>
            </a:r>
          </a:p>
          <a:p>
            <a:pPr>
              <a:spcAft>
                <a:spcPts val="1400"/>
              </a:spcAft>
            </a:pPr>
            <a:r>
              <a:rPr sz="1700">
                <a:solidFill>
                  <a:srgbClr val="2D2D2D"/>
                </a:solidFill>
                <a:latin typeface="Times New Roman"/>
              </a:rPr>
              <a:t>Average Discounted Price by Top Brands: brand (grouping) and discount_price (bar length, mean)</a:t>
            </a:r>
          </a:p>
          <a:p>
            <a:pPr>
              <a:spcAft>
                <a:spcPts val="1400"/>
              </a:spcAft>
            </a:pPr>
            <a:r>
              <a:rPr sz="1700">
                <a:solidFill>
                  <a:srgbClr val="2D2D2D"/>
                </a:solidFill>
                <a:latin typeface="Times New Roman"/>
              </a:rPr>
              <a:t>Number of Products by Top Brands: brand (grouping) and count of listings</a:t>
            </a:r>
          </a:p>
          <a:p>
            <a:pPr>
              <a:spcAft>
                <a:spcPts val="1400"/>
              </a:spcAft>
            </a:pPr>
            <a:r>
              <a:rPr sz="1700">
                <a:solidFill>
                  <a:srgbClr val="2D2D2D"/>
                </a:solidFill>
                <a:latin typeface="Times New Roman"/>
              </a:rPr>
              <a:t>Discounted Price vs Rating: discount_price (x-axis) and ratings (y-axis)</a:t>
            </a:r>
          </a:p>
          <a:p>
            <a:pPr>
              <a:spcAft>
                <a:spcPts val="1400"/>
              </a:spcAft>
            </a:pPr>
            <a:r>
              <a:rPr sz="1700">
                <a:solidFill>
                  <a:srgbClr val="2D2D2D"/>
                </a:solidFill>
                <a:latin typeface="Times New Roman"/>
              </a:rPr>
              <a:t>Distribution of Discount Percentage: discount_percent (binned, computed from discount_price and actual_price)</a:t>
            </a:r>
          </a:p>
          <a:p>
            <a:pPr>
              <a:spcAft>
                <a:spcPts val="1400"/>
              </a:spcAft>
            </a:pPr>
            <a:r>
              <a:rPr sz="1700">
                <a:solidFill>
                  <a:srgbClr val="2D2D2D"/>
                </a:solidFill>
                <a:latin typeface="Times New Roman"/>
              </a:rPr>
              <a:t>Distribution of Product Ratings: ratings (binned) and count of products per bin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Key Insights &amp; Analysis</a:t>
            </a:r>
          </a:p>
          <a:p>
            <a:endParaRPr lang="en-US" sz="2400" dirty="0"/>
          </a:p>
        </p:txBody>
      </p:sp>
      <p:sp>
        <p:nvSpPr>
          <p:cNvPr id="10" name="TextBox 9"/>
          <p:cNvSpPr txBox="1"/>
          <p:nvPr/>
        </p:nvSpPr>
        <p:spPr>
          <a:xfrm>
            <a:off x="548640" y="1554480"/>
            <a:ext cx="8961120" cy="5029200"/>
          </a:xfrm>
          <a:prstGeom prst="rect">
            <a:avLst/>
          </a:prstGeom>
          <a:noFill/>
        </p:spPr>
        <p:txBody>
          <a:bodyPr wrap="square">
            <a:spAutoFit/>
          </a:bodyPr>
          <a:lstStyle/>
          <a:p>
            <a:pPr>
              <a:spcAft>
                <a:spcPts val="1400"/>
              </a:spcAft>
            </a:pPr>
            <a:r>
              <a:rPr sz="1700">
                <a:solidFill>
                  <a:srgbClr val="2D2D2D"/>
                </a:solidFill>
                <a:latin typeface="Times New Roman"/>
              </a:rPr>
              <a:t>• Of 720 listings, 652 are genuine ACs; 68 were stands, motors, and portable coolers.</a:t>
            </a:r>
          </a:p>
          <a:p>
            <a:pPr>
              <a:spcAft>
                <a:spcPts val="1400"/>
              </a:spcAft>
            </a:pPr>
            <a:r>
              <a:rPr sz="1700">
                <a:solidFill>
                  <a:srgbClr val="2D2D2D"/>
                </a:solidFill>
                <a:latin typeface="Times New Roman"/>
              </a:rPr>
              <a:t>• Median AC price is ₹39,990 (mean ₹43,104); prices range from ₹24,990 to ₹1,28,800.</a:t>
            </a:r>
          </a:p>
          <a:p>
            <a:pPr>
              <a:spcAft>
                <a:spcPts val="1400"/>
              </a:spcAft>
            </a:pPr>
            <a:r>
              <a:rPr sz="1700">
                <a:solidFill>
                  <a:srgbClr val="2D2D2D"/>
                </a:solidFill>
                <a:latin typeface="Times New Roman"/>
              </a:rPr>
              <a:t>• Average discount is 29.1% (max 57.3%); Lloyd, Haier, Voltas, and LG discount most.</a:t>
            </a:r>
          </a:p>
          <a:p>
            <a:pPr>
              <a:spcAft>
                <a:spcPts val="1400"/>
              </a:spcAft>
            </a:pPr>
            <a:r>
              <a:rPr sz="1700">
                <a:solidFill>
                  <a:srgbClr val="2D2D2D"/>
                </a:solidFill>
                <a:latin typeface="Times New Roman"/>
              </a:rPr>
              <a:t>• O General is priciest (₹58k avg, only 9% off); Daikin ₹47.9k; Godrej and Lloyd cheapest (~₹35k).</a:t>
            </a:r>
          </a:p>
          <a:p>
            <a:pPr>
              <a:spcAft>
                <a:spcPts val="1400"/>
              </a:spcAft>
            </a:pPr>
            <a:r>
              <a:rPr sz="1700">
                <a:solidFill>
                  <a:srgbClr val="2D2D2D"/>
                </a:solidFill>
                <a:latin typeface="Times New Roman"/>
              </a:rPr>
              <a:t>• 1.5-ton ACs are about half of priced listings; price rises with tonnage (r = 0.67).</a:t>
            </a:r>
          </a:p>
          <a:p>
            <a:pPr>
              <a:spcAft>
                <a:spcPts val="1400"/>
              </a:spcAft>
            </a:pPr>
            <a:r>
              <a:rPr sz="1700">
                <a:solidFill>
                  <a:srgbClr val="2D2D2D"/>
                </a:solidFill>
                <a:latin typeface="Times New Roman"/>
              </a:rPr>
              <a:t>• Price and rating are almost uncorrelated (r = −0.05): higher price ≠ better rating.</a:t>
            </a:r>
          </a:p>
          <a:p>
            <a:pPr>
              <a:spcAft>
                <a:spcPts val="1400"/>
              </a:spcAft>
            </a:pPr>
            <a:r>
              <a:rPr sz="1700">
                <a:solidFill>
                  <a:srgbClr val="2D2D2D"/>
                </a:solidFill>
                <a:latin typeface="Times New Roman"/>
              </a:rPr>
              <a:t>• 59% of ACs are 3-star, 29% are 5-star; 5-star models cost ~₹5k more than 3-star.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67ACC245-70D9-3E8C-5FB8-754CFCF29BA7}"/>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520D471-D4E5-A862-75B1-D9BCC13CCE7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D22DAB3-C37B-1766-28C4-6EB13F7079C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DC96198-DF83-D7E8-5187-D35038090D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AA191BE-B616-456E-A32A-06C5D11989B1}"/>
                </a:ext>
              </a:extLst>
            </p:cNvPr>
            <p:cNvSpPr/>
            <p:nvPr/>
          </p:nvSpPr>
          <p:spPr>
            <a:xfrm>
              <a:off x="2828925" y="282892"/>
              <a:ext cx="4534295"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t>                     </a:t>
              </a:r>
              <a:endParaRPr sz="2800" dirty="0">
                <a:solidFill>
                  <a:schemeClr val="bg1"/>
                </a:solidFill>
              </a:endParaRPr>
            </a:p>
          </p:txBody>
        </p:sp>
      </p:grpSp>
      <p:sp>
        <p:nvSpPr>
          <p:cNvPr id="12" name="TextBox 11"/>
          <p:cNvSpPr txBox="1"/>
          <p:nvPr/>
        </p:nvSpPr>
        <p:spPr>
          <a:xfrm>
            <a:off x="2477248" y="3938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Implementation Workflow</a:t>
            </a:r>
          </a:p>
        </p:txBody>
      </p:sp>
      <p:sp>
        <p:nvSpPr>
          <p:cNvPr id="14" name="Chevron 13"/>
          <p:cNvSpPr/>
          <p:nvPr/>
        </p:nvSpPr>
        <p:spPr>
          <a:xfrm>
            <a:off x="36576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1. Web
Scraping</a:t>
            </a:r>
          </a:p>
        </p:txBody>
      </p:sp>
      <p:sp>
        <p:nvSpPr>
          <p:cNvPr id="15" name="Chevron 14"/>
          <p:cNvSpPr/>
          <p:nvPr/>
        </p:nvSpPr>
        <p:spPr>
          <a:xfrm>
            <a:off x="3291839" y="196596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2. Data
Cleaning</a:t>
            </a:r>
          </a:p>
        </p:txBody>
      </p:sp>
      <p:sp>
        <p:nvSpPr>
          <p:cNvPr id="16" name="Chevron 15"/>
          <p:cNvSpPr/>
          <p:nvPr/>
        </p:nvSpPr>
        <p:spPr>
          <a:xfrm>
            <a:off x="621792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3. Pre-
processing</a:t>
            </a:r>
          </a:p>
        </p:txBody>
      </p:sp>
      <p:sp>
        <p:nvSpPr>
          <p:cNvPr id="17" name="Chevron 16"/>
          <p:cNvSpPr/>
          <p:nvPr/>
        </p:nvSpPr>
        <p:spPr>
          <a:xfrm>
            <a:off x="36576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4. Price
Analysis</a:t>
            </a:r>
          </a:p>
        </p:txBody>
      </p:sp>
      <p:sp>
        <p:nvSpPr>
          <p:cNvPr id="18" name="Chevron 17"/>
          <p:cNvSpPr/>
          <p:nvPr/>
        </p:nvSpPr>
        <p:spPr>
          <a:xfrm>
            <a:off x="3291839" y="370332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5. Visualization</a:t>
            </a:r>
          </a:p>
        </p:txBody>
      </p:sp>
      <p:sp>
        <p:nvSpPr>
          <p:cNvPr id="19" name="Chevron 18"/>
          <p:cNvSpPr/>
          <p:nvPr/>
        </p:nvSpPr>
        <p:spPr>
          <a:xfrm>
            <a:off x="621792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6. Insights &amp;
Report</a:t>
            </a:r>
          </a:p>
        </p:txBody>
      </p:sp>
      <p:sp>
        <p:nvSpPr>
          <p:cNvPr id="20" name="Down Arrow 19"/>
          <p:cNvSpPr/>
          <p:nvPr/>
        </p:nvSpPr>
        <p:spPr>
          <a:xfrm>
            <a:off x="4572000" y="2999232"/>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5074920"/>
            <a:ext cx="9144000" cy="457200"/>
          </a:xfrm>
          <a:prstGeom prst="rect">
            <a:avLst/>
          </a:prstGeom>
          <a:noFill/>
        </p:spPr>
        <p:txBody>
          <a:bodyPr wrap="none">
            <a:spAutoFit/>
          </a:bodyPr>
          <a:lstStyle/>
          <a:p>
            <a:pPr algn="ctr"/>
            <a:r>
              <a:rPr sz="1300" i="1">
                <a:solidFill>
                  <a:srgbClr val="233464"/>
                </a:solidFill>
                <a:latin typeface="Times New Roman"/>
              </a:rPr>
              <a:t>Output: scraped dataset → cleaned ACs → price charts → buyer-focused insights</a:t>
            </a:r>
          </a:p>
        </p:txBody>
      </p:sp>
    </p:spTree>
    <p:extLst>
      <p:ext uri="{BB962C8B-B14F-4D97-AF65-F5344CB8AC3E}">
        <p14:creationId xmlns:p14="http://schemas.microsoft.com/office/powerpoint/2010/main" val="49352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CONCLUSION</a:t>
            </a:r>
          </a:p>
        </p:txBody>
      </p:sp>
      <p:sp>
        <p:nvSpPr>
          <p:cNvPr id="15" name="TextBox 14"/>
          <p:cNvSpPr txBox="1"/>
          <p:nvPr/>
        </p:nvSpPr>
        <p:spPr>
          <a:xfrm>
            <a:off x="777240" y="1463040"/>
            <a:ext cx="8412480" cy="3808735"/>
          </a:xfrm>
          <a:prstGeom prst="rect">
            <a:avLst/>
          </a:prstGeom>
          <a:noFill/>
        </p:spPr>
        <p:txBody>
          <a:bodyPr wrap="square">
            <a:spAutoFit/>
          </a:bodyPr>
          <a:lstStyle/>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This project completes an e-commerce workflow — web-scraped listings to price insights — using Python.</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Cleaning the scraped data — keeping missing prices blank and removing non-AC items — prevents distorted averages and discounts.</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Brand, size, and star rating shape AC prices far more than customer ratings do.</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Charts make price and brand comparisons far clearer than a 720-row table.</a:t>
            </a:r>
          </a:p>
        </p:txBody>
      </p:sp>
      <p:sp>
        <p:nvSpPr>
          <p:cNvPr id="16" name="TextBox 15"/>
          <p:cNvSpPr txBox="1"/>
          <p:nvPr/>
        </p:nvSpPr>
        <p:spPr>
          <a:xfrm>
            <a:off x="872251" y="6126486"/>
            <a:ext cx="8138160" cy="830997"/>
          </a:xfrm>
          <a:prstGeom prst="rect">
            <a:avLst/>
          </a:prstGeom>
          <a:noFill/>
        </p:spPr>
        <p:txBody>
          <a:bodyPr wrap="square">
            <a:spAutoFit/>
          </a:bodyPr>
          <a:lstStyle/>
          <a:p>
            <a:pPr algn="ctr">
              <a:spcAft>
                <a:spcPts val="700"/>
              </a:spcAft>
              <a:defRPr sz="1600" b="1">
                <a:solidFill>
                  <a:srgbClr val="C25B30"/>
                </a:solidFill>
                <a:latin typeface="Aptos"/>
              </a:defRPr>
            </a:pPr>
            <a:r>
              <a:rPr sz="2400" dirty="0">
                <a:latin typeface="Times New Roman" pitchFamily="18" charset="0"/>
                <a:cs typeface="Times New Roman" pitchFamily="18" charset="0"/>
              </a:rPr>
              <a:t>Future scope: scrape prices over time to track trends, predict AC price with regression, and mine review text.</a:t>
            </a:r>
          </a:p>
        </p:txBody>
      </p:sp>
    </p:spTree>
    <p:extLst>
      <p:ext uri="{BB962C8B-B14F-4D97-AF65-F5344CB8AC3E}">
        <p14:creationId xmlns:p14="http://schemas.microsoft.com/office/powerpoint/2010/main" val="2694192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58400" cy="777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400" y="0"/>
            <a:ext cx="8219599"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372" y="0"/>
            <a:ext cx="8207655"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1257302" y="2266230"/>
            <a:ext cx="7543800" cy="3132565"/>
          </a:xfrm>
          <a:prstGeom prst="rect">
            <a:avLst/>
          </a:prstGeom>
        </p:spPr>
        <p:txBody>
          <a:bodyPr vert="horz"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lang="en-US" sz="3600" kern="1200" dirty="0">
                <a:solidFill>
                  <a:schemeClr val="tx1"/>
                </a:solidFill>
                <a:latin typeface="Times New Roman"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7812" y="6261424"/>
            <a:ext cx="3922776" cy="310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3207</TotalTime>
  <Words>1420</Words>
  <Application>Microsoft Office PowerPoint</Application>
  <PresentationFormat>Custom</PresentationFormat>
  <Paragraphs>159</Paragraphs>
  <Slides>19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Calibri</vt:lpstr>
      <vt:lpstr>Palatino Linotype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25B11CS608</cp:lastModifiedBy>
  <cp:revision>113</cp:revision>
  <cp:lastPrinted>2025-10-14T18:21:49Z</cp:lastPrinted>
  <dcterms:created xsi:type="dcterms:W3CDTF">2025-10-10T08:28:06Z</dcterms:created>
  <dcterms:modified xsi:type="dcterms:W3CDTF">2026-09-29T16:55:26Z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