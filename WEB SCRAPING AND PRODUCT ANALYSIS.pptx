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lacial Indifference Bold" charset="1" panose="00000800000000000000"/>
      <p:regular r:id="rId20"/>
    </p:embeddedFont>
    <p:embeddedFont>
      <p:font typeface="ABeeZee Bold" charset="1" panose="02000000000000000000"/>
      <p:regular r:id="rId21"/>
    </p:embeddedFont>
    <p:embeddedFont>
      <p:font typeface="Canva Sans" charset="1" panose="020B0503030501040103"/>
      <p:regular r:id="rId22"/>
    </p:embeddedFont>
    <p:embeddedFont>
      <p:font typeface="ABeeZee" charset="1" panose="02000000000000000000"/>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796885"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028700" y="1325597"/>
            <a:ext cx="6283289" cy="8999503"/>
          </a:xfrm>
          <a:custGeom>
            <a:avLst/>
            <a:gdLst/>
            <a:ahLst/>
            <a:cxnLst/>
            <a:rect r="r" b="b" t="t" l="l"/>
            <a:pathLst>
              <a:path h="8999503" w="6283289">
                <a:moveTo>
                  <a:pt x="6283289" y="0"/>
                </a:moveTo>
                <a:lnTo>
                  <a:pt x="0" y="0"/>
                </a:lnTo>
                <a:lnTo>
                  <a:pt x="0" y="8999503"/>
                </a:lnTo>
                <a:lnTo>
                  <a:pt x="6283289" y="8999503"/>
                </a:lnTo>
                <a:lnTo>
                  <a:pt x="628328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032161" y="5337377"/>
            <a:ext cx="8857906" cy="128842"/>
          </a:xfrm>
          <a:custGeom>
            <a:avLst/>
            <a:gdLst/>
            <a:ahLst/>
            <a:cxnLst/>
            <a:rect r="r" b="b" t="t" l="l"/>
            <a:pathLst>
              <a:path h="128842" w="8857906">
                <a:moveTo>
                  <a:pt x="0" y="0"/>
                </a:moveTo>
                <a:lnTo>
                  <a:pt x="8857906" y="0"/>
                </a:lnTo>
                <a:lnTo>
                  <a:pt x="8857906" y="128843"/>
                </a:lnTo>
                <a:lnTo>
                  <a:pt x="0" y="1288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823547" y="6774178"/>
            <a:ext cx="5066520" cy="1043703"/>
          </a:xfrm>
          <a:custGeom>
            <a:avLst/>
            <a:gdLst/>
            <a:ahLst/>
            <a:cxnLst/>
            <a:rect r="r" b="b" t="t" l="l"/>
            <a:pathLst>
              <a:path h="1043703" w="5066520">
                <a:moveTo>
                  <a:pt x="0" y="0"/>
                </a:moveTo>
                <a:lnTo>
                  <a:pt x="5066520" y="0"/>
                </a:lnTo>
                <a:lnTo>
                  <a:pt x="5066520" y="1043704"/>
                </a:lnTo>
                <a:lnTo>
                  <a:pt x="0" y="10437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650573" y="1252041"/>
            <a:ext cx="9670808" cy="3689503"/>
          </a:xfrm>
          <a:prstGeom prst="rect">
            <a:avLst/>
          </a:prstGeom>
        </p:spPr>
        <p:txBody>
          <a:bodyPr anchor="t" rtlCol="false" tIns="0" lIns="0" bIns="0" rIns="0">
            <a:spAutoFit/>
          </a:bodyPr>
          <a:lstStyle/>
          <a:p>
            <a:pPr algn="r">
              <a:lnSpc>
                <a:spcPts val="9642"/>
              </a:lnSpc>
            </a:pPr>
            <a:r>
              <a:rPr lang="en-US" sz="8312" b="true">
                <a:solidFill>
                  <a:srgbClr val="EFEFDA"/>
                </a:solidFill>
                <a:latin typeface="Glacial Indifference Bold"/>
                <a:ea typeface="Glacial Indifference Bold"/>
                <a:cs typeface="Glacial Indifference Bold"/>
                <a:sym typeface="Glacial Indifference Bold"/>
              </a:rPr>
              <a:t> WEB SCRAPING AND PRODUCT ANALYSIS</a:t>
            </a:r>
          </a:p>
        </p:txBody>
      </p:sp>
      <p:sp>
        <p:nvSpPr>
          <p:cNvPr name="TextBox 9" id="9"/>
          <p:cNvSpPr txBox="true"/>
          <p:nvPr/>
        </p:nvSpPr>
        <p:spPr>
          <a:xfrm rot="0">
            <a:off x="6827735" y="5661578"/>
            <a:ext cx="10853647" cy="605509"/>
          </a:xfrm>
          <a:prstGeom prst="rect">
            <a:avLst/>
          </a:prstGeom>
        </p:spPr>
        <p:txBody>
          <a:bodyPr anchor="t" rtlCol="false" tIns="0" lIns="0" bIns="0" rIns="0">
            <a:spAutoFit/>
          </a:bodyPr>
          <a:lstStyle/>
          <a:p>
            <a:pPr algn="r">
              <a:lnSpc>
                <a:spcPts val="4942"/>
              </a:lnSpc>
            </a:pPr>
            <a:r>
              <a:rPr lang="en-US" sz="3530">
                <a:solidFill>
                  <a:srgbClr val="EFEFDA"/>
                </a:solidFill>
                <a:latin typeface="ABeeZee Bold"/>
                <a:ea typeface="ABeeZee Bold"/>
                <a:cs typeface="ABeeZee Bold"/>
                <a:sym typeface="ABeeZee Bold"/>
              </a:rPr>
              <a:t> Web scraping for price and rating comparison</a:t>
            </a:r>
          </a:p>
        </p:txBody>
      </p:sp>
      <p:sp>
        <p:nvSpPr>
          <p:cNvPr name="TextBox 10" id="10"/>
          <p:cNvSpPr txBox="true"/>
          <p:nvPr/>
        </p:nvSpPr>
        <p:spPr>
          <a:xfrm rot="0">
            <a:off x="11640935" y="6949838"/>
            <a:ext cx="5066520" cy="580390"/>
          </a:xfrm>
          <a:prstGeom prst="rect">
            <a:avLst/>
          </a:prstGeom>
        </p:spPr>
        <p:txBody>
          <a:bodyPr anchor="t" rtlCol="false" tIns="0" lIns="0" bIns="0" rIns="0">
            <a:spAutoFit/>
          </a:bodyPr>
          <a:lstStyle/>
          <a:p>
            <a:pPr algn="ctr">
              <a:lnSpc>
                <a:spcPts val="4759"/>
              </a:lnSpc>
            </a:pPr>
            <a:r>
              <a:rPr lang="en-US" sz="3399">
                <a:solidFill>
                  <a:srgbClr val="E1E4E1"/>
                </a:solidFill>
                <a:latin typeface="Canva Sans"/>
                <a:ea typeface="Canva Sans"/>
                <a:cs typeface="Canva Sans"/>
                <a:sym typeface="Canva Sans"/>
              </a:rPr>
              <a:t>CSE</a:t>
            </a:r>
          </a:p>
        </p:txBody>
      </p:sp>
      <p:sp>
        <p:nvSpPr>
          <p:cNvPr name="TextBox 11" id="11"/>
          <p:cNvSpPr txBox="true"/>
          <p:nvPr/>
        </p:nvSpPr>
        <p:spPr>
          <a:xfrm rot="0">
            <a:off x="14174196" y="9580007"/>
            <a:ext cx="3717250" cy="490543"/>
          </a:xfrm>
          <a:prstGeom prst="rect">
            <a:avLst/>
          </a:prstGeom>
        </p:spPr>
        <p:txBody>
          <a:bodyPr anchor="t" rtlCol="false" tIns="0" lIns="0" bIns="0" rIns="0">
            <a:spAutoFit/>
          </a:bodyPr>
          <a:lstStyle/>
          <a:p>
            <a:pPr algn="ctr">
              <a:lnSpc>
                <a:spcPts val="3937"/>
              </a:lnSpc>
              <a:spcBef>
                <a:spcPct val="0"/>
              </a:spcBef>
            </a:pPr>
            <a:r>
              <a:rPr lang="en-US" sz="2812" spc="213">
                <a:solidFill>
                  <a:srgbClr val="FFFFFF"/>
                </a:solidFill>
                <a:latin typeface="ABeeZee Bold"/>
                <a:ea typeface="ABeeZee Bold"/>
                <a:cs typeface="ABeeZee Bold"/>
                <a:sym typeface="ABeeZee Bold"/>
              </a:rPr>
              <a:t>ADITYA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1157375" y="3129428"/>
            <a:ext cx="15973249" cy="6128872"/>
            <a:chOff x="0" y="0"/>
            <a:chExt cx="4206946" cy="1614188"/>
          </a:xfrm>
        </p:grpSpPr>
        <p:sp>
          <p:nvSpPr>
            <p:cNvPr name="Freeform 3" id="3"/>
            <p:cNvSpPr/>
            <p:nvPr/>
          </p:nvSpPr>
          <p:spPr>
            <a:xfrm flipH="false" flipV="false" rot="0">
              <a:off x="0" y="0"/>
              <a:ext cx="4206946" cy="1614188"/>
            </a:xfrm>
            <a:custGeom>
              <a:avLst/>
              <a:gdLst/>
              <a:ahLst/>
              <a:cxnLst/>
              <a:rect r="r" b="b" t="t" l="l"/>
              <a:pathLst>
                <a:path h="1614188" w="4206946">
                  <a:moveTo>
                    <a:pt x="24719" y="0"/>
                  </a:moveTo>
                  <a:lnTo>
                    <a:pt x="4182228" y="0"/>
                  </a:lnTo>
                  <a:cubicBezTo>
                    <a:pt x="4195880" y="0"/>
                    <a:pt x="4206946" y="11067"/>
                    <a:pt x="4206946" y="24719"/>
                  </a:cubicBezTo>
                  <a:lnTo>
                    <a:pt x="4206946" y="1589470"/>
                  </a:lnTo>
                  <a:cubicBezTo>
                    <a:pt x="4206946" y="1603121"/>
                    <a:pt x="4195880" y="1614188"/>
                    <a:pt x="4182228" y="1614188"/>
                  </a:cubicBezTo>
                  <a:lnTo>
                    <a:pt x="24719" y="1614188"/>
                  </a:lnTo>
                  <a:cubicBezTo>
                    <a:pt x="11067" y="1614188"/>
                    <a:pt x="0" y="1603121"/>
                    <a:pt x="0" y="1589470"/>
                  </a:cubicBezTo>
                  <a:lnTo>
                    <a:pt x="0" y="24719"/>
                  </a:lnTo>
                  <a:cubicBezTo>
                    <a:pt x="0" y="11067"/>
                    <a:pt x="11067" y="0"/>
                    <a:pt x="24719" y="0"/>
                  </a:cubicBezTo>
                  <a:close/>
                </a:path>
              </a:pathLst>
            </a:custGeom>
            <a:solidFill>
              <a:srgbClr val="2F5972"/>
            </a:solidFill>
            <a:ln w="95250" cap="rnd">
              <a:solidFill>
                <a:srgbClr val="EFEFDA"/>
              </a:solidFill>
              <a:prstDash val="solid"/>
              <a:round/>
            </a:ln>
          </p:spPr>
        </p:sp>
        <p:sp>
          <p:nvSpPr>
            <p:cNvPr name="TextBox 4" id="4"/>
            <p:cNvSpPr txBox="true"/>
            <p:nvPr/>
          </p:nvSpPr>
          <p:spPr>
            <a:xfrm>
              <a:off x="0" y="-38100"/>
              <a:ext cx="4206946" cy="165228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247277" y="1372279"/>
            <a:ext cx="9793447" cy="1825663"/>
            <a:chOff x="0" y="0"/>
            <a:chExt cx="2579344" cy="480833"/>
          </a:xfrm>
        </p:grpSpPr>
        <p:sp>
          <p:nvSpPr>
            <p:cNvPr name="Freeform 6" id="6"/>
            <p:cNvSpPr/>
            <p:nvPr/>
          </p:nvSpPr>
          <p:spPr>
            <a:xfrm flipH="false" flipV="false" rot="0">
              <a:off x="0" y="0"/>
              <a:ext cx="2579344" cy="480833"/>
            </a:xfrm>
            <a:custGeom>
              <a:avLst/>
              <a:gdLst/>
              <a:ahLst/>
              <a:cxnLst/>
              <a:rect r="r" b="b" t="t" l="l"/>
              <a:pathLst>
                <a:path h="480833" w="2579344">
                  <a:moveTo>
                    <a:pt x="79052" y="0"/>
                  </a:moveTo>
                  <a:lnTo>
                    <a:pt x="2500292" y="0"/>
                  </a:lnTo>
                  <a:cubicBezTo>
                    <a:pt x="2543951" y="0"/>
                    <a:pt x="2579344" y="35393"/>
                    <a:pt x="2579344" y="79052"/>
                  </a:cubicBezTo>
                  <a:lnTo>
                    <a:pt x="2579344" y="401781"/>
                  </a:lnTo>
                  <a:cubicBezTo>
                    <a:pt x="2579344" y="445440"/>
                    <a:pt x="2543951" y="480833"/>
                    <a:pt x="2500292" y="480833"/>
                  </a:cubicBezTo>
                  <a:lnTo>
                    <a:pt x="79052" y="480833"/>
                  </a:lnTo>
                  <a:cubicBezTo>
                    <a:pt x="35393" y="480833"/>
                    <a:pt x="0" y="445440"/>
                    <a:pt x="0" y="401781"/>
                  </a:cubicBezTo>
                  <a:lnTo>
                    <a:pt x="0" y="79052"/>
                  </a:lnTo>
                  <a:cubicBezTo>
                    <a:pt x="0" y="35393"/>
                    <a:pt x="35393" y="0"/>
                    <a:pt x="79052" y="0"/>
                  </a:cubicBezTo>
                  <a:close/>
                </a:path>
              </a:pathLst>
            </a:custGeom>
            <a:solidFill>
              <a:srgbClr val="EFEFDA"/>
            </a:solidFill>
          </p:spPr>
        </p:sp>
        <p:sp>
          <p:nvSpPr>
            <p:cNvPr name="TextBox 7" id="7"/>
            <p:cNvSpPr txBox="true"/>
            <p:nvPr/>
          </p:nvSpPr>
          <p:spPr>
            <a:xfrm>
              <a:off x="0" y="-38100"/>
              <a:ext cx="2579344" cy="518933"/>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1652679" y="7830538"/>
            <a:ext cx="3386850" cy="0"/>
          </a:xfrm>
          <a:prstGeom prst="line">
            <a:avLst/>
          </a:prstGeom>
          <a:ln cap="rnd" w="76200">
            <a:solidFill>
              <a:srgbClr val="EFEFDA"/>
            </a:solidFill>
            <a:prstDash val="solid"/>
            <a:headEnd type="none" len="sm" w="sm"/>
            <a:tailEnd type="none" len="sm" w="sm"/>
          </a:ln>
        </p:spPr>
      </p:sp>
      <p:sp>
        <p:nvSpPr>
          <p:cNvPr name="AutoShape 9" id="9"/>
          <p:cNvSpPr/>
          <p:nvPr/>
        </p:nvSpPr>
        <p:spPr>
          <a:xfrm>
            <a:off x="5517943" y="7830538"/>
            <a:ext cx="3386850" cy="0"/>
          </a:xfrm>
          <a:prstGeom prst="line">
            <a:avLst/>
          </a:prstGeom>
          <a:ln cap="rnd" w="76200">
            <a:solidFill>
              <a:srgbClr val="EFEFDA"/>
            </a:solidFill>
            <a:prstDash val="solid"/>
            <a:headEnd type="none" len="sm" w="sm"/>
            <a:tailEnd type="none" len="sm" w="sm"/>
          </a:ln>
        </p:spPr>
      </p:sp>
      <p:sp>
        <p:nvSpPr>
          <p:cNvPr name="AutoShape 10" id="10"/>
          <p:cNvSpPr/>
          <p:nvPr/>
        </p:nvSpPr>
        <p:spPr>
          <a:xfrm>
            <a:off x="9383207" y="7830538"/>
            <a:ext cx="3386850" cy="0"/>
          </a:xfrm>
          <a:prstGeom prst="line">
            <a:avLst/>
          </a:prstGeom>
          <a:ln cap="rnd" w="76200">
            <a:solidFill>
              <a:srgbClr val="EFEFDA"/>
            </a:solidFill>
            <a:prstDash val="solid"/>
            <a:headEnd type="none" len="sm" w="sm"/>
            <a:tailEnd type="none" len="sm" w="sm"/>
          </a:ln>
        </p:spPr>
      </p:sp>
      <p:sp>
        <p:nvSpPr>
          <p:cNvPr name="AutoShape 11" id="11"/>
          <p:cNvSpPr/>
          <p:nvPr/>
        </p:nvSpPr>
        <p:spPr>
          <a:xfrm>
            <a:off x="13248471" y="7830538"/>
            <a:ext cx="3386850" cy="0"/>
          </a:xfrm>
          <a:prstGeom prst="line">
            <a:avLst/>
          </a:prstGeom>
          <a:ln cap="rnd" w="76200">
            <a:solidFill>
              <a:srgbClr val="EFEFDA"/>
            </a:solidFill>
            <a:prstDash val="solid"/>
            <a:headEnd type="none" len="sm" w="sm"/>
            <a:tailEnd type="none" len="sm" w="sm"/>
          </a:ln>
        </p:spPr>
      </p:sp>
      <p:sp>
        <p:nvSpPr>
          <p:cNvPr name="Freeform 12" id="12"/>
          <p:cNvSpPr/>
          <p:nvPr/>
        </p:nvSpPr>
        <p:spPr>
          <a:xfrm flipH="false" flipV="false" rot="0">
            <a:off x="-136381" y="7802464"/>
            <a:ext cx="3061987" cy="2911671"/>
          </a:xfrm>
          <a:custGeom>
            <a:avLst/>
            <a:gdLst/>
            <a:ahLst/>
            <a:cxnLst/>
            <a:rect r="r" b="b" t="t" l="l"/>
            <a:pathLst>
              <a:path h="2911671" w="3061987">
                <a:moveTo>
                  <a:pt x="0" y="0"/>
                </a:moveTo>
                <a:lnTo>
                  <a:pt x="3061987" y="0"/>
                </a:lnTo>
                <a:lnTo>
                  <a:pt x="3061987" y="2911672"/>
                </a:lnTo>
                <a:lnTo>
                  <a:pt x="0" y="29116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394613" y="6243382"/>
            <a:ext cx="3747293" cy="985634"/>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M.AKSHAYA</a:t>
            </a:r>
          </a:p>
          <a:p>
            <a:pPr algn="ctr">
              <a:lnSpc>
                <a:spcPts val="3937"/>
              </a:lnSpc>
            </a:pPr>
            <a:r>
              <a:rPr lang="en-US" sz="2812" spc="213">
                <a:solidFill>
                  <a:srgbClr val="EFEFDA"/>
                </a:solidFill>
                <a:latin typeface="ABeeZee Bold"/>
                <a:ea typeface="ABeeZee Bold"/>
                <a:cs typeface="ABeeZee Bold"/>
                <a:sym typeface="ABeeZee Bold"/>
              </a:rPr>
              <a:t>TEAM LEAD</a:t>
            </a:r>
          </a:p>
        </p:txBody>
      </p:sp>
      <p:sp>
        <p:nvSpPr>
          <p:cNvPr name="TextBox 14" id="14"/>
          <p:cNvSpPr txBox="true"/>
          <p:nvPr/>
        </p:nvSpPr>
        <p:spPr>
          <a:xfrm rot="0">
            <a:off x="5396707" y="6243382"/>
            <a:ext cx="3747293" cy="985634"/>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K.S.KRISHNA</a:t>
            </a:r>
          </a:p>
          <a:p>
            <a:pPr algn="ctr">
              <a:lnSpc>
                <a:spcPts val="3937"/>
              </a:lnSpc>
            </a:pPr>
            <a:r>
              <a:rPr lang="en-US" sz="2812" spc="213">
                <a:solidFill>
                  <a:srgbClr val="EFEFDA"/>
                </a:solidFill>
                <a:latin typeface="ABeeZee Bold"/>
                <a:ea typeface="ABeeZee Bold"/>
                <a:cs typeface="ABeeZee Bold"/>
                <a:sym typeface="ABeeZee Bold"/>
              </a:rPr>
              <a:t>DATA &amp; TECH LEAD</a:t>
            </a:r>
          </a:p>
        </p:txBody>
      </p:sp>
      <p:sp>
        <p:nvSpPr>
          <p:cNvPr name="TextBox 15" id="15"/>
          <p:cNvSpPr txBox="true"/>
          <p:nvPr/>
        </p:nvSpPr>
        <p:spPr>
          <a:xfrm rot="0">
            <a:off x="9144000" y="6127189"/>
            <a:ext cx="3747293" cy="1480829"/>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P.JAGANNADHA</a:t>
            </a:r>
          </a:p>
          <a:p>
            <a:pPr algn="ctr">
              <a:lnSpc>
                <a:spcPts val="3937"/>
              </a:lnSpc>
            </a:pPr>
            <a:r>
              <a:rPr lang="en-US" sz="2812" spc="213">
                <a:solidFill>
                  <a:srgbClr val="EFEFDA"/>
                </a:solidFill>
                <a:latin typeface="ABeeZee Bold"/>
                <a:ea typeface="ABeeZee Bold"/>
                <a:cs typeface="ABeeZee Bold"/>
                <a:sym typeface="ABeeZee Bold"/>
              </a:rPr>
              <a:t>IMPLEMENTATION LEAD</a:t>
            </a:r>
          </a:p>
        </p:txBody>
      </p:sp>
      <p:sp>
        <p:nvSpPr>
          <p:cNvPr name="TextBox 16" id="16"/>
          <p:cNvSpPr txBox="true"/>
          <p:nvPr/>
        </p:nvSpPr>
        <p:spPr>
          <a:xfrm rot="0">
            <a:off x="13146094" y="6127189"/>
            <a:ext cx="3747293" cy="1480829"/>
          </a:xfrm>
          <a:prstGeom prst="rect">
            <a:avLst/>
          </a:prstGeom>
        </p:spPr>
        <p:txBody>
          <a:bodyPr anchor="t" rtlCol="false" tIns="0" lIns="0" bIns="0" rIns="0">
            <a:spAutoFit/>
          </a:bodyPr>
          <a:lstStyle/>
          <a:p>
            <a:pPr algn="ctr">
              <a:lnSpc>
                <a:spcPts val="3937"/>
              </a:lnSpc>
            </a:pPr>
            <a:r>
              <a:rPr lang="en-US" sz="2812" spc="213">
                <a:solidFill>
                  <a:srgbClr val="EFEFDA"/>
                </a:solidFill>
                <a:latin typeface="ABeeZee Bold"/>
                <a:ea typeface="ABeeZee Bold"/>
                <a:cs typeface="ABeeZee Bold"/>
                <a:sym typeface="ABeeZee Bold"/>
              </a:rPr>
              <a:t>T.YEGHNA</a:t>
            </a:r>
          </a:p>
          <a:p>
            <a:pPr algn="ctr">
              <a:lnSpc>
                <a:spcPts val="3937"/>
              </a:lnSpc>
            </a:pPr>
            <a:r>
              <a:rPr lang="en-US" sz="2812" spc="213">
                <a:solidFill>
                  <a:srgbClr val="EFEFDA"/>
                </a:solidFill>
                <a:latin typeface="ABeeZee Bold"/>
                <a:ea typeface="ABeeZee Bold"/>
                <a:cs typeface="ABeeZee Bold"/>
                <a:sym typeface="ABeeZee Bold"/>
              </a:rPr>
              <a:t>Q&amp;A AND STRATEGY LEAD</a:t>
            </a:r>
          </a:p>
        </p:txBody>
      </p:sp>
      <p:sp>
        <p:nvSpPr>
          <p:cNvPr name="Freeform 17" id="17"/>
          <p:cNvSpPr/>
          <p:nvPr/>
        </p:nvSpPr>
        <p:spPr>
          <a:xfrm flipH="true" flipV="false" rot="0">
            <a:off x="15362394" y="7802464"/>
            <a:ext cx="3061987" cy="2911671"/>
          </a:xfrm>
          <a:custGeom>
            <a:avLst/>
            <a:gdLst/>
            <a:ahLst/>
            <a:cxnLst/>
            <a:rect r="r" b="b" t="t" l="l"/>
            <a:pathLst>
              <a:path h="2911671" w="3061987">
                <a:moveTo>
                  <a:pt x="3061987" y="0"/>
                </a:moveTo>
                <a:lnTo>
                  <a:pt x="0" y="0"/>
                </a:lnTo>
                <a:lnTo>
                  <a:pt x="0" y="2911672"/>
                </a:lnTo>
                <a:lnTo>
                  <a:pt x="3061987" y="2911672"/>
                </a:lnTo>
                <a:lnTo>
                  <a:pt x="30619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4721322" y="1855740"/>
            <a:ext cx="8845357" cy="877791"/>
          </a:xfrm>
          <a:prstGeom prst="rect">
            <a:avLst/>
          </a:prstGeom>
        </p:spPr>
        <p:txBody>
          <a:bodyPr anchor="t" rtlCol="false" tIns="0" lIns="0" bIns="0" rIns="0">
            <a:spAutoFit/>
          </a:bodyPr>
          <a:lstStyle/>
          <a:p>
            <a:pPr algn="ctr">
              <a:lnSpc>
                <a:spcPts val="6865"/>
              </a:lnSpc>
            </a:pPr>
            <a:r>
              <a:rPr lang="en-US" b="true" sz="5918">
                <a:solidFill>
                  <a:srgbClr val="2F5972"/>
                </a:solidFill>
                <a:latin typeface="Glacial Indifference Bold"/>
                <a:ea typeface="Glacial Indifference Bold"/>
                <a:cs typeface="Glacial Indifference Bold"/>
                <a:sym typeface="Glacial Indifference Bold"/>
              </a:rPr>
              <a:t>Our Members</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535101">
            <a:off x="12908415" y="5364213"/>
            <a:ext cx="8309635" cy="2961252"/>
          </a:xfrm>
          <a:custGeom>
            <a:avLst/>
            <a:gdLst/>
            <a:ahLst/>
            <a:cxnLst/>
            <a:rect r="r" b="b" t="t" l="l"/>
            <a:pathLst>
              <a:path h="2961252" w="8309635">
                <a:moveTo>
                  <a:pt x="0" y="0"/>
                </a:moveTo>
                <a:lnTo>
                  <a:pt x="8309634" y="0"/>
                </a:lnTo>
                <a:lnTo>
                  <a:pt x="8309634"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35101">
            <a:off x="9325455" y="3695285"/>
            <a:ext cx="5732907" cy="2043000"/>
          </a:xfrm>
          <a:custGeom>
            <a:avLst/>
            <a:gdLst/>
            <a:ahLst/>
            <a:cxnLst/>
            <a:rect r="r" b="b" t="t" l="l"/>
            <a:pathLst>
              <a:path h="2043000" w="5732907">
                <a:moveTo>
                  <a:pt x="0" y="0"/>
                </a:moveTo>
                <a:lnTo>
                  <a:pt x="5732907" y="0"/>
                </a:lnTo>
                <a:lnTo>
                  <a:pt x="5732907" y="2043000"/>
                </a:lnTo>
                <a:lnTo>
                  <a:pt x="0" y="2043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535101">
            <a:off x="11003538" y="9926360"/>
            <a:ext cx="8309635" cy="2961252"/>
          </a:xfrm>
          <a:custGeom>
            <a:avLst/>
            <a:gdLst/>
            <a:ahLst/>
            <a:cxnLst/>
            <a:rect r="r" b="b" t="t" l="l"/>
            <a:pathLst>
              <a:path h="2961252" w="8309635">
                <a:moveTo>
                  <a:pt x="0" y="0"/>
                </a:moveTo>
                <a:lnTo>
                  <a:pt x="8309635" y="0"/>
                </a:lnTo>
                <a:lnTo>
                  <a:pt x="8309635" y="2961251"/>
                </a:lnTo>
                <a:lnTo>
                  <a:pt x="0" y="2961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921262" y="2565176"/>
            <a:ext cx="9186513" cy="7499535"/>
          </a:xfrm>
          <a:custGeom>
            <a:avLst/>
            <a:gdLst/>
            <a:ahLst/>
            <a:cxnLst/>
            <a:rect r="r" b="b" t="t" l="l"/>
            <a:pathLst>
              <a:path h="7499535" w="9186513">
                <a:moveTo>
                  <a:pt x="0" y="0"/>
                </a:moveTo>
                <a:lnTo>
                  <a:pt x="9186513" y="0"/>
                </a:lnTo>
                <a:lnTo>
                  <a:pt x="9186513" y="7499535"/>
                </a:lnTo>
                <a:lnTo>
                  <a:pt x="0" y="74995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535101">
            <a:off x="11357356" y="-1841144"/>
            <a:ext cx="7931569" cy="2826523"/>
          </a:xfrm>
          <a:custGeom>
            <a:avLst/>
            <a:gdLst/>
            <a:ahLst/>
            <a:cxnLst/>
            <a:rect r="r" b="b" t="t" l="l"/>
            <a:pathLst>
              <a:path h="2826523" w="7931569">
                <a:moveTo>
                  <a:pt x="0" y="0"/>
                </a:moveTo>
                <a:lnTo>
                  <a:pt x="7931569" y="0"/>
                </a:lnTo>
                <a:lnTo>
                  <a:pt x="7931569" y="2826523"/>
                </a:lnTo>
                <a:lnTo>
                  <a:pt x="0" y="2826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462060" y="1687385"/>
            <a:ext cx="6211159"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 Introduction</a:t>
            </a:r>
          </a:p>
        </p:txBody>
      </p:sp>
      <p:sp>
        <p:nvSpPr>
          <p:cNvPr name="AutoShape 8" id="8"/>
          <p:cNvSpPr/>
          <p:nvPr/>
        </p:nvSpPr>
        <p:spPr>
          <a:xfrm>
            <a:off x="1462060" y="2651955"/>
            <a:ext cx="6043533" cy="0"/>
          </a:xfrm>
          <a:prstGeom prst="line">
            <a:avLst/>
          </a:prstGeom>
          <a:ln cap="rnd" w="95250">
            <a:solidFill>
              <a:srgbClr val="EFEFDA"/>
            </a:solidFill>
            <a:prstDash val="solid"/>
            <a:headEnd type="none" len="sm" w="sm"/>
            <a:tailEnd type="none" len="sm" w="sm"/>
          </a:ln>
        </p:spPr>
      </p:sp>
      <p:sp>
        <p:nvSpPr>
          <p:cNvPr name="TextBox 9" id="9"/>
          <p:cNvSpPr txBox="true"/>
          <p:nvPr/>
        </p:nvSpPr>
        <p:spPr>
          <a:xfrm rot="0">
            <a:off x="1462060" y="3312799"/>
            <a:ext cx="7091169" cy="5703965"/>
          </a:xfrm>
          <a:prstGeom prst="rect">
            <a:avLst/>
          </a:prstGeom>
        </p:spPr>
        <p:txBody>
          <a:bodyPr anchor="t" rtlCol="false" tIns="0" lIns="0" bIns="0" rIns="0">
            <a:spAutoFit/>
          </a:bodyPr>
          <a:lstStyle/>
          <a:p>
            <a:pPr algn="l" marL="599600" indent="-299800" lvl="1">
              <a:lnSpc>
                <a:spcPts val="4138"/>
              </a:lnSpc>
              <a:buFont typeface="Arial"/>
              <a:buChar char="•"/>
            </a:pPr>
            <a:r>
              <a:rPr lang="en-US" sz="2777" spc="211">
                <a:solidFill>
                  <a:srgbClr val="EFEFDA"/>
                </a:solidFill>
                <a:latin typeface="ABeeZee"/>
                <a:ea typeface="ABeeZee"/>
                <a:cs typeface="ABeeZee"/>
                <a:sym typeface="ABeeZee"/>
              </a:rPr>
              <a:t> Web Scraping</a:t>
            </a:r>
          </a:p>
          <a:p>
            <a:pPr algn="l">
              <a:lnSpc>
                <a:spcPts val="3691"/>
              </a:lnSpc>
            </a:pPr>
            <a:r>
              <a:rPr lang="en-US" sz="2477" spc="188">
                <a:solidFill>
                  <a:srgbClr val="EFEFDA"/>
                </a:solidFill>
                <a:latin typeface="ABeeZee"/>
                <a:ea typeface="ABeeZee"/>
                <a:cs typeface="ABeeZee"/>
                <a:sym typeface="ABeeZee"/>
              </a:rPr>
              <a:t>Web scraping is the process of automatically collecting data from websites using software instead of manually copying information.</a:t>
            </a:r>
          </a:p>
          <a:p>
            <a:pPr algn="l" marL="599600" indent="-299800" lvl="1">
              <a:lnSpc>
                <a:spcPts val="4138"/>
              </a:lnSpc>
              <a:buFont typeface="Arial"/>
              <a:buChar char="•"/>
            </a:pPr>
            <a:r>
              <a:rPr lang="en-US" sz="2777" spc="211">
                <a:solidFill>
                  <a:srgbClr val="EFEFDA"/>
                </a:solidFill>
                <a:latin typeface="ABeeZee"/>
                <a:ea typeface="ABeeZee"/>
                <a:cs typeface="ABeeZee"/>
                <a:sym typeface="ABeeZee"/>
              </a:rPr>
              <a:t>Product Analysis</a:t>
            </a:r>
          </a:p>
          <a:p>
            <a:pPr algn="l">
              <a:lnSpc>
                <a:spcPts val="3691"/>
              </a:lnSpc>
            </a:pPr>
            <a:r>
              <a:rPr lang="en-US" sz="2477" spc="188">
                <a:solidFill>
                  <a:srgbClr val="EFEFDA"/>
                </a:solidFill>
                <a:latin typeface="ABeeZee"/>
                <a:ea typeface="ABeeZee"/>
                <a:cs typeface="ABeeZee"/>
                <a:sym typeface="ABeeZee"/>
              </a:rPr>
              <a:t>Product analysis is the process of studying product information such as prices, ratings, availability, and reviews to identify trends and support better business decisions.</a:t>
            </a:r>
          </a:p>
          <a:p>
            <a:pPr algn="l">
              <a:lnSpc>
                <a:spcPts val="3691"/>
              </a:lnSpc>
            </a:pP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628654" y="768213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908751" y="107504"/>
            <a:ext cx="7007903" cy="2497362"/>
          </a:xfrm>
          <a:custGeom>
            <a:avLst/>
            <a:gdLst/>
            <a:ahLst/>
            <a:cxnLst/>
            <a:rect r="r" b="b" t="t" l="l"/>
            <a:pathLst>
              <a:path h="2497362" w="7007903">
                <a:moveTo>
                  <a:pt x="0" y="0"/>
                </a:moveTo>
                <a:lnTo>
                  <a:pt x="7007903" y="0"/>
                </a:lnTo>
                <a:lnTo>
                  <a:pt x="7007903"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503952" y="2579630"/>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4784048" y="5210008"/>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037946" y="2826732"/>
            <a:ext cx="6815884" cy="4633537"/>
            <a:chOff x="0" y="0"/>
            <a:chExt cx="1055959" cy="717856"/>
          </a:xfrm>
        </p:grpSpPr>
        <p:sp>
          <p:nvSpPr>
            <p:cNvPr name="Freeform 7" id="7"/>
            <p:cNvSpPr/>
            <p:nvPr/>
          </p:nvSpPr>
          <p:spPr>
            <a:xfrm flipH="false" flipV="false" rot="0">
              <a:off x="0" y="0"/>
              <a:ext cx="1055959" cy="717856"/>
            </a:xfrm>
            <a:custGeom>
              <a:avLst/>
              <a:gdLst/>
              <a:ahLst/>
              <a:cxnLst/>
              <a:rect r="r" b="b" t="t" l="l"/>
              <a:pathLst>
                <a:path h="717856" w="1055959">
                  <a:moveTo>
                    <a:pt x="26125" y="0"/>
                  </a:moveTo>
                  <a:lnTo>
                    <a:pt x="1029834" y="0"/>
                  </a:lnTo>
                  <a:cubicBezTo>
                    <a:pt x="1044262" y="0"/>
                    <a:pt x="1055959" y="11697"/>
                    <a:pt x="1055959" y="26125"/>
                  </a:cubicBezTo>
                  <a:lnTo>
                    <a:pt x="1055959" y="691731"/>
                  </a:lnTo>
                  <a:cubicBezTo>
                    <a:pt x="1055959" y="698660"/>
                    <a:pt x="1053206" y="705305"/>
                    <a:pt x="1048307" y="710204"/>
                  </a:cubicBezTo>
                  <a:cubicBezTo>
                    <a:pt x="1043408" y="715104"/>
                    <a:pt x="1036763" y="717856"/>
                    <a:pt x="1029834" y="717856"/>
                  </a:cubicBezTo>
                  <a:lnTo>
                    <a:pt x="26125" y="717856"/>
                  </a:lnTo>
                  <a:cubicBezTo>
                    <a:pt x="19196" y="717856"/>
                    <a:pt x="12551" y="715104"/>
                    <a:pt x="7652" y="710204"/>
                  </a:cubicBezTo>
                  <a:cubicBezTo>
                    <a:pt x="2752" y="705305"/>
                    <a:pt x="0" y="698660"/>
                    <a:pt x="0" y="691731"/>
                  </a:cubicBezTo>
                  <a:lnTo>
                    <a:pt x="0" y="26125"/>
                  </a:lnTo>
                  <a:cubicBezTo>
                    <a:pt x="0" y="19196"/>
                    <a:pt x="2752" y="12551"/>
                    <a:pt x="7652" y="7652"/>
                  </a:cubicBezTo>
                  <a:cubicBezTo>
                    <a:pt x="12551" y="2752"/>
                    <a:pt x="19196" y="0"/>
                    <a:pt x="26125" y="0"/>
                  </a:cubicBezTo>
                  <a:close/>
                </a:path>
              </a:pathLst>
            </a:custGeom>
            <a:blipFill>
              <a:blip r:embed="rId6"/>
              <a:stretch>
                <a:fillRect l="-939" t="0" r="-939" b="0"/>
              </a:stretch>
            </a:blipFill>
            <a:ln w="85725" cap="rnd">
              <a:solidFill>
                <a:srgbClr val="EFEFDA"/>
              </a:solidFill>
              <a:prstDash val="solid"/>
              <a:round/>
            </a:ln>
          </p:spPr>
        </p:sp>
      </p:grpSp>
      <p:sp>
        <p:nvSpPr>
          <p:cNvPr name="TextBox 8" id="8"/>
          <p:cNvSpPr txBox="true"/>
          <p:nvPr/>
        </p:nvSpPr>
        <p:spPr>
          <a:xfrm rot="0">
            <a:off x="569295" y="1375235"/>
            <a:ext cx="7339089"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 Problem Statement</a:t>
            </a:r>
          </a:p>
        </p:txBody>
      </p:sp>
      <p:sp>
        <p:nvSpPr>
          <p:cNvPr name="AutoShape 9" id="9"/>
          <p:cNvSpPr/>
          <p:nvPr/>
        </p:nvSpPr>
        <p:spPr>
          <a:xfrm>
            <a:off x="1462060" y="2339804"/>
            <a:ext cx="4943540" cy="0"/>
          </a:xfrm>
          <a:prstGeom prst="line">
            <a:avLst/>
          </a:prstGeom>
          <a:ln cap="rnd" w="95250">
            <a:solidFill>
              <a:srgbClr val="EFEFDA"/>
            </a:solidFill>
            <a:prstDash val="solid"/>
            <a:headEnd type="none" len="sm" w="sm"/>
            <a:tailEnd type="none" len="sm" w="sm"/>
          </a:ln>
        </p:spPr>
      </p:sp>
      <p:sp>
        <p:nvSpPr>
          <p:cNvPr name="TextBox 10" id="10"/>
          <p:cNvSpPr txBox="true"/>
          <p:nvPr/>
        </p:nvSpPr>
        <p:spPr>
          <a:xfrm rot="0">
            <a:off x="741428" y="2750532"/>
            <a:ext cx="8950310" cy="3252039"/>
          </a:xfrm>
          <a:prstGeom prst="rect">
            <a:avLst/>
          </a:prstGeom>
        </p:spPr>
        <p:txBody>
          <a:bodyPr anchor="t" rtlCol="false" tIns="0" lIns="0" bIns="0" rIns="0">
            <a:spAutoFit/>
          </a:bodyPr>
          <a:lstStyle/>
          <a:p>
            <a:pPr algn="l">
              <a:lnSpc>
                <a:spcPts val="3691"/>
              </a:lnSpc>
            </a:pPr>
            <a:r>
              <a:rPr lang="en-US" sz="2477" spc="188">
                <a:solidFill>
                  <a:srgbClr val="EFEFDA"/>
                </a:solidFill>
                <a:latin typeface="ABeeZee"/>
                <a:ea typeface="ABeeZee"/>
                <a:cs typeface="ABeeZee"/>
                <a:sym typeface="ABeeZee"/>
              </a:rPr>
              <a:t> Many e-commerce websites contain valuable product information, but manually collecting and analyzing this data is Time-consuming,Error-prone,Difficult to update regularly</a:t>
            </a:r>
          </a:p>
          <a:p>
            <a:pPr algn="l">
              <a:lnSpc>
                <a:spcPts val="3691"/>
              </a:lnSpc>
            </a:pPr>
            <a:r>
              <a:rPr lang="en-US" sz="2477" spc="188">
                <a:solidFill>
                  <a:srgbClr val="EFEFDA"/>
                </a:solidFill>
                <a:latin typeface="ABeeZee"/>
                <a:ea typeface="ABeeZee"/>
                <a:cs typeface="ABeeZee"/>
                <a:sym typeface="ABeeZee"/>
              </a:rPr>
              <a:t>Our project automates data collection and analyzes products efficiently.</a:t>
            </a:r>
          </a:p>
          <a:p>
            <a:pPr algn="l">
              <a:lnSpc>
                <a:spcPts val="3691"/>
              </a:lnSpc>
            </a:pP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997837" y="3535045"/>
            <a:ext cx="9027043" cy="3216910"/>
          </a:xfrm>
          <a:custGeom>
            <a:avLst/>
            <a:gdLst/>
            <a:ahLst/>
            <a:cxnLst/>
            <a:rect r="r" b="b" t="t" l="l"/>
            <a:pathLst>
              <a:path h="3216910" w="9027043">
                <a:moveTo>
                  <a:pt x="0" y="0"/>
                </a:moveTo>
                <a:lnTo>
                  <a:pt x="9027043" y="0"/>
                </a:lnTo>
                <a:lnTo>
                  <a:pt x="9027043" y="3216910"/>
                </a:lnTo>
                <a:lnTo>
                  <a:pt x="0" y="3216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695" y="1154090"/>
            <a:ext cx="7151923" cy="7978819"/>
          </a:xfrm>
          <a:custGeom>
            <a:avLst/>
            <a:gdLst/>
            <a:ahLst/>
            <a:cxnLst/>
            <a:rect r="r" b="b" t="t" l="l"/>
            <a:pathLst>
              <a:path h="7978819" w="7151923">
                <a:moveTo>
                  <a:pt x="0" y="0"/>
                </a:moveTo>
                <a:lnTo>
                  <a:pt x="7151923" y="0"/>
                </a:lnTo>
                <a:lnTo>
                  <a:pt x="7151923" y="7978820"/>
                </a:lnTo>
                <a:lnTo>
                  <a:pt x="0" y="797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763314" y="1173140"/>
            <a:ext cx="4036596" cy="877791"/>
          </a:xfrm>
          <a:prstGeom prst="rect">
            <a:avLst/>
          </a:prstGeom>
        </p:spPr>
        <p:txBody>
          <a:bodyPr anchor="t" rtlCol="false" tIns="0" lIns="0" bIns="0" rIns="0">
            <a:spAutoFit/>
          </a:bodyPr>
          <a:lstStyle/>
          <a:p>
            <a:pPr algn="r">
              <a:lnSpc>
                <a:spcPts val="6865"/>
              </a:lnSpc>
            </a:pPr>
            <a:r>
              <a:rPr lang="en-US" sz="5918" b="true">
                <a:solidFill>
                  <a:srgbClr val="EFEFDA"/>
                </a:solidFill>
                <a:latin typeface="Glacial Indifference Bold"/>
                <a:ea typeface="Glacial Indifference Bold"/>
                <a:cs typeface="Glacial Indifference Bold"/>
                <a:sym typeface="Glacial Indifference Bold"/>
              </a:rPr>
              <a:t> Objectives</a:t>
            </a:r>
          </a:p>
        </p:txBody>
      </p:sp>
      <p:sp>
        <p:nvSpPr>
          <p:cNvPr name="AutoShape 6" id="6"/>
          <p:cNvSpPr/>
          <p:nvPr/>
        </p:nvSpPr>
        <p:spPr>
          <a:xfrm>
            <a:off x="9939524" y="2384070"/>
            <a:ext cx="7025646" cy="0"/>
          </a:xfrm>
          <a:prstGeom prst="line">
            <a:avLst/>
          </a:prstGeom>
          <a:ln cap="rnd" w="95250">
            <a:solidFill>
              <a:srgbClr val="EFEFDA"/>
            </a:solidFill>
            <a:prstDash val="solid"/>
            <a:headEnd type="none" len="sm" w="sm"/>
            <a:tailEnd type="none" len="sm" w="sm"/>
          </a:ln>
        </p:spPr>
      </p:sp>
      <p:sp>
        <p:nvSpPr>
          <p:cNvPr name="TextBox 7" id="7"/>
          <p:cNvSpPr txBox="true"/>
          <p:nvPr/>
        </p:nvSpPr>
        <p:spPr>
          <a:xfrm rot="0">
            <a:off x="8400637" y="3069501"/>
            <a:ext cx="8564533" cy="3252039"/>
          </a:xfrm>
          <a:prstGeom prst="rect">
            <a:avLst/>
          </a:prstGeom>
        </p:spPr>
        <p:txBody>
          <a:bodyPr anchor="t" rtlCol="false" tIns="0" lIns="0" bIns="0" rIns="0">
            <a:spAutoFit/>
          </a:bodyPr>
          <a:lstStyle/>
          <a:p>
            <a:pPr algn="l" marL="534832" indent="-267416" lvl="1">
              <a:lnSpc>
                <a:spcPts val="3691"/>
              </a:lnSpc>
              <a:buFont typeface="Arial"/>
              <a:buChar char="•"/>
            </a:pPr>
            <a:r>
              <a:rPr lang="en-US" sz="2477" spc="188">
                <a:solidFill>
                  <a:srgbClr val="EFEFDA"/>
                </a:solidFill>
                <a:latin typeface="ABeeZee"/>
                <a:ea typeface="ABeeZee"/>
                <a:cs typeface="ABeeZee"/>
                <a:sym typeface="ABeeZee"/>
              </a:rPr>
              <a:t> Collect product data automatically.</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Store structured information.</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Clean collected data.</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Analyze product information.</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Visualize insights.</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Save time and improve accuracy.</a:t>
            </a:r>
          </a:p>
          <a:p>
            <a:pPr algn="r">
              <a:lnSpc>
                <a:spcPts val="3691"/>
              </a:lnSpc>
            </a:pPr>
          </a:p>
        </p:txBody>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503952"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784048" y="3894819"/>
            <a:ext cx="7007903" cy="2497362"/>
          </a:xfrm>
          <a:custGeom>
            <a:avLst/>
            <a:gdLst/>
            <a:ahLst/>
            <a:cxnLst/>
            <a:rect r="r" b="b" t="t" l="l"/>
            <a:pathLst>
              <a:path h="2497362" w="7007903">
                <a:moveTo>
                  <a:pt x="0" y="0"/>
                </a:moveTo>
                <a:lnTo>
                  <a:pt x="7007904" y="0"/>
                </a:lnTo>
                <a:lnTo>
                  <a:pt x="7007904" y="2497362"/>
                </a:lnTo>
                <a:lnTo>
                  <a:pt x="0" y="2497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645491" y="9984532"/>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487739" y="9984532"/>
            <a:ext cx="4154770" cy="1480609"/>
          </a:xfrm>
          <a:custGeom>
            <a:avLst/>
            <a:gdLst/>
            <a:ahLst/>
            <a:cxnLst/>
            <a:rect r="r" b="b" t="t" l="l"/>
            <a:pathLst>
              <a:path h="1480609" w="4154770">
                <a:moveTo>
                  <a:pt x="0" y="0"/>
                </a:moveTo>
                <a:lnTo>
                  <a:pt x="4154770" y="0"/>
                </a:lnTo>
                <a:lnTo>
                  <a:pt x="4154770" y="1480609"/>
                </a:lnTo>
                <a:lnTo>
                  <a:pt x="0" y="14806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721322" y="1687385"/>
            <a:ext cx="8845357" cy="877791"/>
          </a:xfrm>
          <a:prstGeom prst="rect">
            <a:avLst/>
          </a:prstGeom>
        </p:spPr>
        <p:txBody>
          <a:bodyPr anchor="t" rtlCol="false" tIns="0" lIns="0" bIns="0" rIns="0">
            <a:spAutoFit/>
          </a:bodyPr>
          <a:lstStyle/>
          <a:p>
            <a:pPr algn="ctr">
              <a:lnSpc>
                <a:spcPts val="6865"/>
              </a:lnSpc>
            </a:pPr>
            <a:r>
              <a:rPr lang="en-US" sz="5918" b="true">
                <a:solidFill>
                  <a:srgbClr val="EFEFDA"/>
                </a:solidFill>
                <a:latin typeface="Glacial Indifference Bold"/>
                <a:ea typeface="Glacial Indifference Bold"/>
                <a:cs typeface="Glacial Indifference Bold"/>
                <a:sym typeface="Glacial Indifference Bold"/>
              </a:rPr>
              <a:t> Existing Method</a:t>
            </a:r>
          </a:p>
        </p:txBody>
      </p:sp>
      <p:sp>
        <p:nvSpPr>
          <p:cNvPr name="AutoShape 7" id="7"/>
          <p:cNvSpPr/>
          <p:nvPr/>
        </p:nvSpPr>
        <p:spPr>
          <a:xfrm>
            <a:off x="6799971" y="2651955"/>
            <a:ext cx="4688057" cy="0"/>
          </a:xfrm>
          <a:prstGeom prst="line">
            <a:avLst/>
          </a:prstGeom>
          <a:ln cap="rnd" w="95250">
            <a:solidFill>
              <a:srgbClr val="EFEFDA"/>
            </a:solidFill>
            <a:prstDash val="solid"/>
            <a:headEnd type="none" len="sm" w="sm"/>
            <a:tailEnd type="none" len="sm" w="sm"/>
          </a:ln>
        </p:spPr>
      </p:sp>
      <p:grpSp>
        <p:nvGrpSpPr>
          <p:cNvPr name="Group 8" id="8"/>
          <p:cNvGrpSpPr/>
          <p:nvPr/>
        </p:nvGrpSpPr>
        <p:grpSpPr>
          <a:xfrm rot="0">
            <a:off x="3571862" y="6036448"/>
            <a:ext cx="11144275" cy="3005699"/>
            <a:chOff x="0" y="0"/>
            <a:chExt cx="2935118" cy="791624"/>
          </a:xfrm>
        </p:grpSpPr>
        <p:sp>
          <p:nvSpPr>
            <p:cNvPr name="Freeform 9" id="9"/>
            <p:cNvSpPr/>
            <p:nvPr/>
          </p:nvSpPr>
          <p:spPr>
            <a:xfrm flipH="false" flipV="false" rot="0">
              <a:off x="0" y="0"/>
              <a:ext cx="2935118" cy="791624"/>
            </a:xfrm>
            <a:custGeom>
              <a:avLst/>
              <a:gdLst/>
              <a:ahLst/>
              <a:cxnLst/>
              <a:rect r="r" b="b" t="t" l="l"/>
              <a:pathLst>
                <a:path h="791624" w="2935118">
                  <a:moveTo>
                    <a:pt x="69470" y="0"/>
                  </a:moveTo>
                  <a:lnTo>
                    <a:pt x="2865648" y="0"/>
                  </a:lnTo>
                  <a:cubicBezTo>
                    <a:pt x="2904015" y="0"/>
                    <a:pt x="2935118" y="31103"/>
                    <a:pt x="2935118" y="69470"/>
                  </a:cubicBezTo>
                  <a:lnTo>
                    <a:pt x="2935118" y="722155"/>
                  </a:lnTo>
                  <a:cubicBezTo>
                    <a:pt x="2935118" y="760522"/>
                    <a:pt x="2904015" y="791624"/>
                    <a:pt x="2865648" y="791624"/>
                  </a:cubicBezTo>
                  <a:lnTo>
                    <a:pt x="69470" y="791624"/>
                  </a:lnTo>
                  <a:cubicBezTo>
                    <a:pt x="51045" y="791624"/>
                    <a:pt x="33375" y="784305"/>
                    <a:pt x="20347" y="771277"/>
                  </a:cubicBezTo>
                  <a:cubicBezTo>
                    <a:pt x="7319" y="758249"/>
                    <a:pt x="0" y="740579"/>
                    <a:pt x="0" y="722155"/>
                  </a:cubicBezTo>
                  <a:lnTo>
                    <a:pt x="0" y="69470"/>
                  </a:lnTo>
                  <a:cubicBezTo>
                    <a:pt x="0" y="31103"/>
                    <a:pt x="31103" y="0"/>
                    <a:pt x="69470" y="0"/>
                  </a:cubicBezTo>
                  <a:close/>
                </a:path>
              </a:pathLst>
            </a:custGeom>
            <a:solidFill>
              <a:srgbClr val="000B26"/>
            </a:solidFill>
          </p:spPr>
        </p:sp>
        <p:sp>
          <p:nvSpPr>
            <p:cNvPr name="TextBox 10" id="10"/>
            <p:cNvSpPr txBox="true"/>
            <p:nvPr/>
          </p:nvSpPr>
          <p:spPr>
            <a:xfrm>
              <a:off x="0" y="-38100"/>
              <a:ext cx="2935118" cy="82972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780747" y="3170619"/>
            <a:ext cx="12268555" cy="1851864"/>
          </a:xfrm>
          <a:prstGeom prst="rect">
            <a:avLst/>
          </a:prstGeom>
        </p:spPr>
        <p:txBody>
          <a:bodyPr anchor="t" rtlCol="false" tIns="0" lIns="0" bIns="0" rIns="0">
            <a:spAutoFit/>
          </a:bodyPr>
          <a:lstStyle/>
          <a:p>
            <a:pPr algn="l" marL="534832" indent="-267416" lvl="1">
              <a:lnSpc>
                <a:spcPts val="3691"/>
              </a:lnSpc>
              <a:buFont typeface="Arial"/>
              <a:buChar char="•"/>
            </a:pPr>
            <a:r>
              <a:rPr lang="en-US" sz="2477" spc="188">
                <a:solidFill>
                  <a:srgbClr val="EFEFDA"/>
                </a:solidFill>
                <a:latin typeface="ABeeZee"/>
                <a:ea typeface="ABeeZee"/>
                <a:cs typeface="ABeeZee"/>
                <a:sym typeface="ABeeZee"/>
              </a:rPr>
              <a:t> Open multiple product pages manually.</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Compare price and rating one by one.</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The process is slow and repetitive</a:t>
            </a:r>
          </a:p>
          <a:p>
            <a:pPr algn="ctr">
              <a:lnSpc>
                <a:spcPts val="3691"/>
              </a:lnSpc>
            </a:pPr>
          </a:p>
        </p:txBody>
      </p:sp>
      <p:sp>
        <p:nvSpPr>
          <p:cNvPr name="TextBox 12" id="12"/>
          <p:cNvSpPr txBox="true"/>
          <p:nvPr/>
        </p:nvSpPr>
        <p:spPr>
          <a:xfrm rot="0">
            <a:off x="4002271" y="6341903"/>
            <a:ext cx="10283459" cy="2785314"/>
          </a:xfrm>
          <a:prstGeom prst="rect">
            <a:avLst/>
          </a:prstGeom>
        </p:spPr>
        <p:txBody>
          <a:bodyPr anchor="t" rtlCol="false" tIns="0" lIns="0" bIns="0" rIns="0">
            <a:spAutoFit/>
          </a:bodyPr>
          <a:lstStyle/>
          <a:p>
            <a:pPr algn="just" marL="534832" indent="-267416" lvl="1">
              <a:lnSpc>
                <a:spcPts val="3691"/>
              </a:lnSpc>
              <a:buFont typeface="Arial"/>
              <a:buChar char="•"/>
            </a:pPr>
            <a:r>
              <a:rPr lang="en-US" sz="2477" spc="188">
                <a:solidFill>
                  <a:srgbClr val="FFFFFF"/>
                </a:solidFill>
                <a:latin typeface="ABeeZee"/>
                <a:ea typeface="ABeeZee"/>
                <a:cs typeface="ABeeZee"/>
                <a:sym typeface="ABeeZee"/>
              </a:rPr>
              <a:t> Use Python for scraping.</a:t>
            </a:r>
          </a:p>
          <a:p>
            <a:pPr algn="just" marL="534832" indent="-267416" lvl="1">
              <a:lnSpc>
                <a:spcPts val="3691"/>
              </a:lnSpc>
              <a:buFont typeface="Arial"/>
              <a:buChar char="•"/>
            </a:pPr>
            <a:r>
              <a:rPr lang="en-US" sz="2477" spc="188">
                <a:solidFill>
                  <a:srgbClr val="FFFFFF"/>
                </a:solidFill>
                <a:latin typeface="ABeeZee"/>
                <a:ea typeface="ABeeZee"/>
                <a:cs typeface="ABeeZee"/>
                <a:sym typeface="ABeeZee"/>
              </a:rPr>
              <a:t>Use Requests to fetch webpage HTML.</a:t>
            </a:r>
          </a:p>
          <a:p>
            <a:pPr algn="just" marL="534832" indent="-267416" lvl="1">
              <a:lnSpc>
                <a:spcPts val="3691"/>
              </a:lnSpc>
              <a:buFont typeface="Arial"/>
              <a:buChar char="•"/>
            </a:pPr>
            <a:r>
              <a:rPr lang="en-US" sz="2477" spc="188">
                <a:solidFill>
                  <a:srgbClr val="FFFFFF"/>
                </a:solidFill>
                <a:latin typeface="ABeeZee"/>
                <a:ea typeface="ABeeZee"/>
                <a:cs typeface="ABeeZee"/>
                <a:sym typeface="ABeeZee"/>
              </a:rPr>
              <a:t>Use Beautiful Soup to extract product data.</a:t>
            </a:r>
          </a:p>
          <a:p>
            <a:pPr algn="just" marL="534832" indent="-267416" lvl="1">
              <a:lnSpc>
                <a:spcPts val="3691"/>
              </a:lnSpc>
              <a:buFont typeface="Arial"/>
              <a:buChar char="•"/>
            </a:pPr>
            <a:r>
              <a:rPr lang="en-US" sz="2477" spc="188">
                <a:solidFill>
                  <a:srgbClr val="FFFFFF"/>
                </a:solidFill>
                <a:latin typeface="ABeeZee"/>
                <a:ea typeface="ABeeZee"/>
                <a:cs typeface="ABeeZee"/>
                <a:sym typeface="ABeeZee"/>
              </a:rPr>
              <a:t>Use Pandas to clean and organize data.</a:t>
            </a:r>
          </a:p>
          <a:p>
            <a:pPr algn="just" marL="534832" indent="-267416" lvl="1">
              <a:lnSpc>
                <a:spcPts val="3691"/>
              </a:lnSpc>
              <a:buFont typeface="Arial"/>
              <a:buChar char="•"/>
            </a:pPr>
            <a:r>
              <a:rPr lang="en-US" sz="2477" spc="188">
                <a:solidFill>
                  <a:srgbClr val="FFFFFF"/>
                </a:solidFill>
                <a:latin typeface="ABeeZee"/>
                <a:ea typeface="ABeeZee"/>
                <a:cs typeface="ABeeZee"/>
                <a:sym typeface="ABeeZee"/>
              </a:rPr>
              <a:t>Use charts to show findings.</a:t>
            </a:r>
          </a:p>
          <a:p>
            <a:pPr algn="just">
              <a:lnSpc>
                <a:spcPts val="3691"/>
              </a:lnSpc>
            </a:pPr>
          </a:p>
        </p:txBody>
      </p:sp>
      <p:sp>
        <p:nvSpPr>
          <p:cNvPr name="AutoShape 13" id="13"/>
          <p:cNvSpPr/>
          <p:nvPr/>
        </p:nvSpPr>
        <p:spPr>
          <a:xfrm>
            <a:off x="6799971" y="5529466"/>
            <a:ext cx="4688057" cy="0"/>
          </a:xfrm>
          <a:prstGeom prst="line">
            <a:avLst/>
          </a:prstGeom>
          <a:ln cap="rnd" w="95250">
            <a:solidFill>
              <a:srgbClr val="EFEFDA"/>
            </a:solidFill>
            <a:prstDash val="solid"/>
            <a:headEnd type="none" len="sm" w="sm"/>
            <a:tailEnd type="none" len="sm" w="sm"/>
          </a:ln>
        </p:spPr>
      </p:sp>
      <p:sp>
        <p:nvSpPr>
          <p:cNvPr name="TextBox 14" id="14"/>
          <p:cNvSpPr txBox="true"/>
          <p:nvPr/>
        </p:nvSpPr>
        <p:spPr>
          <a:xfrm rot="0">
            <a:off x="4467919" y="4593113"/>
            <a:ext cx="8845357" cy="877791"/>
          </a:xfrm>
          <a:prstGeom prst="rect">
            <a:avLst/>
          </a:prstGeom>
        </p:spPr>
        <p:txBody>
          <a:bodyPr anchor="t" rtlCol="false" tIns="0" lIns="0" bIns="0" rIns="0">
            <a:spAutoFit/>
          </a:bodyPr>
          <a:lstStyle/>
          <a:p>
            <a:pPr algn="ctr">
              <a:lnSpc>
                <a:spcPts val="6865"/>
              </a:lnSpc>
            </a:pPr>
            <a:r>
              <a:rPr lang="en-US" sz="5918" b="true">
                <a:solidFill>
                  <a:srgbClr val="EFEFDA"/>
                </a:solidFill>
                <a:latin typeface="Glacial Indifference Bold"/>
                <a:ea typeface="Glacial Indifference Bold"/>
                <a:cs typeface="Glacial Indifference Bold"/>
                <a:sym typeface="Glacial Indifference Bold"/>
              </a:rPr>
              <a:t> Proposed Method</a:t>
            </a:r>
          </a:p>
        </p:txBody>
      </p:sp>
    </p:spTree>
  </p:cSld>
  <p:clrMapOvr>
    <a:masterClrMapping/>
  </p:clrMapOvr>
  <p:transition spd="fast">
    <p:cover dir="d"/>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7601827">
            <a:off x="2741706" y="-7664688"/>
            <a:ext cx="33976466" cy="12107977"/>
          </a:xfrm>
          <a:custGeom>
            <a:avLst/>
            <a:gdLst/>
            <a:ahLst/>
            <a:cxnLst/>
            <a:rect r="r" b="b" t="t" l="l"/>
            <a:pathLst>
              <a:path h="12107977" w="33976466">
                <a:moveTo>
                  <a:pt x="0" y="0"/>
                </a:moveTo>
                <a:lnTo>
                  <a:pt x="33976466" y="0"/>
                </a:lnTo>
                <a:lnTo>
                  <a:pt x="33976466" y="12107977"/>
                </a:lnTo>
                <a:lnTo>
                  <a:pt x="0" y="12107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762028" y="2478859"/>
            <a:ext cx="4910865" cy="0"/>
          </a:xfrm>
          <a:prstGeom prst="line">
            <a:avLst/>
          </a:prstGeom>
          <a:ln cap="rnd" w="95250">
            <a:solidFill>
              <a:srgbClr val="EFEFDA"/>
            </a:solidFill>
            <a:prstDash val="solid"/>
            <a:headEnd type="none" len="sm" w="sm"/>
            <a:tailEnd type="none" len="sm" w="sm"/>
          </a:ln>
        </p:spPr>
      </p:sp>
      <p:pic>
        <p:nvPicPr>
          <p:cNvPr name="Picture 4" id="4"/>
          <p:cNvPicPr>
            <a:picLocks noChangeAspect="true"/>
          </p:cNvPicPr>
          <p:nvPr/>
        </p:nvPicPr>
        <p:blipFill>
          <a:blip r:embed="rId4"/>
          <a:stretch>
            <a:fillRect/>
          </a:stretch>
        </p:blipFill>
        <p:spPr>
          <a:xfrm rot="0">
            <a:off x="8387004" y="2125838"/>
            <a:ext cx="9083947" cy="7498816"/>
          </a:xfrm>
          <a:prstGeom prst="rect">
            <a:avLst/>
          </a:prstGeom>
        </p:spPr>
      </p:pic>
      <p:sp>
        <p:nvSpPr>
          <p:cNvPr name="Freeform 5" id="5"/>
          <p:cNvSpPr/>
          <p:nvPr/>
        </p:nvSpPr>
        <p:spPr>
          <a:xfrm flipH="false" flipV="false" rot="0">
            <a:off x="7414720" y="7807287"/>
            <a:ext cx="2008922" cy="2120743"/>
          </a:xfrm>
          <a:custGeom>
            <a:avLst/>
            <a:gdLst/>
            <a:ahLst/>
            <a:cxnLst/>
            <a:rect r="r" b="b" t="t" l="l"/>
            <a:pathLst>
              <a:path h="2120743" w="2008922">
                <a:moveTo>
                  <a:pt x="0" y="0"/>
                </a:moveTo>
                <a:lnTo>
                  <a:pt x="2008921" y="0"/>
                </a:lnTo>
                <a:lnTo>
                  <a:pt x="2008921" y="2120743"/>
                </a:lnTo>
                <a:lnTo>
                  <a:pt x="0" y="21207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62028" y="1553443"/>
            <a:ext cx="8845357" cy="877791"/>
          </a:xfrm>
          <a:prstGeom prst="rect">
            <a:avLst/>
          </a:prstGeom>
        </p:spPr>
        <p:txBody>
          <a:bodyPr anchor="t" rtlCol="false" tIns="0" lIns="0" bIns="0" rIns="0">
            <a:spAutoFit/>
          </a:bodyPr>
          <a:lstStyle/>
          <a:p>
            <a:pPr algn="l">
              <a:lnSpc>
                <a:spcPts val="6865"/>
              </a:lnSpc>
            </a:pPr>
            <a:r>
              <a:rPr lang="en-US" sz="5918" b="true">
                <a:solidFill>
                  <a:srgbClr val="EFEFDA"/>
                </a:solidFill>
                <a:latin typeface="Glacial Indifference Bold"/>
                <a:ea typeface="Glacial Indifference Bold"/>
                <a:cs typeface="Glacial Indifference Bold"/>
                <a:sym typeface="Glacial Indifference Bold"/>
              </a:rPr>
              <a:t> Data Source</a:t>
            </a:r>
          </a:p>
        </p:txBody>
      </p:sp>
      <p:sp>
        <p:nvSpPr>
          <p:cNvPr name="TextBox 7" id="7"/>
          <p:cNvSpPr txBox="true"/>
          <p:nvPr/>
        </p:nvSpPr>
        <p:spPr>
          <a:xfrm rot="0">
            <a:off x="1028700" y="3258627"/>
            <a:ext cx="7390481" cy="3965616"/>
          </a:xfrm>
          <a:prstGeom prst="rect">
            <a:avLst/>
          </a:prstGeom>
        </p:spPr>
        <p:txBody>
          <a:bodyPr anchor="t" rtlCol="false" tIns="0" lIns="0" bIns="0" rIns="0">
            <a:spAutoFit/>
          </a:bodyPr>
          <a:lstStyle/>
          <a:p>
            <a:pPr algn="l">
              <a:lnSpc>
                <a:spcPts val="4498"/>
              </a:lnSpc>
            </a:pPr>
            <a:r>
              <a:rPr lang="en-US" sz="3018" spc="229">
                <a:solidFill>
                  <a:srgbClr val="EFEFDA"/>
                </a:solidFill>
                <a:latin typeface="ABeeZee"/>
                <a:ea typeface="ABeeZee"/>
                <a:cs typeface="ABeeZee"/>
                <a:sym typeface="ABeeZee"/>
              </a:rPr>
              <a:t> Data Collected</a:t>
            </a:r>
          </a:p>
          <a:p>
            <a:pPr algn="l" marL="651795" indent="-325897" lvl="1">
              <a:lnSpc>
                <a:spcPts val="4498"/>
              </a:lnSpc>
              <a:buFont typeface="Arial"/>
              <a:buChar char="•"/>
            </a:pPr>
            <a:r>
              <a:rPr lang="en-US" sz="3018" spc="229">
                <a:solidFill>
                  <a:srgbClr val="EFEFDA"/>
                </a:solidFill>
                <a:latin typeface="ABeeZee"/>
                <a:ea typeface="ABeeZee"/>
                <a:cs typeface="ABeeZee"/>
                <a:sym typeface="ABeeZee"/>
              </a:rPr>
              <a:t>Product Name</a:t>
            </a:r>
          </a:p>
          <a:p>
            <a:pPr algn="l" marL="651795" indent="-325897" lvl="1">
              <a:lnSpc>
                <a:spcPts val="4498"/>
              </a:lnSpc>
              <a:buFont typeface="Arial"/>
              <a:buChar char="•"/>
            </a:pPr>
            <a:r>
              <a:rPr lang="en-US" sz="3018" spc="229">
                <a:solidFill>
                  <a:srgbClr val="EFEFDA"/>
                </a:solidFill>
                <a:latin typeface="ABeeZee"/>
                <a:ea typeface="ABeeZee"/>
                <a:cs typeface="ABeeZee"/>
                <a:sym typeface="ABeeZee"/>
              </a:rPr>
              <a:t>Price</a:t>
            </a:r>
          </a:p>
          <a:p>
            <a:pPr algn="l" marL="651795" indent="-325897" lvl="1">
              <a:lnSpc>
                <a:spcPts val="4498"/>
              </a:lnSpc>
              <a:buFont typeface="Arial"/>
              <a:buChar char="•"/>
            </a:pPr>
            <a:r>
              <a:rPr lang="en-US" sz="3018" spc="229">
                <a:solidFill>
                  <a:srgbClr val="EFEFDA"/>
                </a:solidFill>
                <a:latin typeface="ABeeZee"/>
                <a:ea typeface="ABeeZee"/>
                <a:cs typeface="ABeeZee"/>
                <a:sym typeface="ABeeZee"/>
              </a:rPr>
              <a:t>Rating</a:t>
            </a:r>
          </a:p>
          <a:p>
            <a:pPr algn="l" marL="651795" indent="-325897" lvl="1">
              <a:lnSpc>
                <a:spcPts val="4498"/>
              </a:lnSpc>
              <a:buFont typeface="Arial"/>
              <a:buChar char="•"/>
            </a:pPr>
            <a:r>
              <a:rPr lang="en-US" sz="3018" spc="229">
                <a:solidFill>
                  <a:srgbClr val="EFEFDA"/>
                </a:solidFill>
                <a:latin typeface="ABeeZee"/>
                <a:ea typeface="ABeeZee"/>
                <a:cs typeface="ABeeZee"/>
                <a:sym typeface="ABeeZee"/>
              </a:rPr>
              <a:t>Availability</a:t>
            </a:r>
          </a:p>
          <a:p>
            <a:pPr algn="l" marL="651795" indent="-325897" lvl="1">
              <a:lnSpc>
                <a:spcPts val="4498"/>
              </a:lnSpc>
              <a:buFont typeface="Arial"/>
              <a:buChar char="•"/>
            </a:pPr>
            <a:r>
              <a:rPr lang="en-US" sz="3018" spc="229">
                <a:solidFill>
                  <a:srgbClr val="EFEFDA"/>
                </a:solidFill>
                <a:latin typeface="ABeeZee"/>
                <a:ea typeface="ABeeZee"/>
                <a:cs typeface="ABeeZee"/>
                <a:sym typeface="ABeeZee"/>
              </a:rPr>
              <a:t>Product Category</a:t>
            </a:r>
          </a:p>
          <a:p>
            <a:pPr algn="l">
              <a:lnSpc>
                <a:spcPts val="4498"/>
              </a:lnSpc>
            </a:pPr>
          </a:p>
        </p:txBody>
      </p:sp>
      <p:sp>
        <p:nvSpPr>
          <p:cNvPr name="Freeform 8" id="8"/>
          <p:cNvSpPr/>
          <p:nvPr/>
        </p:nvSpPr>
        <p:spPr>
          <a:xfrm flipH="true" flipV="false" rot="0">
            <a:off x="14796213" y="406745"/>
            <a:ext cx="3835486" cy="4048978"/>
          </a:xfrm>
          <a:custGeom>
            <a:avLst/>
            <a:gdLst/>
            <a:ahLst/>
            <a:cxnLst/>
            <a:rect r="r" b="b" t="t" l="l"/>
            <a:pathLst>
              <a:path h="4048978" w="3835486">
                <a:moveTo>
                  <a:pt x="3835486" y="0"/>
                </a:moveTo>
                <a:lnTo>
                  <a:pt x="0" y="0"/>
                </a:lnTo>
                <a:lnTo>
                  <a:pt x="0" y="4048978"/>
                </a:lnTo>
                <a:lnTo>
                  <a:pt x="3835486" y="4048978"/>
                </a:lnTo>
                <a:lnTo>
                  <a:pt x="383548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41472" y="2646317"/>
            <a:ext cx="11351259" cy="1424644"/>
          </a:xfrm>
          <a:prstGeom prst="rect">
            <a:avLst/>
          </a:prstGeom>
        </p:spPr>
        <p:txBody>
          <a:bodyPr anchor="t" rtlCol="false" tIns="0" lIns="0" bIns="0" rIns="0">
            <a:spAutoFit/>
          </a:bodyPr>
          <a:lstStyle/>
          <a:p>
            <a:pPr algn="l">
              <a:lnSpc>
                <a:spcPts val="4949"/>
              </a:lnSpc>
            </a:pPr>
            <a:r>
              <a:rPr lang="en-US" sz="4266" b="true">
                <a:solidFill>
                  <a:srgbClr val="EFEFDA"/>
                </a:solidFill>
                <a:latin typeface="Glacial Indifference Bold"/>
                <a:ea typeface="Glacial Indifference Bold"/>
                <a:cs typeface="Glacial Indifference Bold"/>
                <a:sym typeface="Glacial Indifference Bold"/>
              </a:rPr>
              <a:t>    Website Used: Books to Scrape</a:t>
            </a:r>
          </a:p>
          <a:p>
            <a:pPr algn="l">
              <a:lnSpc>
                <a:spcPts val="6225"/>
              </a:lnSpc>
            </a:pPr>
          </a:p>
        </p:txBody>
      </p:sp>
    </p:spTree>
  </p:cSld>
  <p:clrMapOvr>
    <a:masterClrMapping/>
  </p:clrMapOvr>
  <p:transition spd="fast">
    <p:circl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2525811">
            <a:off x="-5660721" y="-2098065"/>
            <a:ext cx="16297074" cy="13115899"/>
            <a:chOff x="0" y="0"/>
            <a:chExt cx="4292234" cy="3454393"/>
          </a:xfrm>
        </p:grpSpPr>
        <p:sp>
          <p:nvSpPr>
            <p:cNvPr name="Freeform 3" id="3"/>
            <p:cNvSpPr/>
            <p:nvPr/>
          </p:nvSpPr>
          <p:spPr>
            <a:xfrm flipH="false" flipV="false" rot="0">
              <a:off x="0" y="0"/>
              <a:ext cx="4292234" cy="3454393"/>
            </a:xfrm>
            <a:custGeom>
              <a:avLst/>
              <a:gdLst/>
              <a:ahLst/>
              <a:cxnLst/>
              <a:rect r="r" b="b" t="t" l="l"/>
              <a:pathLst>
                <a:path h="3454393" w="4292234">
                  <a:moveTo>
                    <a:pt x="47505" y="0"/>
                  </a:moveTo>
                  <a:lnTo>
                    <a:pt x="4244729" y="0"/>
                  </a:lnTo>
                  <a:cubicBezTo>
                    <a:pt x="4270965" y="0"/>
                    <a:pt x="4292234" y="21269"/>
                    <a:pt x="4292234" y="47505"/>
                  </a:cubicBezTo>
                  <a:lnTo>
                    <a:pt x="4292234" y="3406889"/>
                  </a:lnTo>
                  <a:cubicBezTo>
                    <a:pt x="4292234" y="3433125"/>
                    <a:pt x="4270965" y="3454393"/>
                    <a:pt x="4244729" y="3454393"/>
                  </a:cubicBezTo>
                  <a:lnTo>
                    <a:pt x="47505" y="3454393"/>
                  </a:lnTo>
                  <a:cubicBezTo>
                    <a:pt x="21269" y="3454393"/>
                    <a:pt x="0" y="3433125"/>
                    <a:pt x="0" y="3406889"/>
                  </a:cubicBezTo>
                  <a:lnTo>
                    <a:pt x="0" y="47505"/>
                  </a:lnTo>
                  <a:cubicBezTo>
                    <a:pt x="0" y="21269"/>
                    <a:pt x="21269" y="0"/>
                    <a:pt x="47505" y="0"/>
                  </a:cubicBezTo>
                  <a:close/>
                </a:path>
              </a:pathLst>
            </a:custGeom>
            <a:solidFill>
              <a:srgbClr val="EFEFDA"/>
            </a:solidFill>
          </p:spPr>
        </p:sp>
        <p:sp>
          <p:nvSpPr>
            <p:cNvPr name="TextBox 4" id="4"/>
            <p:cNvSpPr txBox="true"/>
            <p:nvPr/>
          </p:nvSpPr>
          <p:spPr>
            <a:xfrm>
              <a:off x="0" y="-38100"/>
              <a:ext cx="4292234" cy="34924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866278" y="1359958"/>
            <a:ext cx="7075222" cy="6727893"/>
          </a:xfrm>
          <a:custGeom>
            <a:avLst/>
            <a:gdLst/>
            <a:ahLst/>
            <a:cxnLst/>
            <a:rect r="r" b="b" t="t" l="l"/>
            <a:pathLst>
              <a:path h="6727893" w="7075222">
                <a:moveTo>
                  <a:pt x="0" y="0"/>
                </a:moveTo>
                <a:lnTo>
                  <a:pt x="7075223" y="0"/>
                </a:lnTo>
                <a:lnTo>
                  <a:pt x="7075223" y="6727893"/>
                </a:lnTo>
                <a:lnTo>
                  <a:pt x="0" y="67278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523938" y="1076325"/>
            <a:ext cx="3927757" cy="0"/>
          </a:xfrm>
          <a:prstGeom prst="line">
            <a:avLst/>
          </a:prstGeom>
          <a:ln cap="rnd" w="95250">
            <a:solidFill>
              <a:srgbClr val="000B26"/>
            </a:solidFill>
            <a:prstDash val="solid"/>
            <a:headEnd type="none" len="sm" w="sm"/>
            <a:tailEnd type="none" len="sm" w="sm"/>
          </a:ln>
        </p:spPr>
      </p:sp>
      <p:graphicFrame>
        <p:nvGraphicFramePr>
          <p:cNvPr name="Table 7" id="7"/>
          <p:cNvGraphicFramePr>
            <a:graphicFrameLocks noGrp="true"/>
          </p:cNvGraphicFramePr>
          <p:nvPr/>
        </p:nvGraphicFramePr>
        <p:xfrm>
          <a:off x="523938" y="1359958"/>
          <a:ext cx="9121021" cy="8124825"/>
        </p:xfrm>
        <a:graphic>
          <a:graphicData uri="http://schemas.openxmlformats.org/drawingml/2006/table">
            <a:tbl>
              <a:tblPr/>
              <a:tblGrid>
                <a:gridCol w="3653813"/>
                <a:gridCol w="5467209"/>
              </a:tblGrid>
              <a:tr h="1100536">
                <a:tc>
                  <a:txBody>
                    <a:bodyPr anchor="t" rtlCol="false"/>
                    <a:lstStyle/>
                    <a:p>
                      <a:pPr algn="ctr">
                        <a:lnSpc>
                          <a:spcPts val="4759"/>
                        </a:lnSpc>
                        <a:defRPr/>
                      </a:pPr>
                      <a:r>
                        <a:rPr lang="en-US" sz="3399">
                          <a:solidFill>
                            <a:srgbClr val="FFFFFF"/>
                          </a:solidFill>
                          <a:latin typeface="Canva Sans"/>
                          <a:ea typeface="Canva Sans"/>
                          <a:cs typeface="Canva Sans"/>
                          <a:sym typeface="Canva Sans"/>
                        </a:rPr>
                        <a:t>TOOLS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c>
                  <a:txBody>
                    <a:bodyPr anchor="t" rtlCol="false"/>
                    <a:lstStyle/>
                    <a:p>
                      <a:pPr algn="ctr">
                        <a:lnSpc>
                          <a:spcPts val="4759"/>
                        </a:lnSpc>
                        <a:defRPr/>
                      </a:pPr>
                      <a:r>
                        <a:rPr lang="en-US" sz="3399" b="true">
                          <a:solidFill>
                            <a:srgbClr val="FFFFFF"/>
                          </a:solidFill>
                          <a:latin typeface="Canva Sans Bold"/>
                          <a:ea typeface="Canva Sans Bold"/>
                          <a:cs typeface="Canva Sans Bold"/>
                          <a:sym typeface="Canva Sans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r>
              <a:tr h="937848">
                <a:tc>
                  <a:txBody>
                    <a:bodyPr anchor="t" rtlCol="false"/>
                    <a:lstStyle/>
                    <a:p>
                      <a:pPr algn="l">
                        <a:lnSpc>
                          <a:spcPts val="3639"/>
                        </a:lnSpc>
                        <a:defRPr/>
                      </a:pPr>
                      <a:r>
                        <a:rPr lang="en-US" sz="2599">
                          <a:solidFill>
                            <a:srgbClr val="000000"/>
                          </a:solidFill>
                          <a:latin typeface="Canva Sans"/>
                          <a:ea typeface="Canva Sans"/>
                          <a:cs typeface="Canva Sans"/>
                          <a:sym typeface="Canva Sans"/>
                        </a:rPr>
                        <a:t>           Python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 </a:t>
                      </a:r>
                      <a:r>
                        <a:rPr lang="en-US" sz="2599">
                          <a:solidFill>
                            <a:srgbClr val="000000"/>
                          </a:solidFill>
                          <a:latin typeface="Canva Sans"/>
                          <a:ea typeface="Canva Sans"/>
                          <a:cs typeface="Canva Sans"/>
                          <a:sym typeface="Canva Sans"/>
                        </a:rPr>
                        <a:t>Programming Language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37848">
                <a:tc>
                  <a:txBody>
                    <a:bodyPr anchor="t" rtlCol="false"/>
                    <a:lstStyle/>
                    <a:p>
                      <a:pPr algn="ctr">
                        <a:lnSpc>
                          <a:spcPts val="3499"/>
                        </a:lnSpc>
                        <a:defRPr/>
                      </a:pPr>
                      <a:r>
                        <a:rPr lang="en-US" sz="2499">
                          <a:solidFill>
                            <a:srgbClr val="000000"/>
                          </a:solidFill>
                          <a:latin typeface="Canva Sans"/>
                          <a:ea typeface="Canva Sans"/>
                          <a:cs typeface="Canva Sans"/>
                          <a:sym typeface="Canva Sans"/>
                        </a:rPr>
                        <a:t>REQUESTS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Retrieve web pages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37848">
                <a:tc>
                  <a:txBody>
                    <a:bodyPr anchor="t" rtlCol="false"/>
                    <a:lstStyle/>
                    <a:p>
                      <a:pPr algn="ctr">
                        <a:lnSpc>
                          <a:spcPts val="3639"/>
                        </a:lnSpc>
                        <a:defRPr/>
                      </a:pPr>
                      <a:r>
                        <a:rPr lang="en-US" sz="2599">
                          <a:solidFill>
                            <a:srgbClr val="000000"/>
                          </a:solidFill>
                          <a:latin typeface="Canva Sans"/>
                          <a:ea typeface="Canva Sans"/>
                          <a:cs typeface="Canva Sans"/>
                          <a:sym typeface="Canva Sans"/>
                        </a:rPr>
                        <a:t>BeautifulSoup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 </a:t>
                      </a:r>
                      <a:r>
                        <a:rPr lang="en-US" sz="2599">
                          <a:solidFill>
                            <a:srgbClr val="000000"/>
                          </a:solidFill>
                          <a:latin typeface="Canva Sans"/>
                          <a:ea typeface="Canva Sans"/>
                          <a:cs typeface="Canva Sans"/>
                          <a:sym typeface="Canva Sans"/>
                        </a:rPr>
                        <a:t>Extract HTML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37848">
                <a:tc>
                  <a:txBody>
                    <a:bodyPr anchor="t" rtlCol="false"/>
                    <a:lstStyle/>
                    <a:p>
                      <a:pPr algn="ctr">
                        <a:lnSpc>
                          <a:spcPts val="3639"/>
                        </a:lnSpc>
                        <a:defRPr/>
                      </a:pPr>
                      <a:r>
                        <a:rPr lang="en-US" sz="2599">
                          <a:solidFill>
                            <a:srgbClr val="000000"/>
                          </a:solidFill>
                          <a:latin typeface="Canva Sans"/>
                          <a:ea typeface="Canva Sans"/>
                          <a:cs typeface="Canva Sans"/>
                          <a:sym typeface="Canva Sans"/>
                        </a:rPr>
                        <a:t>Pandas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Data cleaning and analysis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37848">
                <a:tc>
                  <a:txBody>
                    <a:bodyPr anchor="t" rtlCol="false"/>
                    <a:lstStyle/>
                    <a:p>
                      <a:pPr algn="ctr">
                        <a:lnSpc>
                          <a:spcPts val="3639"/>
                        </a:lnSpc>
                        <a:defRPr/>
                      </a:pPr>
                      <a:r>
                        <a:rPr lang="en-US" sz="2599">
                          <a:solidFill>
                            <a:srgbClr val="000000"/>
                          </a:solidFill>
                          <a:latin typeface="Canva Sans"/>
                          <a:ea typeface="Canva Sans"/>
                          <a:cs typeface="Canva Sans"/>
                          <a:sym typeface="Canva Sans"/>
                        </a:rPr>
                        <a:t>Matplotlib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Data visualization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37848">
                <a:tc>
                  <a:txBody>
                    <a:bodyPr anchor="t" rtlCol="false"/>
                    <a:lstStyle/>
                    <a:p>
                      <a:pPr algn="ctr">
                        <a:lnSpc>
                          <a:spcPts val="3639"/>
                        </a:lnSpc>
                        <a:defRPr/>
                      </a:pPr>
                      <a:r>
                        <a:rPr lang="en-US" sz="2599">
                          <a:solidFill>
                            <a:srgbClr val="000000"/>
                          </a:solidFill>
                          <a:latin typeface="Canva Sans"/>
                          <a:ea typeface="Canva Sans"/>
                          <a:cs typeface="Canva Sans"/>
                          <a:sym typeface="Canva Sans"/>
                        </a:rPr>
                        <a:t>CSV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Store extracted data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97202">
                <a:tc>
                  <a:txBody>
                    <a:bodyPr anchor="t" rtlCol="false"/>
                    <a:lstStyle/>
                    <a:p>
                      <a:pPr algn="ctr">
                        <a:lnSpc>
                          <a:spcPts val="3639"/>
                        </a:lnSpc>
                        <a:defRPr/>
                      </a:pPr>
                      <a:r>
                        <a:rPr lang="en-US" sz="2599">
                          <a:solidFill>
                            <a:srgbClr val="000000"/>
                          </a:solidFill>
                          <a:latin typeface="Canva Sans"/>
                          <a:ea typeface="Canva Sans"/>
                          <a:cs typeface="Canva Sans"/>
                          <a:sym typeface="Canva Sans"/>
                        </a:rPr>
                        <a:t>VS Code / Jupyter Notebook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39"/>
                        </a:lnSpc>
                        <a:defRPr/>
                      </a:pPr>
                      <a:r>
                        <a:rPr lang="en-US" sz="2599">
                          <a:solidFill>
                            <a:srgbClr val="000000"/>
                          </a:solidFill>
                          <a:latin typeface="Canva Sans"/>
                          <a:ea typeface="Canva Sans"/>
                          <a:cs typeface="Canva Sans"/>
                          <a:sym typeface="Canva Sans"/>
                        </a:rPr>
                        <a:t>Development environment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298643" y="150909"/>
            <a:ext cx="8845357" cy="877791"/>
          </a:xfrm>
          <a:prstGeom prst="rect">
            <a:avLst/>
          </a:prstGeom>
        </p:spPr>
        <p:txBody>
          <a:bodyPr anchor="t" rtlCol="false" tIns="0" lIns="0" bIns="0" rIns="0">
            <a:spAutoFit/>
          </a:bodyPr>
          <a:lstStyle/>
          <a:p>
            <a:pPr algn="l">
              <a:lnSpc>
                <a:spcPts val="6865"/>
              </a:lnSpc>
            </a:pPr>
            <a:r>
              <a:rPr lang="en-US" sz="5918" b="true">
                <a:solidFill>
                  <a:srgbClr val="000B26"/>
                </a:solidFill>
                <a:latin typeface="Glacial Indifference Bold"/>
                <a:ea typeface="Glacial Indifference Bold"/>
                <a:cs typeface="Glacial Indifference Bold"/>
                <a:sym typeface="Glacial Indifference Bold"/>
              </a:rPr>
              <a:t> Tools and Technologies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3012790" y="-915559"/>
            <a:ext cx="16423359" cy="9055424"/>
            <a:chOff x="0" y="0"/>
            <a:chExt cx="4325494" cy="2384968"/>
          </a:xfrm>
        </p:grpSpPr>
        <p:sp>
          <p:nvSpPr>
            <p:cNvPr name="Freeform 3" id="3"/>
            <p:cNvSpPr/>
            <p:nvPr/>
          </p:nvSpPr>
          <p:spPr>
            <a:xfrm flipH="false" flipV="false" rot="0">
              <a:off x="0" y="0"/>
              <a:ext cx="4325494" cy="2384968"/>
            </a:xfrm>
            <a:custGeom>
              <a:avLst/>
              <a:gdLst/>
              <a:ahLst/>
              <a:cxnLst/>
              <a:rect r="r" b="b" t="t" l="l"/>
              <a:pathLst>
                <a:path h="2384968" w="4325494">
                  <a:moveTo>
                    <a:pt x="47140" y="0"/>
                  </a:moveTo>
                  <a:lnTo>
                    <a:pt x="4278354" y="0"/>
                  </a:lnTo>
                  <a:cubicBezTo>
                    <a:pt x="4304388" y="0"/>
                    <a:pt x="4325494" y="21105"/>
                    <a:pt x="4325494" y="47140"/>
                  </a:cubicBezTo>
                  <a:lnTo>
                    <a:pt x="4325494" y="2337828"/>
                  </a:lnTo>
                  <a:cubicBezTo>
                    <a:pt x="4325494" y="2363862"/>
                    <a:pt x="4304388" y="2384968"/>
                    <a:pt x="4278354" y="2384968"/>
                  </a:cubicBezTo>
                  <a:lnTo>
                    <a:pt x="47140" y="2384968"/>
                  </a:lnTo>
                  <a:cubicBezTo>
                    <a:pt x="21105" y="2384968"/>
                    <a:pt x="0" y="2363862"/>
                    <a:pt x="0" y="2337828"/>
                  </a:cubicBezTo>
                  <a:lnTo>
                    <a:pt x="0" y="47140"/>
                  </a:lnTo>
                  <a:cubicBezTo>
                    <a:pt x="0" y="21105"/>
                    <a:pt x="21105" y="0"/>
                    <a:pt x="47140" y="0"/>
                  </a:cubicBezTo>
                  <a:close/>
                </a:path>
              </a:pathLst>
            </a:custGeom>
            <a:solidFill>
              <a:srgbClr val="EFEFDA"/>
            </a:solidFill>
          </p:spPr>
        </p:sp>
        <p:sp>
          <p:nvSpPr>
            <p:cNvPr name="TextBox 4" id="4"/>
            <p:cNvSpPr txBox="true"/>
            <p:nvPr/>
          </p:nvSpPr>
          <p:spPr>
            <a:xfrm>
              <a:off x="0" y="-38100"/>
              <a:ext cx="4325494" cy="2423068"/>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18014" y="3817518"/>
            <a:ext cx="6432087" cy="6280056"/>
          </a:xfrm>
          <a:custGeom>
            <a:avLst/>
            <a:gdLst/>
            <a:ahLst/>
            <a:cxnLst/>
            <a:rect r="r" b="b" t="t" l="l"/>
            <a:pathLst>
              <a:path h="6280056" w="6432087">
                <a:moveTo>
                  <a:pt x="0" y="0"/>
                </a:moveTo>
                <a:lnTo>
                  <a:pt x="6432088" y="0"/>
                </a:lnTo>
                <a:lnTo>
                  <a:pt x="6432088" y="6280056"/>
                </a:lnTo>
                <a:lnTo>
                  <a:pt x="0" y="62800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989717" y="1330206"/>
            <a:ext cx="6947842" cy="877791"/>
          </a:xfrm>
          <a:prstGeom prst="rect">
            <a:avLst/>
          </a:prstGeom>
        </p:spPr>
        <p:txBody>
          <a:bodyPr anchor="t" rtlCol="false" tIns="0" lIns="0" bIns="0" rIns="0">
            <a:spAutoFit/>
          </a:bodyPr>
          <a:lstStyle/>
          <a:p>
            <a:pPr algn="r">
              <a:lnSpc>
                <a:spcPts val="6865"/>
              </a:lnSpc>
            </a:pPr>
            <a:r>
              <a:rPr lang="en-US" sz="5918" b="true">
                <a:solidFill>
                  <a:srgbClr val="000B26"/>
                </a:solidFill>
                <a:latin typeface="Glacial Indifference Bold"/>
                <a:ea typeface="Glacial Indifference Bold"/>
                <a:cs typeface="Glacial Indifference Bold"/>
                <a:sym typeface="Glacial Indifference Bold"/>
              </a:rPr>
              <a:t> Methodology</a:t>
            </a:r>
          </a:p>
        </p:txBody>
      </p:sp>
      <p:sp>
        <p:nvSpPr>
          <p:cNvPr name="AutoShape 7" id="7"/>
          <p:cNvSpPr/>
          <p:nvPr/>
        </p:nvSpPr>
        <p:spPr>
          <a:xfrm>
            <a:off x="10458515" y="2294775"/>
            <a:ext cx="6479044" cy="0"/>
          </a:xfrm>
          <a:prstGeom prst="line">
            <a:avLst/>
          </a:prstGeom>
          <a:ln cap="rnd" w="95250">
            <a:solidFill>
              <a:srgbClr val="000B26"/>
            </a:solidFill>
            <a:prstDash val="solid"/>
            <a:headEnd type="none" len="sm" w="sm"/>
            <a:tailEnd type="none" len="sm" w="sm"/>
          </a:ln>
        </p:spPr>
      </p:sp>
      <p:grpSp>
        <p:nvGrpSpPr>
          <p:cNvPr name="Group 8" id="8"/>
          <p:cNvGrpSpPr/>
          <p:nvPr/>
        </p:nvGrpSpPr>
        <p:grpSpPr>
          <a:xfrm rot="0">
            <a:off x="6988075" y="2380500"/>
            <a:ext cx="9949483" cy="5389196"/>
            <a:chOff x="0" y="0"/>
            <a:chExt cx="2620440" cy="1419377"/>
          </a:xfrm>
        </p:grpSpPr>
        <p:sp>
          <p:nvSpPr>
            <p:cNvPr name="Freeform 9" id="9"/>
            <p:cNvSpPr/>
            <p:nvPr/>
          </p:nvSpPr>
          <p:spPr>
            <a:xfrm flipH="false" flipV="false" rot="0">
              <a:off x="0" y="0"/>
              <a:ext cx="2620440" cy="1419377"/>
            </a:xfrm>
            <a:custGeom>
              <a:avLst/>
              <a:gdLst/>
              <a:ahLst/>
              <a:cxnLst/>
              <a:rect r="r" b="b" t="t" l="l"/>
              <a:pathLst>
                <a:path h="1419377" w="2620440">
                  <a:moveTo>
                    <a:pt x="77812" y="0"/>
                  </a:moveTo>
                  <a:lnTo>
                    <a:pt x="2542628" y="0"/>
                  </a:lnTo>
                  <a:cubicBezTo>
                    <a:pt x="2585602" y="0"/>
                    <a:pt x="2620440" y="34838"/>
                    <a:pt x="2620440" y="77812"/>
                  </a:cubicBezTo>
                  <a:lnTo>
                    <a:pt x="2620440" y="1341564"/>
                  </a:lnTo>
                  <a:cubicBezTo>
                    <a:pt x="2620440" y="1362201"/>
                    <a:pt x="2612242" y="1381993"/>
                    <a:pt x="2597649" y="1396586"/>
                  </a:cubicBezTo>
                  <a:cubicBezTo>
                    <a:pt x="2583057" y="1411179"/>
                    <a:pt x="2563265" y="1419377"/>
                    <a:pt x="2542628" y="1419377"/>
                  </a:cubicBezTo>
                  <a:lnTo>
                    <a:pt x="77812" y="1419377"/>
                  </a:lnTo>
                  <a:cubicBezTo>
                    <a:pt x="57175" y="1419377"/>
                    <a:pt x="37383" y="1411179"/>
                    <a:pt x="22791" y="1396586"/>
                  </a:cubicBezTo>
                  <a:cubicBezTo>
                    <a:pt x="8198" y="1381993"/>
                    <a:pt x="0" y="1362201"/>
                    <a:pt x="0" y="1341564"/>
                  </a:cubicBezTo>
                  <a:lnTo>
                    <a:pt x="0" y="77812"/>
                  </a:lnTo>
                  <a:cubicBezTo>
                    <a:pt x="0" y="57175"/>
                    <a:pt x="8198" y="37383"/>
                    <a:pt x="22791" y="22791"/>
                  </a:cubicBezTo>
                  <a:cubicBezTo>
                    <a:pt x="37383" y="8198"/>
                    <a:pt x="57175" y="0"/>
                    <a:pt x="77812" y="0"/>
                  </a:cubicBezTo>
                  <a:close/>
                </a:path>
              </a:pathLst>
            </a:custGeom>
            <a:solidFill>
              <a:srgbClr val="1E3653"/>
            </a:solidFill>
          </p:spPr>
        </p:sp>
        <p:sp>
          <p:nvSpPr>
            <p:cNvPr name="TextBox 10" id="10"/>
            <p:cNvSpPr txBox="true"/>
            <p:nvPr/>
          </p:nvSpPr>
          <p:spPr>
            <a:xfrm>
              <a:off x="0" y="-38100"/>
              <a:ext cx="2620440" cy="145747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7237778" y="2484780"/>
            <a:ext cx="12939980" cy="5231715"/>
          </a:xfrm>
          <a:prstGeom prst="rect">
            <a:avLst/>
          </a:prstGeom>
        </p:spPr>
        <p:txBody>
          <a:bodyPr anchor="t" rtlCol="false" tIns="0" lIns="0" bIns="0" rIns="0">
            <a:spAutoFit/>
          </a:bodyPr>
          <a:lstStyle/>
          <a:p>
            <a:pPr algn="just">
              <a:lnSpc>
                <a:spcPts val="4585"/>
              </a:lnSpc>
            </a:pPr>
            <a:r>
              <a:rPr lang="en-US" sz="3077" spc="233">
                <a:solidFill>
                  <a:srgbClr val="EFEFDA"/>
                </a:solidFill>
                <a:latin typeface="ABeeZee"/>
                <a:ea typeface="ABeeZee"/>
                <a:cs typeface="ABeeZee"/>
                <a:sym typeface="ABeeZee"/>
              </a:rPr>
              <a:t> </a:t>
            </a:r>
            <a:r>
              <a:rPr lang="en-US" sz="3077" spc="233">
                <a:solidFill>
                  <a:srgbClr val="EFEFDA"/>
                </a:solidFill>
                <a:latin typeface="ABeeZee"/>
                <a:ea typeface="ABeeZee"/>
                <a:cs typeface="ABeeZee"/>
                <a:sym typeface="ABeeZee"/>
              </a:rPr>
              <a:t>Project Methodology</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Select a public website.</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Download the webpage using Python.</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Parse HTML using BeautifulSoup.</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Extract required product details.</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Clean and organize the collected data.</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Store the data in CSV format.</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Analyze the dataset using Pandas.</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Create visualizations using Matplotlib.</a:t>
            </a:r>
          </a:p>
          <a:p>
            <a:pPr algn="just" marL="534832" indent="-267416" lvl="1">
              <a:lnSpc>
                <a:spcPts val="3691"/>
              </a:lnSpc>
              <a:buAutoNum type="arabicPeriod" startAt="1"/>
            </a:pPr>
            <a:r>
              <a:rPr lang="en-US" sz="2477" spc="188">
                <a:solidFill>
                  <a:srgbClr val="EFEFDA"/>
                </a:solidFill>
                <a:latin typeface="ABeeZee"/>
                <a:ea typeface="ABeeZee"/>
                <a:cs typeface="ABeeZee"/>
                <a:sym typeface="ABeeZee"/>
              </a:rPr>
              <a:t>Present the final results.</a:t>
            </a:r>
          </a:p>
          <a:p>
            <a:pPr algn="just">
              <a:lnSpc>
                <a:spcPts val="3691"/>
              </a:lnSpc>
            </a:pPr>
          </a:p>
        </p:txBody>
      </p:sp>
    </p:spTree>
  </p:cSld>
  <p:clrMapOvr>
    <a:masterClrMapping/>
  </p:clrMapOvr>
  <p:transition spd="fast">
    <p:cover dir="rd"/>
  </p:transition>
</p:sld>
</file>

<file path=ppt/slides/slide10.xml><?xml version="1.0" encoding="utf-8"?>
<p:sld xmlns:p="http://schemas.openxmlformats.org/presentationml/2006/main" xmlns:a="http://schemas.openxmlformats.org/drawingml/2006/main">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914697" y="793573"/>
            <a:ext cx="16458607" cy="8699854"/>
            <a:chOff x="0" y="0"/>
            <a:chExt cx="8277467" cy="4375386"/>
          </a:xfrm>
        </p:grpSpPr>
        <p:sp>
          <p:nvSpPr>
            <p:cNvPr name="Freeform 3" id="3"/>
            <p:cNvSpPr/>
            <p:nvPr/>
          </p:nvSpPr>
          <p:spPr>
            <a:xfrm flipH="false" flipV="false" rot="0">
              <a:off x="0" y="0"/>
              <a:ext cx="8277467" cy="4375386"/>
            </a:xfrm>
            <a:custGeom>
              <a:avLst/>
              <a:gdLst/>
              <a:ahLst/>
              <a:cxnLst/>
              <a:rect r="r" b="b" t="t" l="l"/>
              <a:pathLst>
                <a:path h="4375386" w="8277467">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49718C"/>
            </a:solidFill>
          </p:spPr>
        </p:sp>
      </p:grpSp>
      <p:sp>
        <p:nvSpPr>
          <p:cNvPr name="TextBox 4" id="4"/>
          <p:cNvSpPr txBox="true"/>
          <p:nvPr/>
        </p:nvSpPr>
        <p:spPr>
          <a:xfrm rot="0">
            <a:off x="1028700" y="2987993"/>
            <a:ext cx="8817846" cy="6270307"/>
          </a:xfrm>
          <a:prstGeom prst="rect">
            <a:avLst/>
          </a:prstGeom>
        </p:spPr>
        <p:txBody>
          <a:bodyPr anchor="t" rtlCol="false" tIns="0" lIns="0" bIns="0" rIns="0">
            <a:spAutoFit/>
          </a:bodyPr>
          <a:lstStyle/>
          <a:p>
            <a:pPr algn="l" marL="0" indent="0" lvl="0">
              <a:lnSpc>
                <a:spcPts val="4567"/>
              </a:lnSpc>
              <a:spcBef>
                <a:spcPct val="0"/>
              </a:spcBef>
            </a:pPr>
            <a:r>
              <a:rPr lang="en-US" sz="3262" spc="247">
                <a:solidFill>
                  <a:srgbClr val="EFEFDA"/>
                </a:solidFill>
                <a:latin typeface="ABeeZee"/>
                <a:ea typeface="ABeeZee"/>
                <a:cs typeface="ABeeZee"/>
                <a:sym typeface="ABeeZee"/>
              </a:rPr>
              <a:t>The project begins by connecting to the selected website using Python Requests. The HTML content is parsed using BeautifulSoup to extract product information such as product name, price, rating, and availability.</a:t>
            </a:r>
          </a:p>
          <a:p>
            <a:pPr algn="l" marL="0" indent="0" lvl="0">
              <a:lnSpc>
                <a:spcPts val="4567"/>
              </a:lnSpc>
              <a:spcBef>
                <a:spcPct val="0"/>
              </a:spcBef>
            </a:pPr>
            <a:r>
              <a:rPr lang="en-US" sz="3262" spc="247">
                <a:solidFill>
                  <a:srgbClr val="EFEFDA"/>
                </a:solidFill>
                <a:latin typeface="ABeeZee"/>
                <a:ea typeface="ABeeZee"/>
                <a:cs typeface="ABeeZee"/>
                <a:sym typeface="ABeeZee"/>
              </a:rPr>
              <a:t>The extracted data is stored in a CSV file and analyzed using the Pandas library. Charts are generated using Matplotlib to visualize the collected information.</a:t>
            </a:r>
          </a:p>
        </p:txBody>
      </p:sp>
      <p:sp>
        <p:nvSpPr>
          <p:cNvPr name="TextBox 5" id="5"/>
          <p:cNvSpPr txBox="true"/>
          <p:nvPr/>
        </p:nvSpPr>
        <p:spPr>
          <a:xfrm rot="0">
            <a:off x="1028700" y="1019175"/>
            <a:ext cx="16230600" cy="1343025"/>
          </a:xfrm>
          <a:prstGeom prst="rect">
            <a:avLst/>
          </a:prstGeom>
        </p:spPr>
        <p:txBody>
          <a:bodyPr anchor="t" rtlCol="false" tIns="0" lIns="0" bIns="0" rIns="0">
            <a:spAutoFit/>
          </a:bodyPr>
          <a:lstStyle/>
          <a:p>
            <a:pPr algn="l" marL="0" indent="0" lvl="0">
              <a:lnSpc>
                <a:spcPts val="10559"/>
              </a:lnSpc>
            </a:pPr>
            <a:r>
              <a:rPr lang="en-US" b="true" sz="8799">
                <a:solidFill>
                  <a:srgbClr val="EFEFDA"/>
                </a:solidFill>
                <a:latin typeface="Glacial Indifference Bold"/>
                <a:ea typeface="Glacial Indifference Bold"/>
                <a:cs typeface="Glacial Indifference Bold"/>
                <a:sym typeface="Glacial Indifference Bold"/>
              </a:rPr>
              <a:t>Implementation</a:t>
            </a:r>
          </a:p>
        </p:txBody>
      </p:sp>
      <p:sp>
        <p:nvSpPr>
          <p:cNvPr name="AutoShape 6" id="6"/>
          <p:cNvSpPr/>
          <p:nvPr/>
        </p:nvSpPr>
        <p:spPr>
          <a:xfrm rot="-2230017">
            <a:off x="10684067" y="5418866"/>
            <a:ext cx="16230600" cy="8229600"/>
          </a:xfrm>
          <a:prstGeom prst="rect">
            <a:avLst/>
          </a:prstGeom>
          <a:solidFill>
            <a:srgbClr val="EFEFDA"/>
          </a:solid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914697" y="793573"/>
            <a:ext cx="16458607" cy="8699854"/>
            <a:chOff x="0" y="0"/>
            <a:chExt cx="8277467" cy="4375386"/>
          </a:xfrm>
        </p:grpSpPr>
        <p:sp>
          <p:nvSpPr>
            <p:cNvPr name="Freeform 3" id="3"/>
            <p:cNvSpPr/>
            <p:nvPr/>
          </p:nvSpPr>
          <p:spPr>
            <a:xfrm flipH="false" flipV="false" rot="0">
              <a:off x="0" y="0"/>
              <a:ext cx="8277467" cy="4375386"/>
            </a:xfrm>
            <a:custGeom>
              <a:avLst/>
              <a:gdLst/>
              <a:ahLst/>
              <a:cxnLst/>
              <a:rect r="r" b="b" t="t" l="l"/>
              <a:pathLst>
                <a:path h="4375386" w="8277467">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49718C"/>
            </a:solidFill>
          </p:spPr>
        </p:sp>
      </p:grpSp>
      <p:grpSp>
        <p:nvGrpSpPr>
          <p:cNvPr name="Group 4" id="4"/>
          <p:cNvGrpSpPr/>
          <p:nvPr/>
        </p:nvGrpSpPr>
        <p:grpSpPr>
          <a:xfrm rot="0">
            <a:off x="3396193" y="3131787"/>
            <a:ext cx="12741423" cy="4023426"/>
            <a:chOff x="0" y="0"/>
            <a:chExt cx="16988563" cy="5364568"/>
          </a:xfrm>
        </p:grpSpPr>
        <p:sp>
          <p:nvSpPr>
            <p:cNvPr name="TextBox 5" id="5"/>
            <p:cNvSpPr txBox="true"/>
            <p:nvPr/>
          </p:nvSpPr>
          <p:spPr>
            <a:xfrm rot="0">
              <a:off x="0" y="2751121"/>
              <a:ext cx="16988563" cy="2613448"/>
            </a:xfrm>
            <a:prstGeom prst="rect">
              <a:avLst/>
            </a:prstGeom>
          </p:spPr>
          <p:txBody>
            <a:bodyPr anchor="t" rtlCol="false" tIns="0" lIns="0" bIns="0" rIns="0">
              <a:spAutoFit/>
            </a:bodyPr>
            <a:lstStyle/>
            <a:p>
              <a:pPr algn="l" marL="604524" indent="-302262" lvl="1">
                <a:lnSpc>
                  <a:spcPts val="3920"/>
                </a:lnSpc>
                <a:spcBef>
                  <a:spcPct val="0"/>
                </a:spcBef>
                <a:buFont typeface="Arial"/>
                <a:buChar char="•"/>
              </a:pPr>
              <a:r>
                <a:rPr lang="en-US" sz="2800" spc="212">
                  <a:solidFill>
                    <a:srgbClr val="EFEFDA"/>
                  </a:solidFill>
                  <a:latin typeface="ABeeZee"/>
                  <a:ea typeface="ABeeZee"/>
                  <a:cs typeface="ABeeZee"/>
                  <a:sym typeface="ABeeZee"/>
                </a:rPr>
                <a:t>Clean CSV dataset.</a:t>
              </a:r>
            </a:p>
            <a:p>
              <a:pPr algn="l" marL="604524" indent="-302262" lvl="1">
                <a:lnSpc>
                  <a:spcPts val="3920"/>
                </a:lnSpc>
                <a:spcBef>
                  <a:spcPct val="0"/>
                </a:spcBef>
                <a:buFont typeface="Arial"/>
                <a:buChar char="•"/>
              </a:pPr>
              <a:r>
                <a:rPr lang="en-US" sz="2800" spc="212">
                  <a:solidFill>
                    <a:srgbClr val="EFEFDA"/>
                  </a:solidFill>
                  <a:latin typeface="ABeeZee"/>
                  <a:ea typeface="ABeeZee"/>
                  <a:cs typeface="ABeeZee"/>
                  <a:sym typeface="ABeeZee"/>
                </a:rPr>
                <a:t>Product comparison tables.</a:t>
              </a:r>
            </a:p>
            <a:p>
              <a:pPr algn="l" marL="604524" indent="-302262" lvl="1">
                <a:lnSpc>
                  <a:spcPts val="3920"/>
                </a:lnSpc>
                <a:spcBef>
                  <a:spcPct val="0"/>
                </a:spcBef>
                <a:buFont typeface="Arial"/>
                <a:buChar char="•"/>
              </a:pPr>
              <a:r>
                <a:rPr lang="en-US" sz="2800" spc="212">
                  <a:solidFill>
                    <a:srgbClr val="EFEFDA"/>
                  </a:solidFill>
                  <a:latin typeface="ABeeZee"/>
                  <a:ea typeface="ABeeZee"/>
                  <a:cs typeface="ABeeZee"/>
                  <a:sym typeface="ABeeZee"/>
                </a:rPr>
                <a:t>Bar charts and scatter plots.</a:t>
              </a:r>
            </a:p>
            <a:p>
              <a:pPr algn="l" marL="604524" indent="-302262" lvl="1">
                <a:lnSpc>
                  <a:spcPts val="3920"/>
                </a:lnSpc>
                <a:spcBef>
                  <a:spcPct val="0"/>
                </a:spcBef>
                <a:buFont typeface="Arial"/>
                <a:buChar char="•"/>
              </a:pPr>
              <a:r>
                <a:rPr lang="en-US" sz="2800" spc="212">
                  <a:solidFill>
                    <a:srgbClr val="EFEFDA"/>
                  </a:solidFill>
                  <a:latin typeface="ABeeZee"/>
                  <a:ea typeface="ABeeZee"/>
                  <a:cs typeface="ABeeZee"/>
                  <a:sym typeface="ABeeZee"/>
                </a:rPr>
                <a:t>Insights about price and rating patterns.</a:t>
              </a:r>
            </a:p>
          </p:txBody>
        </p:sp>
        <p:sp>
          <p:nvSpPr>
            <p:cNvPr name="TextBox 6" id="6"/>
            <p:cNvSpPr txBox="true"/>
            <p:nvPr/>
          </p:nvSpPr>
          <p:spPr>
            <a:xfrm rot="0">
              <a:off x="0" y="180975"/>
              <a:ext cx="16988563" cy="1740957"/>
            </a:xfrm>
            <a:prstGeom prst="rect">
              <a:avLst/>
            </a:prstGeom>
          </p:spPr>
          <p:txBody>
            <a:bodyPr anchor="t" rtlCol="false" tIns="0" lIns="0" bIns="0" rIns="0">
              <a:spAutoFit/>
            </a:bodyPr>
            <a:lstStyle/>
            <a:p>
              <a:pPr algn="l" marL="0" indent="0" lvl="0">
                <a:lnSpc>
                  <a:spcPts val="9499"/>
                </a:lnSpc>
              </a:pPr>
              <a:r>
                <a:rPr lang="en-US" b="true" sz="9499">
                  <a:solidFill>
                    <a:srgbClr val="EFEFDA"/>
                  </a:solidFill>
                  <a:latin typeface="Glacial Indifference Bold"/>
                  <a:ea typeface="Glacial Indifference Bold"/>
                  <a:cs typeface="Glacial Indifference Bold"/>
                  <a:sym typeface="Glacial Indifference Bold"/>
                </a:rPr>
                <a:t>Expected Results</a:t>
              </a:r>
            </a:p>
          </p:txBody>
        </p:sp>
      </p:grpSp>
      <p:sp>
        <p:nvSpPr>
          <p:cNvPr name="Freeform 7" id="7"/>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grpSp>
        <p:nvGrpSpPr>
          <p:cNvPr name="Group 2" id="2"/>
          <p:cNvGrpSpPr/>
          <p:nvPr/>
        </p:nvGrpSpPr>
        <p:grpSpPr>
          <a:xfrm rot="0">
            <a:off x="914697" y="793573"/>
            <a:ext cx="16458607" cy="8699854"/>
            <a:chOff x="0" y="0"/>
            <a:chExt cx="8277467" cy="4375386"/>
          </a:xfrm>
        </p:grpSpPr>
        <p:sp>
          <p:nvSpPr>
            <p:cNvPr name="Freeform 3" id="3"/>
            <p:cNvSpPr/>
            <p:nvPr/>
          </p:nvSpPr>
          <p:spPr>
            <a:xfrm flipH="false" flipV="false" rot="0">
              <a:off x="0" y="0"/>
              <a:ext cx="8277467" cy="4375386"/>
            </a:xfrm>
            <a:custGeom>
              <a:avLst/>
              <a:gdLst/>
              <a:ahLst/>
              <a:cxnLst/>
              <a:rect r="r" b="b" t="t" l="l"/>
              <a:pathLst>
                <a:path h="4375386" w="8277467">
                  <a:moveTo>
                    <a:pt x="0" y="0"/>
                  </a:moveTo>
                  <a:lnTo>
                    <a:pt x="0" y="4375386"/>
                  </a:lnTo>
                  <a:lnTo>
                    <a:pt x="8277467" y="4375386"/>
                  </a:lnTo>
                  <a:lnTo>
                    <a:pt x="8277467" y="0"/>
                  </a:lnTo>
                  <a:lnTo>
                    <a:pt x="0" y="0"/>
                  </a:lnTo>
                  <a:close/>
                  <a:moveTo>
                    <a:pt x="8216507" y="4314426"/>
                  </a:moveTo>
                  <a:lnTo>
                    <a:pt x="59690" y="4314426"/>
                  </a:lnTo>
                  <a:lnTo>
                    <a:pt x="59690" y="59690"/>
                  </a:lnTo>
                  <a:lnTo>
                    <a:pt x="8216507" y="59690"/>
                  </a:lnTo>
                  <a:lnTo>
                    <a:pt x="8216507" y="4314426"/>
                  </a:lnTo>
                  <a:close/>
                </a:path>
              </a:pathLst>
            </a:custGeom>
            <a:solidFill>
              <a:srgbClr val="49718C"/>
            </a:solidFill>
          </p:spPr>
        </p:sp>
      </p:grpSp>
      <p:sp>
        <p:nvSpPr>
          <p:cNvPr name="TextBox 4" id="4"/>
          <p:cNvSpPr txBox="true"/>
          <p:nvPr/>
        </p:nvSpPr>
        <p:spPr>
          <a:xfrm rot="0">
            <a:off x="6907438" y="1028700"/>
            <a:ext cx="9683724" cy="2114550"/>
          </a:xfrm>
          <a:prstGeom prst="rect">
            <a:avLst/>
          </a:prstGeom>
        </p:spPr>
        <p:txBody>
          <a:bodyPr anchor="t" rtlCol="false" tIns="0" lIns="0" bIns="0" rIns="0">
            <a:spAutoFit/>
          </a:bodyPr>
          <a:lstStyle/>
          <a:p>
            <a:pPr algn="l" marL="0" indent="0" lvl="0">
              <a:lnSpc>
                <a:spcPts val="8399"/>
              </a:lnSpc>
            </a:pPr>
            <a:r>
              <a:rPr lang="en-US" b="true" sz="6999">
                <a:solidFill>
                  <a:srgbClr val="EFEFDA"/>
                </a:solidFill>
                <a:latin typeface="Glacial Indifference Bold"/>
                <a:ea typeface="Glacial Indifference Bold"/>
                <a:cs typeface="Glacial Indifference Bold"/>
                <a:sym typeface="Glacial Indifference Bold"/>
              </a:rPr>
              <a:t>Limitations, Ethics, Future Scope</a:t>
            </a:r>
          </a:p>
        </p:txBody>
      </p:sp>
      <p:sp>
        <p:nvSpPr>
          <p:cNvPr name="TextBox 5" id="5"/>
          <p:cNvSpPr txBox="true"/>
          <p:nvPr/>
        </p:nvSpPr>
        <p:spPr>
          <a:xfrm rot="0">
            <a:off x="6907438" y="3734325"/>
            <a:ext cx="9683724" cy="2744474"/>
          </a:xfrm>
          <a:prstGeom prst="rect">
            <a:avLst/>
          </a:prstGeom>
        </p:spPr>
        <p:txBody>
          <a:bodyPr anchor="t" rtlCol="false" tIns="0" lIns="0" bIns="0" rIns="0">
            <a:spAutoFit/>
          </a:bodyPr>
          <a:lstStyle/>
          <a:p>
            <a:pPr algn="l" marL="555910" indent="-277955" lvl="1">
              <a:lnSpc>
                <a:spcPts val="3604"/>
              </a:lnSpc>
              <a:spcBef>
                <a:spcPct val="0"/>
              </a:spcBef>
              <a:buFont typeface="Arial"/>
              <a:buChar char="•"/>
            </a:pPr>
            <a:r>
              <a:rPr lang="en-US" sz="2574" spc="195">
                <a:solidFill>
                  <a:srgbClr val="EFEFDA"/>
                </a:solidFill>
                <a:latin typeface="ABeeZee"/>
                <a:ea typeface="ABeeZee"/>
                <a:cs typeface="ABeeZee"/>
                <a:sym typeface="ABeeZee"/>
              </a:rPr>
              <a:t>HTML structure may change.</a:t>
            </a:r>
          </a:p>
          <a:p>
            <a:pPr algn="l" marL="555910" indent="-277955" lvl="1">
              <a:lnSpc>
                <a:spcPts val="3604"/>
              </a:lnSpc>
              <a:spcBef>
                <a:spcPct val="0"/>
              </a:spcBef>
              <a:buFont typeface="Arial"/>
              <a:buChar char="•"/>
            </a:pPr>
            <a:r>
              <a:rPr lang="en-US" sz="2574" spc="195">
                <a:solidFill>
                  <a:srgbClr val="EFEFDA"/>
                </a:solidFill>
                <a:latin typeface="ABeeZee"/>
                <a:ea typeface="ABeeZee"/>
                <a:cs typeface="ABeeZee"/>
                <a:sym typeface="ABeeZee"/>
              </a:rPr>
              <a:t>Some data may be missing.</a:t>
            </a:r>
          </a:p>
          <a:p>
            <a:pPr algn="l" marL="555910" indent="-277955" lvl="1">
              <a:lnSpc>
                <a:spcPts val="3604"/>
              </a:lnSpc>
              <a:spcBef>
                <a:spcPct val="0"/>
              </a:spcBef>
              <a:buFont typeface="Arial"/>
              <a:buChar char="•"/>
            </a:pPr>
            <a:r>
              <a:rPr lang="en-US" sz="2574" spc="195">
                <a:solidFill>
                  <a:srgbClr val="EFEFDA"/>
                </a:solidFill>
                <a:latin typeface="ABeeZee"/>
                <a:ea typeface="ABeeZee"/>
                <a:cs typeface="ABeeZee"/>
                <a:sym typeface="ABeeZee"/>
              </a:rPr>
              <a:t>Only a limited number of pages may be collected.</a:t>
            </a:r>
          </a:p>
          <a:p>
            <a:pPr algn="l" marL="555910" indent="-277955" lvl="1">
              <a:lnSpc>
                <a:spcPts val="3604"/>
              </a:lnSpc>
              <a:spcBef>
                <a:spcPct val="0"/>
              </a:spcBef>
              <a:buFont typeface="Arial"/>
              <a:buChar char="•"/>
            </a:pPr>
            <a:r>
              <a:rPr lang="en-US" sz="2574" spc="195">
                <a:solidFill>
                  <a:srgbClr val="EFEFDA"/>
                </a:solidFill>
                <a:latin typeface="ABeeZee"/>
                <a:ea typeface="ABeeZee"/>
                <a:cs typeface="ABeeZee"/>
                <a:sym typeface="ABeeZee"/>
              </a:rPr>
              <a:t>Scraping must follow website rules and robots.txt.</a:t>
            </a:r>
          </a:p>
          <a:p>
            <a:pPr algn="l" marL="555910" indent="-277955" lvl="1">
              <a:lnSpc>
                <a:spcPts val="3604"/>
              </a:lnSpc>
              <a:spcBef>
                <a:spcPct val="0"/>
              </a:spcBef>
              <a:buFont typeface="Arial"/>
              <a:buChar char="•"/>
            </a:pPr>
            <a:r>
              <a:rPr lang="en-US" sz="2574" spc="195">
                <a:solidFill>
                  <a:srgbClr val="EFEFDA"/>
                </a:solidFill>
                <a:latin typeface="ABeeZee"/>
                <a:ea typeface="ABeeZee"/>
                <a:cs typeface="ABeeZee"/>
                <a:sym typeface="ABeeZee"/>
              </a:rPr>
              <a:t>Future scope: more websites, dashboard, automation.</a:t>
            </a:r>
          </a:p>
        </p:txBody>
      </p:sp>
      <p:sp>
        <p:nvSpPr>
          <p:cNvPr name="Freeform 6" id="6"/>
          <p:cNvSpPr/>
          <p:nvPr/>
        </p:nvSpPr>
        <p:spPr>
          <a:xfrm flipH="false" flipV="false" rot="5400000">
            <a:off x="-2393986" y="2276637"/>
            <a:ext cx="10415803" cy="5719222"/>
          </a:xfrm>
          <a:custGeom>
            <a:avLst/>
            <a:gdLst/>
            <a:ahLst/>
            <a:cxnLst/>
            <a:rect r="r" b="b" t="t" l="l"/>
            <a:pathLst>
              <a:path h="5719222" w="10415803">
                <a:moveTo>
                  <a:pt x="0" y="0"/>
                </a:moveTo>
                <a:lnTo>
                  <a:pt x="10415803" y="0"/>
                </a:lnTo>
                <a:lnTo>
                  <a:pt x="10415803" y="5719223"/>
                </a:lnTo>
                <a:lnTo>
                  <a:pt x="0" y="57192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98435" y="7769386"/>
            <a:ext cx="12479089" cy="4447094"/>
          </a:xfrm>
          <a:custGeom>
            <a:avLst/>
            <a:gdLst/>
            <a:ahLst/>
            <a:cxnLst/>
            <a:rect r="r" b="b" t="t" l="l"/>
            <a:pathLst>
              <a:path h="4447094" w="12479089">
                <a:moveTo>
                  <a:pt x="0" y="0"/>
                </a:moveTo>
                <a:lnTo>
                  <a:pt x="12479089" y="0"/>
                </a:lnTo>
                <a:lnTo>
                  <a:pt x="12479089" y="4447093"/>
                </a:lnTo>
                <a:lnTo>
                  <a:pt x="0" y="4447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997837" y="3535045"/>
            <a:ext cx="9027043" cy="3216910"/>
          </a:xfrm>
          <a:custGeom>
            <a:avLst/>
            <a:gdLst/>
            <a:ahLst/>
            <a:cxnLst/>
            <a:rect r="r" b="b" t="t" l="l"/>
            <a:pathLst>
              <a:path h="3216910" w="9027043">
                <a:moveTo>
                  <a:pt x="0" y="0"/>
                </a:moveTo>
                <a:lnTo>
                  <a:pt x="9027043" y="0"/>
                </a:lnTo>
                <a:lnTo>
                  <a:pt x="9027043" y="3216910"/>
                </a:lnTo>
                <a:lnTo>
                  <a:pt x="0" y="3216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695" y="1154090"/>
            <a:ext cx="7151923" cy="7978819"/>
          </a:xfrm>
          <a:custGeom>
            <a:avLst/>
            <a:gdLst/>
            <a:ahLst/>
            <a:cxnLst/>
            <a:rect r="r" b="b" t="t" l="l"/>
            <a:pathLst>
              <a:path h="7978819" w="7151923">
                <a:moveTo>
                  <a:pt x="0" y="0"/>
                </a:moveTo>
                <a:lnTo>
                  <a:pt x="7151923" y="0"/>
                </a:lnTo>
                <a:lnTo>
                  <a:pt x="7151923" y="7978820"/>
                </a:lnTo>
                <a:lnTo>
                  <a:pt x="0" y="7978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2361318" y="1508796"/>
            <a:ext cx="4603852" cy="877791"/>
          </a:xfrm>
          <a:prstGeom prst="rect">
            <a:avLst/>
          </a:prstGeom>
        </p:spPr>
        <p:txBody>
          <a:bodyPr anchor="t" rtlCol="false" tIns="0" lIns="0" bIns="0" rIns="0">
            <a:spAutoFit/>
          </a:bodyPr>
          <a:lstStyle/>
          <a:p>
            <a:pPr algn="r">
              <a:lnSpc>
                <a:spcPts val="6865"/>
              </a:lnSpc>
            </a:pPr>
            <a:r>
              <a:rPr lang="en-US" b="true" sz="5918">
                <a:solidFill>
                  <a:srgbClr val="EFEFDA"/>
                </a:solidFill>
                <a:latin typeface="Glacial Indifference Bold"/>
                <a:ea typeface="Glacial Indifference Bold"/>
                <a:cs typeface="Glacial Indifference Bold"/>
                <a:sym typeface="Glacial Indifference Bold"/>
              </a:rPr>
              <a:t>Conclusion</a:t>
            </a:r>
          </a:p>
        </p:txBody>
      </p:sp>
      <p:sp>
        <p:nvSpPr>
          <p:cNvPr name="AutoShape 6" id="6"/>
          <p:cNvSpPr/>
          <p:nvPr/>
        </p:nvSpPr>
        <p:spPr>
          <a:xfrm flipV="true">
            <a:off x="12926985" y="2473365"/>
            <a:ext cx="4038185" cy="0"/>
          </a:xfrm>
          <a:prstGeom prst="line">
            <a:avLst/>
          </a:prstGeom>
          <a:ln cap="rnd" w="95250">
            <a:solidFill>
              <a:srgbClr val="EFEFDA"/>
            </a:solidFill>
            <a:prstDash val="solid"/>
            <a:headEnd type="none" len="sm" w="sm"/>
            <a:tailEnd type="none" len="sm" w="sm"/>
          </a:ln>
        </p:spPr>
      </p:sp>
      <p:sp>
        <p:nvSpPr>
          <p:cNvPr name="TextBox 7" id="7"/>
          <p:cNvSpPr txBox="true"/>
          <p:nvPr/>
        </p:nvSpPr>
        <p:spPr>
          <a:xfrm rot="0">
            <a:off x="8467608" y="3188382"/>
            <a:ext cx="8497562" cy="5585664"/>
          </a:xfrm>
          <a:prstGeom prst="rect">
            <a:avLst/>
          </a:prstGeom>
        </p:spPr>
        <p:txBody>
          <a:bodyPr anchor="t" rtlCol="false" tIns="0" lIns="0" bIns="0" rIns="0">
            <a:spAutoFit/>
          </a:bodyPr>
          <a:lstStyle/>
          <a:p>
            <a:pPr algn="l" marL="534832" indent="-267416" lvl="1">
              <a:lnSpc>
                <a:spcPts val="3691"/>
              </a:lnSpc>
              <a:buFont typeface="Arial"/>
              <a:buChar char="•"/>
            </a:pPr>
            <a:r>
              <a:rPr lang="en-US" sz="2477" spc="188">
                <a:solidFill>
                  <a:srgbClr val="EFEFDA"/>
                </a:solidFill>
                <a:latin typeface="ABeeZee"/>
                <a:ea typeface="ABeeZee"/>
                <a:cs typeface="ABeeZee"/>
                <a:sym typeface="ABeeZee"/>
              </a:rPr>
              <a:t> Web scraping helps collect product data automatically.</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Data cleaning and analysis convert raw data into useful information.</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Charts make product comparisons and trends easier to understand.</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The project provides practical experience in Python and data analysis.</a:t>
            </a:r>
          </a:p>
          <a:p>
            <a:pPr algn="l" marL="534832" indent="-267416" lvl="1">
              <a:lnSpc>
                <a:spcPts val="3691"/>
              </a:lnSpc>
              <a:buFont typeface="Arial"/>
              <a:buChar char="•"/>
            </a:pPr>
            <a:r>
              <a:rPr lang="en-US" sz="2477" spc="188">
                <a:solidFill>
                  <a:srgbClr val="EFEFDA"/>
                </a:solidFill>
                <a:latin typeface="ABeeZee"/>
                <a:ea typeface="ABeeZee"/>
                <a:cs typeface="ABeeZee"/>
                <a:sym typeface="ABeeZee"/>
              </a:rPr>
              <a:t>Future improvements may include more websites, dashboards, and automated updates.</a:t>
            </a:r>
          </a:p>
          <a:p>
            <a:pPr algn="l">
              <a:lnSpc>
                <a:spcPts val="3691"/>
              </a:lnSpc>
            </a:pPr>
          </a:p>
        </p:txBody>
      </p:sp>
    </p:spTree>
  </p:cSld>
  <p:clrMapOvr>
    <a:masterClrMapping/>
  </p:clrMapOvr>
  <p:transition spd="fast">
    <p:cover dir="d"/>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3653"/>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704602" y="-1235761"/>
            <a:ext cx="4605156" cy="1641110"/>
          </a:xfrm>
          <a:custGeom>
            <a:avLst/>
            <a:gdLst/>
            <a:ahLst/>
            <a:cxnLst/>
            <a:rect r="r" b="b" t="t" l="l"/>
            <a:pathLst>
              <a:path h="1641110" w="4605156">
                <a:moveTo>
                  <a:pt x="0" y="0"/>
                </a:moveTo>
                <a:lnTo>
                  <a:pt x="4605156" y="0"/>
                </a:lnTo>
                <a:lnTo>
                  <a:pt x="4605156" y="1641110"/>
                </a:lnTo>
                <a:lnTo>
                  <a:pt x="0" y="164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683840" y="5712540"/>
            <a:ext cx="14554305" cy="5186625"/>
          </a:xfrm>
          <a:custGeom>
            <a:avLst/>
            <a:gdLst/>
            <a:ahLst/>
            <a:cxnLst/>
            <a:rect r="r" b="b" t="t" l="l"/>
            <a:pathLst>
              <a:path h="5186625" w="14554305">
                <a:moveTo>
                  <a:pt x="0" y="0"/>
                </a:moveTo>
                <a:lnTo>
                  <a:pt x="14554305" y="0"/>
                </a:lnTo>
                <a:lnTo>
                  <a:pt x="14554305" y="5186625"/>
                </a:lnTo>
                <a:lnTo>
                  <a:pt x="0" y="518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2828134" y="9947562"/>
            <a:ext cx="8309635" cy="2961252"/>
          </a:xfrm>
          <a:custGeom>
            <a:avLst/>
            <a:gdLst/>
            <a:ahLst/>
            <a:cxnLst/>
            <a:rect r="r" b="b" t="t" l="l"/>
            <a:pathLst>
              <a:path h="2961252" w="8309635">
                <a:moveTo>
                  <a:pt x="0" y="0"/>
                </a:moveTo>
                <a:lnTo>
                  <a:pt x="8309635" y="0"/>
                </a:lnTo>
                <a:lnTo>
                  <a:pt x="8309635" y="2961252"/>
                </a:lnTo>
                <a:lnTo>
                  <a:pt x="0" y="29612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61622" y="6221216"/>
            <a:ext cx="10607035" cy="154284"/>
          </a:xfrm>
          <a:custGeom>
            <a:avLst/>
            <a:gdLst/>
            <a:ahLst/>
            <a:cxnLst/>
            <a:rect r="r" b="b" t="t" l="l"/>
            <a:pathLst>
              <a:path h="154284" w="10607035">
                <a:moveTo>
                  <a:pt x="0" y="0"/>
                </a:moveTo>
                <a:lnTo>
                  <a:pt x="10607035" y="0"/>
                </a:lnTo>
                <a:lnTo>
                  <a:pt x="10607035" y="154284"/>
                </a:lnTo>
                <a:lnTo>
                  <a:pt x="0" y="1542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6007180" y="3482096"/>
            <a:ext cx="11061476" cy="2534577"/>
          </a:xfrm>
          <a:prstGeom prst="rect">
            <a:avLst/>
          </a:prstGeom>
        </p:spPr>
        <p:txBody>
          <a:bodyPr anchor="t" rtlCol="false" tIns="0" lIns="0" bIns="0" rIns="0">
            <a:spAutoFit/>
          </a:bodyPr>
          <a:lstStyle/>
          <a:p>
            <a:pPr algn="r">
              <a:lnSpc>
                <a:spcPts val="19766"/>
              </a:lnSpc>
            </a:pPr>
            <a:r>
              <a:rPr lang="en-US" sz="17040" b="true">
                <a:solidFill>
                  <a:srgbClr val="EFEFDA"/>
                </a:solidFill>
                <a:latin typeface="Glacial Indifference Bold"/>
                <a:ea typeface="Glacial Indifference Bold"/>
                <a:cs typeface="Glacial Indifference Bold"/>
                <a:sym typeface="Glacial Indifference Bold"/>
              </a:rPr>
              <a:t>Thank You</a:t>
            </a:r>
          </a:p>
        </p:txBody>
      </p:sp>
    </p:spTree>
  </p:cSld>
  <p:clrMapOvr>
    <a:masterClrMapping/>
  </p:clrMapOvr>
  <p:transition spd="fast">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DAHRiVuGbIA</dc:identifier>
  <dcterms:modified xsi:type="dcterms:W3CDTF">2011-08-01T06:04:30Z</dcterms:modified>
  <cp:revision>1</cp:revision>
  <dc:title>WEB SCRAPING AND PRODUCT ANALYSIS</dc:title>
</cp:coreProperties>
</file>